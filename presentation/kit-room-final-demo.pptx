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ct I · Set the scene" id="{924c24b4-b98f-d2f4-140d-f16af750261f}">
          <p14:sldIdLst>
            <p14:sldId id="256"/>
            <p14:sldId id="257"/>
            <p14:sldId id="258"/>
            <p14:sldId id="259"/>
          </p14:sldIdLst>
        </p14:section>
        <p14:section name="Act II · Show the product" id="{16d6632f-3c15-01fc-49ed-84506ea7a2dc}">
          <p14:sldIdLst>
            <p14:sldId id="260"/>
            <p14:sldId id="261"/>
            <p14:sldId id="262"/>
            <p14:sldId id="263"/>
          </p14:sldIdLst>
        </p14:section>
        <p14:section name="Act III · The engineering" id="{a462499e-1bcf-0e9a-906c-e251af4595d1}">
          <p14:sldIdLst>
            <p14:sldId id="264"/>
            <p14:sldId id="265"/>
            <p14:sldId id="266"/>
            <p14:sldId id="267"/>
            <p14:sldId id="268"/>
            <p14:sldId id="269"/>
            <p14:sldId id="270"/>
            <p14:sldId id="271"/>
            <p14:sldId id="272"/>
          </p14:sldIdLst>
        </p14:section>
        <p14:section name="Act IV · Engineering judgment" id="{8babe04a-d163-ba43-5030-20d3a3c54b97}">
          <p14:sldIdLst>
            <p14:sldId id="273"/>
            <p14:sldId id="274"/>
            <p14:sldId id="275"/>
          </p14:sldIdLst>
        </p14:section>
        <p14:section name="Appendix · Questions and evidence" id="{7f7ca2f8-f12d-ea3b-b4d3-8bfaa7c64d6c}">
          <p14:sldIdLst>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TAKEAWAY: We will follow one real order from the click down to the infrastructure.
SAY: We are Team Alpha. In four weeks we took a nine-service order platform that CoderCo gave us as source code and ran it on Amazon EKS, on a $200 budget. Instead of touring every resource, we will follow one order, order number 3, from the browser all the way down, and stop at the decisions that mattered.
NEXT: First, what the product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TAKEAWAY: Kit Room is an ordering tool for equipping new starters. The journey is build, place, fulfil, track.
SAY: The code we were given was a generic order platform. We kept its workflow and gave it one clear use: an operations team ordering monitors, keyboards and hubs for people starting next week. Two audiences use one page: whoever places the order, and the operators who run stock, payments, shipping and messages from the OPS pages.
IF ASKED: It is the same API flow the brief grades: create order, reserve inventory, take payment, ship, deliver. The page signs itself in as one admin user. That is a known limit, slide 19.
NEXT: Here is what we were actually handed.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TAKEAWAY: The provided code could not move an order past pending. The heart of the order flow, and everything around it, is ours.
SAY: Two stubs sat at the centre. Publishing an order event was a log line, and the worker that processes orders had no queue code. Out of the box every order stayed pending for ever, and there were no tests. So our job was not only Docker, Terraform and Kubernetes. We had to build the part that makes an order real, and prove it holds up under retries.
EVIDENCE: codercohq/eks-v2 at e19e419 (our import af985c9 is identical): order-service main.go "Students implement actual SQS SendMessage here"; worker main.go receiveSQSMessages returns nil. Ours: outbox.go, publisher.go, the worker, idempotency.go in order and payment, allowlist.go, pricing.go, retention.go, 20 test files with 168 Test functions.
CAREFUL: Do not claim graceful shutdown, /livez or waitForDB. Upstream added those in May.
NEXT: So what did done mean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TAKEAWAY: Cost came first, so every choice had to earn its spend. The five aims are aims; slide 18 says which are proven.
SAY: Our stakeholder set the order on 14 September: cost, then security, then uptime, then features. CoderCo reimburses up to $200 of AWS per team and asked us to justify every cost. The brief also fixed many tools, so our real choices were how to use them. From that we set five aims. Read them as aims, not guarantees: at the end we will show which ones we have evidence for.
IF ASKED (currency): Saad said $200 at the 13 Sep orientation; some team notes say pounds. The deck uses dollars throughout.
IF ASKED (priority): One stakeholder nudge on 6 Oct put security first. The written order from 14 Sep is cost first.
NEXT: Let us see the product do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including the live demo] TAKEAWAY: One coherent journey. What matters is what happens between the clicks.
DO (live, in the browser, full screen):
1. Kit page. Add 27 inch Monitor, Mechanical Keyboard, USB-C Hub. Press + once on the monitor. Point at the plan drawing and the line "Prices and stock come live from inventory".
2. Type a note: "New starter, Platform team". Press Place order. Point at "Placed" and "Queued for the fulfilment worker".
3. Wait about 5 seconds. Point at Confirmed, and at Units available dropping.
4. Track order. Start processing, then Mark shipped. Point at the shipment, tracking number and the two emails.
IF THE CARD IS DECLINED (the simulated provider declines about 1 in 10): say "That is the failure path, live: stock released, order cancelled, customer told." Then place the kit again.
IF DEV IS DOWN OR SLOW: stay in the deck and use slides 6 and 7. Say so plainly: "Dev is torn down when idle to save cost; these frames come from the same build."
NEXT: Here is what you just saw, frozen, so we can point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or skip if the live demo worked] TAKEAWAY: Accepting an order and processing it are separate on purpose.
SAY: On the left is the moment of the click: the API has replied 201 and the order is saved, but nothing is processed yet. On the right, seconds later, nobody clicked anything: the worker took the event from the queue, reserved the stock, charged the card and confirmed. Stock leaves the shelf only after the charge succeeds.
NEXT: The rest of the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or skip] TAKEAWAY: Every later step is visible and happens once.
SAY: Moving to processing creates the shipment. Shipped puts it in transit and emails the tracking number. Each email has a dedupe key, so if an event is replayed, no second email goes out. And there is no address model yet; the page says so rather than inventing one.
NEXT: The operators'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TAKEAWAY: Nine services sit behind this one page.
SAY: Operators see the same platform: today's orders and where they are, and the health of every service the browser can reach. The worker and scheduler do not show a latency because nothing from outside can reach them. That is deliberate. Let us lift the lid.
NEXT: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TAKEAWAY: One public entry point, synchronous services for reads and writes, and one queue for the work that must not be lost.
SAY, left to right: Traffic enters through Route 53 and a Network Load Balancer to Traefik, which ends TLS with a certificate from cert-manager. The API gateway is the only public service. It checks the token, applies rate limits held in Redis and only forwards routes meant for the outside. Behind it, six HTTP services share one Postgres database. The interesting path is the queue: order-service hands events to SQS through an outbox, and the worker turns each event into reserve, charge, confirm, ship and email calls. Failed messages go to a dead-letter queue. A scheduler expires stock holds and cancels abandoned orders. Underneath, ArgoCD deploys everything from Git, Karpenter adds nodes, External Secrets brings in secrets, and every AWS caller gets its own role.
IF ASKED: Each environment has its own VPC across three AZs; nodes and pods are in private subnets; one NAT gateway (slide 16). Postgres runs as a StatefulSet in dev; staging and prod are written for RDS but have not been deployed.
NEXT: Now follow order 3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TAKEAWAY: Accepting an order is all or nothing, and it answers before any slow work.
SAY: The browser sends the order with an idempotency key. If the request gets no clear answer, a retry sends the same key. The gateway checks the token, the rate limit and the route. order-service first asks: have I seen this key? If yes, it replays the first answer. If not, it prices every line from inventory; a price from the browser is ignored. Then one database transaction claims the key, writes the order, its history and its outbox event. All four rows exist, or none do. Only then do we reply: 201, order 3, pending. Separately, a relay sends outbox rows to SQS every second. If SQS is unreachable, the row waits; the order is already safe.
DEPTH: The claim on (customer, key) is the guard. Two identical requests at once: the second INSERT waits on the first transaction, then replays its order. The price we pay: if the process dies after SQS accepts but before sent_at is saved, the event goes twice, so consumers must be idempotent.
NEXT: What the worker does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TAKEAWAY: The worker is written so that running it twice is harmless.
SAY: SQS delivers at least once, so the same message can arrive twice. The worker's first move is to read the order's status: if it is already confirmed it only makes sure stock is committed, if it is cancelled it undoes anything taken. Then reserve, charge with a fixed key per order, confirm with compare-and-set, and commit stock last. Three endings: success deletes the message; a final no, out of stock or declined, cancels and also deletes, because retrying would not change the answer; an error leaves the message, SQS hands it out again after 60 seconds, and the third failure goes to the dead-letter queue.
IF ASKED (why not FIFO): We do not need ordering; the worker reads current state instead of trusting message order.
IF ASKED (visibility): A batch of 10 slow messages could outrun 60 seconds. Known limit; every step is safe to repeat, so the cost is extra work, not double charges.
NEXT: How do we know this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TAKEAWAY: Retries are safe because every layer absorbs a repeat, and we measured the failures before fixing them.
SAY: A repeat can enter at four layers, and each has its own guard: the request key, the worker's status check and compare-and-set, the payment key with a unique index, and the email dedupe key. We did not assume the bugs existed. We reproduced them: 25 of 30 runs where a concurrent confirm and cancel both won, stock driven to minus 57 by concurrent releases, six payment rows for one retried charge. Each is now a test, and all 168 test functions pass with the race detector on.
EVIDENCE: Claude outputs/fix-evidence-log.md (23 to 24 Sep, Postgres 16 test database). Re-run on 13 Oct: every service's go test -race passes against Postgres 16, Redis and floci.
NEXT: Five decisions behind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TAKEAWAY: We chose a boring queue and made it safe with an outbox, so an SQS outage makes orders late, not lost.
SAY: Two systems, one write: that is the problem. The outbox puts the event in the same commit as the order, and a relay delivers it. We gained a managed queue with retries and a dead-letter queue built in, at almost no cost. We gave up exactly-once delivery, which is why the last two slides mattered.
IF ASKED: Kafka would have meant three brokers on persistent volumes in a cluster already holding Postgres and Redis, and rewriting the producers. Payment and shipment events are still only logged; moving them onto an outbox is on our list.
NEXT: Where the data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TAKEAWAY: The data model wants one relational database; where it runs is a cost and risk trade-off we made per environment.
SAY: An order, its stock hold, its payment and its outbox row must commit together, which is why it is one Postgres. Dev runs it as a StatefulSet on an encrypted 20 gig volume with daily snapshots: that meets the brief and costs only the disk. For staging and prod we wrote RDS: managed failover and point-in-time restore. Be clear: staging and prod were never deployed, so RDS has never run live.
IF ASKED (the brief says RDS is not an option): The brief's author said on 6 Oct that RDS is sensible but does not show the StatefulSet skill. That is why dev runs the StatefulSet. The RDS module enforces prod settings: Terraform refuses prod without Multi-AZ, deletion protection, a final snapshot and 7+ days of backups.
IF ASKED (restore): The snapshot class and schedule run on dev. A restore checked against known data is not in our records; it is next step 3.
NEXT: How changes reach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TAKEAWAY: CI never touches the cluster. Git is the record of what runs, so one service rolls back with one revert.
SAY: The pipeline builds only what changed, tests it with the race detector, scans it with Trivy, pushes one image and commits its tag. ArgoCD sees the commit and syncs that one service. We gained a pipeline with no cluster keys and a rollback that is a git revert. We gave up a little speed, and we need a bot allowed to write to main.
CAREFUL: Do not claim zero downtime. A 30 to 60 second blip during an ArgoCD sync on 10 Oct still has no root cause. The Argo Rollouts canary (50%, then error-rate and p95 checks) landed last and has not been tried against a bad release.
NEXT: The cost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TAKEAWAY: One NAT gateway is a deliberate single point of failure, accepted because cost is priority one, and softened by the outbox.
SAY: Private nodes need the internet for GitHub, Let's Encrypt and public images; endpoints cannot reach those at all. Doing AWS traffic through interface endpoints would mean at least six services across three AZs, eighteen billed endpoints running every hour. So we pay for one NAT and route S3 through a free gateway endpoint. If that AZ fails, all outbound traffic stops, including SQS calls, and that is where the outbox earns its place again: orders keep being accepted and wait.
IF ASKED: One teammate described two NATs in an earlier review; the code has one. The Terraform is the source of truth.
NEXT: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TAKEAWAY: Nothing we ship holds an AWS key. Every caller borrows a short-lived role scoped to one job.
SAY: GitHub Actions signs in with OIDC to a role per environment. The trust is pinned to our organisation and repository IDs and to the GitHub Environment, so another repo or branch cannot assume it. Pull requests get a read-only plan role, and a prod apply waits for someone other than the person who started it. Inside the cluster, Pod Identity gives each workload its own role: order-service may only send to the queue, the worker may only receive and delete. IMDSv2 with a hop limit of one stops pods borrowing the node's role.
IF ASKED (brief asked for IRSA): Same intent, least privilege per workload. Pod Identity avoids an OIDC provider per cluster, so the role definitions work on every environment.
NEXT: What we can stand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TAKEAWAY: We separate what ran on EKS, what tests prove, and what exists only as code.
SAY: Left column: things we watched happen on EKS dev, with a smoke test from 8 October. Middle: things proven by tests and local drills, not by real load. Right: things that exist in code and have not run: staging, prod, RDS, load tests, a restore checked against data, and the canary against a bad release. And we do not claim zero downtime.
WHY: The panel can check all of this. Saying it first is stronger than being caught.
NEXT: The limits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TAKEAWAY: We know the limits, and the next steps are ordered by risk.
SAY: Four limits matter most. Anyone can sign in and see every order. Database connections are the first thing that will break: seven pools allow 115 against a default limit of 100. Payment and shipment events skip the outbox. And dev Postgres lives in one AZ. Next, in order: measure before tuning with the k6 plan we wrote, add real identity, then rehearse the bad day on staging.
NEXT: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TAKEAWAY: The happy path was never the hard part; we spent our time and budget on the orders that go wrong.
SAY: If SQS goes quiet, orders still land. If a request repeats, nothing doubles. If our repository leaked tomorrow, it would hold no AWS key. That is what five engineers built in four weeks on a $200 budget. Happy to take questions; the appendix has the detail.
THEN: Leave this slide up during Q&amp;A, or jump to the appendix slide that matches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"A developer pushes a change to payment-service. Walk us through it." Point at steps 1 to 6, then promote and roll back. Caveat: the canary landed last and passes by default with no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"How do secrets reach a pod? What happens when you rotate?" Key line: only the services that use a changed secret restart, one pod at a time. The gap is new connections from old pods, up to 15 minutes, for the DB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"What scales, on what, and what breaks first?" Say plainly that the breaking order is reasoned from configuration; the k6 tests were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any "what happens if" question. Read the "How we know" column honestly: drills and smoke tests versus design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storage, snapshot and migration questions. Note the snapshot class uses deletionPolicy Delete (an older doc said Retain), and that Redis runs on a 1 Gi volume, smaller than the brief's 10 Gi, to save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"Is prod running?" Answer: no. Staging and prod are fully defined and planned, never deployed; dev is the environment that has run, and it is torn down when idle to save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security questions. Own each gap and give its first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cost questions. Replace "about $50 by 10 Oct" with the final bill before presenting; the figure comes from the 10 Oct meeting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LUM-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PLUM_BARE-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685800" y="6327648"/>
            <a:ext cx="5486400" cy="237744"/>
          </a:xfrm>
          <a:prstGeom prst="rect">
            <a:avLst/>
          </a:prstGeom>
          <a:noFill/>
          <a:ln/>
        </p:spPr>
        <p:txBody>
          <a:bodyPr wrap="square" lIns="0" tIns="0" rIns="0" bIns="0" rtlCol="0" anchor="ctr"/>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KIT ROOM  ·  FINAL DEMO  ·  13 OCT 2026</a:t>
            </a:r>
            <a:endParaRPr lang="en-US" sz="1000" dirty="0"/>
          </a:p>
        </p:txBody>
      </p:sp>
      <p:sp>
        <p:nvSpPr>
          <p:cNvPr id="3" name="Shape 1"/>
          <p:cNvSpPr/>
          <p:nvPr/>
        </p:nvSpPr>
        <p:spPr>
          <a:xfrm>
            <a:off x="9674352" y="6291072"/>
            <a:ext cx="1828800" cy="310896"/>
          </a:xfrm>
          <a:prstGeom prst="rect">
            <a:avLst/>
          </a:prstGeom>
          <a:ln w="9525">
            <a:solidFill>
              <a:srgbClr val="C2C3C5"/>
            </a:solidFill>
            <a:prstDash val="solid"/>
          </a:ln>
        </p:spPr>
      </p:sp>
      <p:sp>
        <p:nvSpPr>
          <p:cNvPr id="4" name="Shape 2"/>
          <p:cNvSpPr/>
          <p:nvPr/>
        </p:nvSpPr>
        <p:spPr>
          <a:xfrm>
            <a:off x="10735056" y="6291072"/>
            <a:ext cx="0" cy="310896"/>
          </a:xfrm>
          <a:prstGeom prst="line">
            <a:avLst/>
          </a:prstGeom>
          <a:noFill/>
          <a:ln w="9525">
            <a:solidFill>
              <a:srgbClr val="C2C3C5"/>
            </a:solidFill>
            <a:prstDash val="solid"/>
          </a:ln>
        </p:spPr>
      </p:sp>
      <p:sp>
        <p:nvSpPr>
          <p:cNvPr id="5" name="Text 3"/>
          <p:cNvSpPr/>
          <p:nvPr/>
        </p:nvSpPr>
        <p:spPr>
          <a:xfrm>
            <a:off x="9747504" y="6291072"/>
            <a:ext cx="960120" cy="310896"/>
          </a:xfrm>
          <a:prstGeom prst="rect">
            <a:avLst/>
          </a:prstGeom>
          <a:noFill/>
          <a:ln/>
        </p:spPr>
        <p:txBody>
          <a:bodyPr wrap="square" lIns="0" tIns="0" rIns="0" bIns="0" rtlCol="0" anchor="ctr"/>
          <a:lstStyle/>
          <a:p>
            <a:pPr indent="0" marL="0">
              <a:buNone/>
            </a:pPr>
            <a:r>
              <a:rPr lang="en-US" sz="1000" b="1" dirty="0">
                <a:solidFill>
                  <a:srgbClr val="4A5470"/>
                </a:solidFill>
                <a:latin typeface="JetBrains Mono" pitchFamily="34" charset="0"/>
                <a:ea typeface="JetBrains Mono" pitchFamily="34" charset="-122"/>
                <a:cs typeface="JetBrains Mono" pitchFamily="34" charset="-120"/>
              </a:rPr>
              <a:t>TEAM ALPHA</a:t>
            </a:r>
            <a:endParaRPr lang="en-US" sz="1000" dirty="0"/>
          </a:p>
        </p:txBody>
      </p:sp>
      <p:sp>
        <p:nvSpPr>
          <p:cNvPr id="6" name="Text 4"/>
          <p:cNvSpPr/>
          <p:nvPr/>
        </p:nvSpPr>
        <p:spPr>
          <a:xfrm>
            <a:off x="10799064" y="6291072"/>
            <a:ext cx="457200" cy="310896"/>
          </a:xfrm>
          <a:prstGeom prst="rect">
            <a:avLst/>
          </a:prstGeom>
          <a:noFill/>
          <a:ln/>
        </p:spPr>
        <p:txBody>
          <a:bodyPr wrap="square" lIns="0" tIns="0" rIns="0" bIns="0" rtlCol="0" anchor="ctr"/>
          <a:lstStyle/>
          <a:p>
            <a:pPr indent="0" marL="0">
              <a:buNone/>
            </a:pPr>
            <a:r>
              <a:rPr lang="en-US" sz="1000" dirty="0">
                <a:solidFill>
                  <a:srgbClr val="5B6480"/>
                </a:solidFill>
                <a:latin typeface="JetBrains Mono" pitchFamily="34" charset="0"/>
                <a:ea typeface="JetBrains Mono" pitchFamily="34" charset="-122"/>
                <a:cs typeface="JetBrains Mono" pitchFamily="34" charset="-120"/>
              </a:rPr>
              <a:t>SHEET</a:t>
            </a:r>
            <a:endParaRPr lang="en-US" sz="1000" dirty="0"/>
          </a:p>
        </p:txBody>
      </p:sp>
      <p:sp>
        <p:nvSpPr>
          <p:cNvPr id="7" name="Text 5"/>
          <p:cNvSpPr/>
          <p:nvPr>
            <p:ph idx="105" type="title" hasCustomPrompt="1"/>
          </p:nvPr>
        </p:nvSpPr>
        <p:spPr>
          <a:xfrm>
            <a:off x="685800" y="749808"/>
            <a:ext cx="10820095" cy="822960"/>
          </a:xfrm>
          <a:prstGeom prst="rect">
            <a:avLst/>
          </a:prstGeom>
          <a:noFill/>
          <a:ln/>
        </p:spPr>
        <p:txBody>
          <a:bodyPr wrap="square" rtlCol="0"/>
          <a:lstStyle>
            <a:lvl1pPr algn="l" indent="0" marL="0">
              <a:buNone/>
              <a:defRPr lang="en-US" sz="3000" b="1" dirty="0">
                <a:solidFill>
                  <a:srgbClr val="242E46"/>
                </a:solidFill>
                <a:latin typeface="Manrope" pitchFamily="34" charset="0"/>
                <a:ea typeface="Manrope" pitchFamily="34" charset="-122"/>
                <a:cs typeface="Manrope"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UM">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5486400" cy="237744"/>
          </a:xfrm>
          <a:prstGeom prst="rect">
            <a:avLst/>
          </a:prstGeom>
          <a:noFill/>
          <a:ln/>
        </p:spPr>
        <p:txBody>
          <a:bodyPr wrap="square" lIns="0" tIns="0" rIns="0" bIns="0" rtlCol="0" anchor="ctr"/>
          <a:lstStyle/>
          <a:p>
            <a:pPr indent="0" marL="0">
              <a:buNone/>
            </a:pPr>
            <a:r>
              <a:rPr lang="en-US" sz="1000" spc="120" kern="0" dirty="0">
                <a:solidFill>
                  <a:srgbClr val="B3A6DC"/>
                </a:solidFill>
                <a:latin typeface="JetBrains Mono" pitchFamily="34" charset="0"/>
                <a:ea typeface="JetBrains Mono" pitchFamily="34" charset="-122"/>
                <a:cs typeface="JetBrains Mono" pitchFamily="34" charset="-120"/>
              </a:rPr>
              <a:t>KIT ROOM  ·  FINAL DEMO  ·  13 OCT 2026</a:t>
            </a:r>
            <a:endParaRPr lang="en-US" sz="1000" dirty="0"/>
          </a:p>
        </p:txBody>
      </p:sp>
      <p:sp>
        <p:nvSpPr>
          <p:cNvPr id="3" name="Shape 1"/>
          <p:cNvSpPr/>
          <p:nvPr/>
        </p:nvSpPr>
        <p:spPr>
          <a:xfrm>
            <a:off x="9674352" y="6291072"/>
            <a:ext cx="1828800" cy="310896"/>
          </a:xfrm>
          <a:prstGeom prst="rect">
            <a:avLst/>
          </a:prstGeom>
          <a:ln w="9525">
            <a:solidFill>
              <a:srgbClr val="4E4180"/>
            </a:solidFill>
            <a:prstDash val="solid"/>
          </a:ln>
        </p:spPr>
      </p:sp>
      <p:sp>
        <p:nvSpPr>
          <p:cNvPr id="4" name="Shape 2"/>
          <p:cNvSpPr/>
          <p:nvPr/>
        </p:nvSpPr>
        <p:spPr>
          <a:xfrm>
            <a:off x="10735056" y="6291072"/>
            <a:ext cx="0" cy="310896"/>
          </a:xfrm>
          <a:prstGeom prst="line">
            <a:avLst/>
          </a:prstGeom>
          <a:noFill/>
          <a:ln w="9525">
            <a:solidFill>
              <a:srgbClr val="4E4180"/>
            </a:solidFill>
            <a:prstDash val="solid"/>
          </a:ln>
        </p:spPr>
      </p:sp>
      <p:sp>
        <p:nvSpPr>
          <p:cNvPr id="5" name="Text 3"/>
          <p:cNvSpPr/>
          <p:nvPr/>
        </p:nvSpPr>
        <p:spPr>
          <a:xfrm>
            <a:off x="9747504" y="6291072"/>
            <a:ext cx="960120" cy="310896"/>
          </a:xfrm>
          <a:prstGeom prst="rect">
            <a:avLst/>
          </a:prstGeom>
          <a:noFill/>
          <a:ln/>
        </p:spPr>
        <p:txBody>
          <a:bodyPr wrap="square" lIns="0" tIns="0" rIns="0" bIns="0" rtlCol="0" anchor="ctr"/>
          <a:lstStyle/>
          <a:p>
            <a:pPr indent="0" marL="0">
              <a:buNone/>
            </a:pPr>
            <a:r>
              <a:rPr lang="en-US" sz="1000" b="1" dirty="0">
                <a:solidFill>
                  <a:srgbClr val="F3F2F8"/>
                </a:solidFill>
                <a:latin typeface="JetBrains Mono" pitchFamily="34" charset="0"/>
                <a:ea typeface="JetBrains Mono" pitchFamily="34" charset="-122"/>
                <a:cs typeface="JetBrains Mono" pitchFamily="34" charset="-120"/>
              </a:rPr>
              <a:t>TEAM ALPHA</a:t>
            </a:r>
            <a:endParaRPr lang="en-US" sz="1000" dirty="0"/>
          </a:p>
        </p:txBody>
      </p:sp>
      <p:sp>
        <p:nvSpPr>
          <p:cNvPr id="6" name="Text 4"/>
          <p:cNvSpPr/>
          <p:nvPr/>
        </p:nvSpPr>
        <p:spPr>
          <a:xfrm>
            <a:off x="10799064" y="6291072"/>
            <a:ext cx="457200" cy="310896"/>
          </a:xfrm>
          <a:prstGeom prst="rect">
            <a:avLst/>
          </a:prstGeom>
          <a:noFill/>
          <a:ln/>
        </p:spPr>
        <p:txBody>
          <a:bodyPr wrap="square" lIns="0" tIns="0" rIns="0" bIns="0" rtlCol="0" anchor="ctr"/>
          <a:lstStyle/>
          <a:p>
            <a:pPr indent="0" marL="0">
              <a:buNone/>
            </a:pPr>
            <a:r>
              <a:rPr lang="en-US" sz="1000" dirty="0">
                <a:solidFill>
                  <a:srgbClr val="B3A6DC"/>
                </a:solidFill>
                <a:latin typeface="JetBrains Mono" pitchFamily="34" charset="0"/>
                <a:ea typeface="JetBrains Mono" pitchFamily="34" charset="-122"/>
                <a:cs typeface="JetBrains Mono" pitchFamily="34" charset="-120"/>
              </a:rPr>
              <a:t>SHEET</a:t>
            </a:r>
            <a:endParaRPr lang="en-US" sz="1000" dirty="0"/>
          </a:p>
        </p:txBody>
      </p:sp>
      <p:sp>
        <p:nvSpPr>
          <p:cNvPr id="7" name="Text 5"/>
          <p:cNvSpPr/>
          <p:nvPr>
            <p:ph idx="105" type="title" hasCustomPrompt="1"/>
          </p:nvPr>
        </p:nvSpPr>
        <p:spPr>
          <a:xfrm>
            <a:off x="685800" y="749808"/>
            <a:ext cx="10820095" cy="822960"/>
          </a:xfrm>
          <a:prstGeom prst="rect">
            <a:avLst/>
          </a:prstGeom>
          <a:noFill/>
          <a:ln/>
        </p:spPr>
        <p:txBody>
          <a:bodyPr wrap="square" rtlCol="0"/>
          <a:lstStyle>
            <a:lvl1pPr algn="l" indent="0" marL="0">
              <a:buNone/>
              <a:defRPr lang="en-US" sz="3000" b="1" dirty="0">
                <a:solidFill>
                  <a:srgbClr val="F3F2F8"/>
                </a:solidFill>
                <a:latin typeface="Manrope" pitchFamily="34" charset="0"/>
                <a:ea typeface="Manrope" pitchFamily="34" charset="-122"/>
                <a:cs typeface="Manrope"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3F2F8"/>
                </a:solidFill>
                <a:latin typeface="JetBrains Mono"/>
                <a:ea typeface="JetBrains Mono"/>
                <a:cs typeface="JetBrains Mono"/>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UM_BA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PPENDIX">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685800" y="6327648"/>
            <a:ext cx="5486400" cy="237744"/>
          </a:xfrm>
          <a:prstGeom prst="rect">
            <a:avLst/>
          </a:prstGeom>
          <a:noFill/>
          <a:ln/>
        </p:spPr>
        <p:txBody>
          <a:bodyPr wrap="square" lIns="0" tIns="0" rIns="0" bIns="0" rtlCol="0" anchor="ctr"/>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APPENDIX  ·  QUESTIONS AND EVIDENCE</a:t>
            </a:r>
            <a:endParaRPr lang="en-US" sz="1000" dirty="0"/>
          </a:p>
        </p:txBody>
      </p:sp>
      <p:sp>
        <p:nvSpPr>
          <p:cNvPr id="3" name="Shape 1"/>
          <p:cNvSpPr/>
          <p:nvPr/>
        </p:nvSpPr>
        <p:spPr>
          <a:xfrm>
            <a:off x="9674352" y="6291072"/>
            <a:ext cx="1828800" cy="310896"/>
          </a:xfrm>
          <a:prstGeom prst="rect">
            <a:avLst/>
          </a:prstGeom>
          <a:ln w="9525">
            <a:solidFill>
              <a:srgbClr val="C2C3C5"/>
            </a:solidFill>
            <a:prstDash val="solid"/>
          </a:ln>
        </p:spPr>
      </p:sp>
      <p:sp>
        <p:nvSpPr>
          <p:cNvPr id="4" name="Shape 2"/>
          <p:cNvSpPr/>
          <p:nvPr/>
        </p:nvSpPr>
        <p:spPr>
          <a:xfrm>
            <a:off x="10735056" y="6291072"/>
            <a:ext cx="0" cy="310896"/>
          </a:xfrm>
          <a:prstGeom prst="line">
            <a:avLst/>
          </a:prstGeom>
          <a:noFill/>
          <a:ln w="9525">
            <a:solidFill>
              <a:srgbClr val="C2C3C5"/>
            </a:solidFill>
            <a:prstDash val="solid"/>
          </a:ln>
        </p:spPr>
      </p:sp>
      <p:sp>
        <p:nvSpPr>
          <p:cNvPr id="5" name="Text 3"/>
          <p:cNvSpPr/>
          <p:nvPr/>
        </p:nvSpPr>
        <p:spPr>
          <a:xfrm>
            <a:off x="9747504" y="6291072"/>
            <a:ext cx="960120" cy="310896"/>
          </a:xfrm>
          <a:prstGeom prst="rect">
            <a:avLst/>
          </a:prstGeom>
          <a:noFill/>
          <a:ln/>
        </p:spPr>
        <p:txBody>
          <a:bodyPr wrap="square" lIns="0" tIns="0" rIns="0" bIns="0" rtlCol="0" anchor="ctr"/>
          <a:lstStyle/>
          <a:p>
            <a:pPr indent="0" marL="0">
              <a:buNone/>
            </a:pPr>
            <a:r>
              <a:rPr lang="en-US" sz="1000" b="1" dirty="0">
                <a:solidFill>
                  <a:srgbClr val="4A5470"/>
                </a:solidFill>
                <a:latin typeface="JetBrains Mono" pitchFamily="34" charset="0"/>
                <a:ea typeface="JetBrains Mono" pitchFamily="34" charset="-122"/>
                <a:cs typeface="JetBrains Mono" pitchFamily="34" charset="-120"/>
              </a:rPr>
              <a:t>TEAM ALPHA</a:t>
            </a:r>
            <a:endParaRPr lang="en-US" sz="1000" dirty="0"/>
          </a:p>
        </p:txBody>
      </p:sp>
      <p:sp>
        <p:nvSpPr>
          <p:cNvPr id="6" name="Text 4"/>
          <p:cNvSpPr/>
          <p:nvPr/>
        </p:nvSpPr>
        <p:spPr>
          <a:xfrm>
            <a:off x="10799064" y="6291072"/>
            <a:ext cx="457200" cy="310896"/>
          </a:xfrm>
          <a:prstGeom prst="rect">
            <a:avLst/>
          </a:prstGeom>
          <a:noFill/>
          <a:ln/>
        </p:spPr>
        <p:txBody>
          <a:bodyPr wrap="square" lIns="0" tIns="0" rIns="0" bIns="0" rtlCol="0" anchor="ctr"/>
          <a:lstStyle/>
          <a:p>
            <a:pPr indent="0" marL="0">
              <a:buNone/>
            </a:pPr>
            <a:r>
              <a:rPr lang="en-US" sz="1000" dirty="0">
                <a:solidFill>
                  <a:srgbClr val="5B6480"/>
                </a:solidFill>
                <a:latin typeface="JetBrains Mono" pitchFamily="34" charset="0"/>
                <a:ea typeface="JetBrains Mono" pitchFamily="34" charset="-122"/>
                <a:cs typeface="JetBrains Mono" pitchFamily="34" charset="-120"/>
              </a:rPr>
              <a:t>SHEET</a:t>
            </a:r>
            <a:endParaRPr lang="en-US" sz="1000" dirty="0"/>
          </a:p>
        </p:txBody>
      </p:sp>
      <p:sp>
        <p:nvSpPr>
          <p:cNvPr id="7" name="Text 5"/>
          <p:cNvSpPr/>
          <p:nvPr>
            <p:ph idx="105" type="title" hasCustomPrompt="1"/>
          </p:nvPr>
        </p:nvSpPr>
        <p:spPr>
          <a:xfrm>
            <a:off x="685800" y="749808"/>
            <a:ext cx="10820095" cy="822960"/>
          </a:xfrm>
          <a:prstGeom prst="rect">
            <a:avLst/>
          </a:prstGeom>
          <a:noFill/>
          <a:ln/>
        </p:spPr>
        <p:txBody>
          <a:bodyPr wrap="square" rtlCol="0"/>
          <a:lstStyle>
            <a:lvl1pPr algn="l" indent="0" marL="0">
              <a:buNone/>
              <a:defRPr lang="en-US" sz="2600" b="1" dirty="0">
                <a:solidFill>
                  <a:srgbClr val="242E46"/>
                </a:solidFill>
                <a:latin typeface="Manrope" pitchFamily="34" charset="0"/>
                <a:ea typeface="Manrope" pitchFamily="34" charset="-122"/>
                <a:cs typeface="Manrope"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658368"/>
            <a:ext cx="5486400" cy="274320"/>
          </a:xfrm>
          <a:prstGeom prst="rect">
            <a:avLst/>
          </a:prstGeom>
          <a:noFill/>
          <a:ln/>
        </p:spPr>
        <p:txBody>
          <a:bodyPr wrap="square" lIns="0" tIns="0" rIns="0" bIns="0" rtlCol="0" anchor="t"/>
          <a:lstStyle/>
          <a:p>
            <a:pPr indent="0" marL="0">
              <a:buNone/>
            </a:pPr>
            <a:r>
              <a:rPr lang="en-US" sz="1100" spc="200" kern="0" dirty="0">
                <a:solidFill>
                  <a:srgbClr val="B3A6DC"/>
                </a:solidFill>
                <a:latin typeface="JetBrains Mono" pitchFamily="34" charset="0"/>
                <a:ea typeface="JetBrains Mono" pitchFamily="34" charset="-122"/>
                <a:cs typeface="JetBrains Mono" pitchFamily="34" charset="-120"/>
              </a:rPr>
              <a:t>KIT ROOM  ·  FINAL DEMO</a:t>
            </a:r>
            <a:endParaRPr lang="en-US" sz="1100" dirty="0"/>
          </a:p>
        </p:txBody>
      </p:sp>
      <p:sp>
        <p:nvSpPr>
          <p:cNvPr id="3" name="Text 1"/>
          <p:cNvSpPr txBox="1"/>
          <p:nvPr/>
        </p:nvSpPr>
        <p:spPr>
          <a:xfrm>
            <a:off x="685800" y="1188720"/>
            <a:ext cx="6217920" cy="2697480"/>
          </a:xfrm>
          <a:prstGeom prst="rect">
            <a:avLst/>
          </a:prstGeom>
          <a:noFill/>
          <a:ln/>
        </p:spPr>
        <p:txBody>
          <a:bodyPr wrap="square" lIns="0" tIns="0" rIns="0" bIns="0" rtlCol="0" anchor="t"/>
          <a:lstStyle/>
          <a:p>
            <a:pPr indent="0" marL="0">
              <a:lnSpc>
                <a:spcPct val="92000"/>
              </a:lnSpc>
              <a:buNone/>
            </a:pPr>
            <a:r>
              <a:rPr lang="en-US" sz="5800" b="1" dirty="0">
                <a:solidFill>
                  <a:srgbClr val="F3F2F8"/>
                </a:solidFill>
                <a:latin typeface="Manrope" pitchFamily="34" charset="0"/>
                <a:ea typeface="Manrope" pitchFamily="34" charset="-122"/>
                <a:cs typeface="Manrope" pitchFamily="34" charset="-120"/>
              </a:rPr>
              <a:t>One order,</a:t>
            </a:r>
            <a:endParaRPr lang="en-US" sz="5800" dirty="0"/>
          </a:p>
          <a:p>
            <a:pPr indent="0" marL="0">
              <a:lnSpc>
                <a:spcPct val="92000"/>
              </a:lnSpc>
              <a:buNone/>
            </a:pPr>
            <a:r>
              <a:rPr lang="en-US" sz="5800" b="1" dirty="0">
                <a:solidFill>
                  <a:srgbClr val="F3F2F8"/>
                </a:solidFill>
                <a:latin typeface="Manrope" pitchFamily="34" charset="0"/>
                <a:ea typeface="Manrope" pitchFamily="34" charset="-122"/>
                <a:cs typeface="Manrope" pitchFamily="34" charset="-120"/>
              </a:rPr>
              <a:t>followed all</a:t>
            </a:r>
            <a:endParaRPr lang="en-US" sz="5800" dirty="0"/>
          </a:p>
          <a:p>
            <a:pPr indent="0" marL="0">
              <a:lnSpc>
                <a:spcPct val="92000"/>
              </a:lnSpc>
              <a:buNone/>
            </a:pPr>
            <a:r>
              <a:rPr lang="en-US" sz="5800" b="1" dirty="0">
                <a:solidFill>
                  <a:srgbClr val="AE99F0"/>
                </a:solidFill>
                <a:latin typeface="Manrope" pitchFamily="34" charset="0"/>
                <a:ea typeface="Manrope" pitchFamily="34" charset="-122"/>
                <a:cs typeface="Manrope" pitchFamily="34" charset="-120"/>
              </a:rPr>
              <a:t>the way down.</a:t>
            </a:r>
            <a:endParaRPr lang="en-US" sz="5800" dirty="0"/>
          </a:p>
        </p:txBody>
      </p:sp>
      <p:sp>
        <p:nvSpPr>
          <p:cNvPr id="4" name="Text 2"/>
          <p:cNvSpPr txBox="1"/>
          <p:nvPr/>
        </p:nvSpPr>
        <p:spPr>
          <a:xfrm>
            <a:off x="685800" y="4023360"/>
            <a:ext cx="5394960" cy="1188720"/>
          </a:xfrm>
          <a:prstGeom prst="rect">
            <a:avLst/>
          </a:prstGeom>
          <a:noFill/>
          <a:ln/>
        </p:spPr>
        <p:txBody>
          <a:bodyPr wrap="square" lIns="0" tIns="0" rIns="0" bIns="0" rtlCol="0" anchor="t"/>
          <a:lstStyle/>
          <a:p>
            <a:pPr indent="0" marL="0">
              <a:lnSpc>
                <a:spcPct val="125000"/>
              </a:lnSpc>
              <a:buNone/>
            </a:pPr>
            <a:r>
              <a:rPr lang="en-US" sz="1600" dirty="0">
                <a:solidFill>
                  <a:srgbClr val="B3A6DC"/>
                </a:solidFill>
                <a:latin typeface="Inter" pitchFamily="34" charset="0"/>
                <a:ea typeface="Inter" pitchFamily="34" charset="-122"/>
                <a:cs typeface="Inter" pitchFamily="34" charset="-120"/>
              </a:rPr>
              <a:t>How Team Alpha took a nine-service order platform from provided source code to Amazon EKS in four weeks, on a $200 budget, and built it for the orders that go wrong.</a:t>
            </a:r>
            <a:endParaRPr lang="en-US" sz="1600" dirty="0"/>
          </a:p>
        </p:txBody>
      </p:sp>
      <p:sp>
        <p:nvSpPr>
          <p:cNvPr id="5" name="Text 3"/>
          <p:cNvSpPr txBox="1"/>
          <p:nvPr/>
        </p:nvSpPr>
        <p:spPr>
          <a:xfrm>
            <a:off x="685800" y="6172200"/>
            <a:ext cx="7772400" cy="274320"/>
          </a:xfrm>
          <a:prstGeom prst="rect">
            <a:avLst/>
          </a:prstGeom>
          <a:noFill/>
          <a:ln/>
        </p:spPr>
        <p:txBody>
          <a:bodyPr wrap="square" lIns="0" tIns="0" rIns="0" bIns="0" rtlCol="0" anchor="t"/>
          <a:lstStyle/>
          <a:p>
            <a:pPr indent="0" marL="0">
              <a:buNone/>
            </a:pPr>
            <a:r>
              <a:rPr lang="en-US" sz="1000" spc="150" kern="0" dirty="0">
                <a:solidFill>
                  <a:srgbClr val="B3A6DC"/>
                </a:solidFill>
                <a:latin typeface="JetBrains Mono" pitchFamily="34" charset="0"/>
                <a:ea typeface="JetBrains Mono" pitchFamily="34" charset="-122"/>
                <a:cs typeface="JetBrains Mono" pitchFamily="34" charset="-120"/>
              </a:rPr>
              <a:t>TEAM ALPHA  ·  CODERCO PRODUCTION ENGINEERING SIMULATION  ·  13 OCTOBER 2026</a:t>
            </a:r>
            <a:endParaRPr lang="en-US" sz="1000" dirty="0"/>
          </a:p>
        </p:txBody>
      </p:sp>
      <p:sp>
        <p:nvSpPr>
          <p:cNvPr id="6" name="Shape 4"/>
          <p:cNvSpPr/>
          <p:nvPr/>
        </p:nvSpPr>
        <p:spPr>
          <a:xfrm>
            <a:off x="7086600" y="658368"/>
            <a:ext cx="4416552" cy="5148072"/>
          </a:xfrm>
          <a:prstGeom prst="rect">
            <a:avLst/>
          </a:prstGeom>
          <a:ln w="9525">
            <a:solidFill>
              <a:srgbClr val="4E4180"/>
            </a:solidFill>
            <a:prstDash val="solid"/>
          </a:ln>
        </p:spPr>
      </p:sp>
      <p:sp>
        <p:nvSpPr>
          <p:cNvPr id="7" name="Text 5"/>
          <p:cNvSpPr txBox="1"/>
          <p:nvPr/>
        </p:nvSpPr>
        <p:spPr>
          <a:xfrm>
            <a:off x="7287768" y="841248"/>
            <a:ext cx="2743200" cy="228600"/>
          </a:xfrm>
          <a:prstGeom prst="rect">
            <a:avLst/>
          </a:prstGeom>
          <a:noFill/>
          <a:ln/>
        </p:spPr>
        <p:txBody>
          <a:bodyPr wrap="square" lIns="0" tIns="0" rIns="0" bIns="0" rtlCol="0" anchor="t"/>
          <a:lstStyle/>
          <a:p>
            <a:pPr indent="0" marL="0">
              <a:buNone/>
            </a:pPr>
            <a:r>
              <a:rPr lang="en-US" sz="1000" b="1" spc="150" kern="0" dirty="0">
                <a:solidFill>
                  <a:srgbClr val="F3F2F8"/>
                </a:solidFill>
                <a:latin typeface="JetBrains Mono" pitchFamily="34" charset="0"/>
                <a:ea typeface="JetBrains Mono" pitchFamily="34" charset="-122"/>
                <a:cs typeface="JetBrains Mono" pitchFamily="34" charset="-120"/>
              </a:rPr>
              <a:t>PLAN  ·  ORDER ROUTE</a:t>
            </a:r>
            <a:endParaRPr lang="en-US" sz="1000" dirty="0"/>
          </a:p>
        </p:txBody>
      </p:sp>
      <p:sp>
        <p:nvSpPr>
          <p:cNvPr id="8" name="Shape 6"/>
          <p:cNvSpPr/>
          <p:nvPr/>
        </p:nvSpPr>
        <p:spPr>
          <a:xfrm>
            <a:off x="7360920" y="1325880"/>
            <a:ext cx="1463040" cy="457200"/>
          </a:xfrm>
          <a:prstGeom prst="rect">
            <a:avLst/>
          </a:prstGeom>
          <a:ln w="9525">
            <a:solidFill>
              <a:srgbClr val="7A6CB4"/>
            </a:solidFill>
            <a:prstDash val="dash"/>
          </a:ln>
        </p:spPr>
      </p:sp>
      <p:sp>
        <p:nvSpPr>
          <p:cNvPr id="9" name="Text 7"/>
          <p:cNvSpPr txBox="1"/>
          <p:nvPr/>
        </p:nvSpPr>
        <p:spPr>
          <a:xfrm>
            <a:off x="7360920" y="1325880"/>
            <a:ext cx="1463040" cy="457200"/>
          </a:xfrm>
          <a:prstGeom prst="rect">
            <a:avLst/>
          </a:prstGeom>
          <a:noFill/>
          <a:ln/>
        </p:spPr>
        <p:txBody>
          <a:bodyPr wrap="square" lIns="0" tIns="0" rIns="0" bIns="0" rtlCol="0" anchor="ctr"/>
          <a:lstStyle/>
          <a:p>
            <a:pPr algn="ctr" indent="0" marL="0">
              <a:buNone/>
            </a:pPr>
            <a:r>
              <a:rPr lang="en-US" sz="1000" spc="100" kern="0" dirty="0">
                <a:solidFill>
                  <a:srgbClr val="B3A6DC"/>
                </a:solidFill>
                <a:latin typeface="JetBrains Mono" pitchFamily="34" charset="0"/>
                <a:ea typeface="JetBrains Mono" pitchFamily="34" charset="-122"/>
                <a:cs typeface="JetBrains Mono" pitchFamily="34" charset="-120"/>
              </a:rPr>
              <a:t>BROWSER</a:t>
            </a:r>
            <a:endParaRPr lang="en-US" sz="1000" dirty="0"/>
          </a:p>
        </p:txBody>
      </p:sp>
      <p:sp>
        <p:nvSpPr>
          <p:cNvPr id="10" name="Shape 8"/>
          <p:cNvSpPr/>
          <p:nvPr/>
        </p:nvSpPr>
        <p:spPr>
          <a:xfrm>
            <a:off x="7360920" y="2103120"/>
            <a:ext cx="1463040" cy="457200"/>
          </a:xfrm>
          <a:prstGeom prst="rect">
            <a:avLst/>
          </a:prstGeom>
          <a:ln w="9525">
            <a:solidFill>
              <a:srgbClr val="7A6CB4"/>
            </a:solidFill>
            <a:prstDash val="dash"/>
          </a:ln>
        </p:spPr>
      </p:sp>
      <p:sp>
        <p:nvSpPr>
          <p:cNvPr id="11" name="Text 9"/>
          <p:cNvSpPr txBox="1"/>
          <p:nvPr/>
        </p:nvSpPr>
        <p:spPr>
          <a:xfrm>
            <a:off x="7360920" y="2103120"/>
            <a:ext cx="1463040" cy="457200"/>
          </a:xfrm>
          <a:prstGeom prst="rect">
            <a:avLst/>
          </a:prstGeom>
          <a:noFill/>
          <a:ln/>
        </p:spPr>
        <p:txBody>
          <a:bodyPr wrap="square" lIns="0" tIns="0" rIns="0" bIns="0" rtlCol="0" anchor="ctr"/>
          <a:lstStyle/>
          <a:p>
            <a:pPr algn="ctr" indent="0" marL="0">
              <a:buNone/>
            </a:pPr>
            <a:r>
              <a:rPr lang="en-US" sz="1000" spc="100" kern="0" dirty="0">
                <a:solidFill>
                  <a:srgbClr val="B3A6DC"/>
                </a:solidFill>
                <a:latin typeface="JetBrains Mono" pitchFamily="34" charset="0"/>
                <a:ea typeface="JetBrains Mono" pitchFamily="34" charset="-122"/>
                <a:cs typeface="JetBrains Mono" pitchFamily="34" charset="-120"/>
              </a:rPr>
              <a:t>API GATEWAY</a:t>
            </a:r>
            <a:endParaRPr lang="en-US" sz="1000" dirty="0"/>
          </a:p>
        </p:txBody>
      </p:sp>
      <p:sp>
        <p:nvSpPr>
          <p:cNvPr id="12" name="Shape 10"/>
          <p:cNvSpPr/>
          <p:nvPr/>
        </p:nvSpPr>
        <p:spPr>
          <a:xfrm>
            <a:off x="7360920" y="2880360"/>
            <a:ext cx="1463040" cy="457200"/>
          </a:xfrm>
          <a:prstGeom prst="rect">
            <a:avLst/>
          </a:prstGeom>
          <a:ln w="15875">
            <a:solidFill>
              <a:srgbClr val="AE99F0"/>
            </a:solidFill>
            <a:prstDash val="solid"/>
          </a:ln>
        </p:spPr>
      </p:sp>
      <p:sp>
        <p:nvSpPr>
          <p:cNvPr id="13" name="Text 11"/>
          <p:cNvSpPr txBox="1"/>
          <p:nvPr/>
        </p:nvSpPr>
        <p:spPr>
          <a:xfrm>
            <a:off x="7360920" y="2880360"/>
            <a:ext cx="1463040" cy="457200"/>
          </a:xfrm>
          <a:prstGeom prst="rect">
            <a:avLst/>
          </a:prstGeom>
          <a:noFill/>
          <a:ln/>
        </p:spPr>
        <p:txBody>
          <a:bodyPr wrap="square" lIns="0" tIns="0" rIns="0" bIns="0" rtlCol="0" anchor="ctr"/>
          <a:lstStyle/>
          <a:p>
            <a:pPr algn="ctr" indent="0" marL="0">
              <a:buNone/>
            </a:pPr>
            <a:r>
              <a:rPr lang="en-US" sz="1000" spc="100" kern="0" dirty="0">
                <a:solidFill>
                  <a:srgbClr val="F3F2F8"/>
                </a:solidFill>
                <a:latin typeface="JetBrains Mono" pitchFamily="34" charset="0"/>
                <a:ea typeface="JetBrains Mono" pitchFamily="34" charset="-122"/>
                <a:cs typeface="JetBrains Mono" pitchFamily="34" charset="-120"/>
              </a:rPr>
              <a:t>ORDER SERVICE</a:t>
            </a:r>
            <a:endParaRPr lang="en-US" sz="1000" dirty="0"/>
          </a:p>
        </p:txBody>
      </p:sp>
      <p:sp>
        <p:nvSpPr>
          <p:cNvPr id="14" name="Shape 12"/>
          <p:cNvSpPr/>
          <p:nvPr/>
        </p:nvSpPr>
        <p:spPr>
          <a:xfrm>
            <a:off x="7360920" y="3657600"/>
            <a:ext cx="1463040" cy="457200"/>
          </a:xfrm>
          <a:prstGeom prst="rect">
            <a:avLst/>
          </a:prstGeom>
          <a:ln w="9525">
            <a:solidFill>
              <a:srgbClr val="7A6CB4"/>
            </a:solidFill>
            <a:prstDash val="dash"/>
          </a:ln>
        </p:spPr>
      </p:sp>
      <p:sp>
        <p:nvSpPr>
          <p:cNvPr id="15" name="Text 13"/>
          <p:cNvSpPr txBox="1"/>
          <p:nvPr/>
        </p:nvSpPr>
        <p:spPr>
          <a:xfrm>
            <a:off x="7360920" y="3657600"/>
            <a:ext cx="1463040" cy="457200"/>
          </a:xfrm>
          <a:prstGeom prst="rect">
            <a:avLst/>
          </a:prstGeom>
          <a:noFill/>
          <a:ln/>
        </p:spPr>
        <p:txBody>
          <a:bodyPr wrap="square" lIns="0" tIns="0" rIns="0" bIns="0" rtlCol="0" anchor="ctr"/>
          <a:lstStyle/>
          <a:p>
            <a:pPr algn="ctr" indent="0" marL="0">
              <a:buNone/>
            </a:pPr>
            <a:r>
              <a:rPr lang="en-US" sz="1000" spc="100" kern="0" dirty="0">
                <a:solidFill>
                  <a:srgbClr val="B3A6DC"/>
                </a:solidFill>
                <a:latin typeface="JetBrains Mono" pitchFamily="34" charset="0"/>
                <a:ea typeface="JetBrains Mono" pitchFamily="34" charset="-122"/>
                <a:cs typeface="JetBrains Mono" pitchFamily="34" charset="-120"/>
              </a:rPr>
              <a:t>POSTGRES</a:t>
            </a:r>
            <a:endParaRPr lang="en-US" sz="1000" dirty="0"/>
          </a:p>
        </p:txBody>
      </p:sp>
      <p:sp>
        <p:nvSpPr>
          <p:cNvPr id="16" name="Shape 14"/>
          <p:cNvSpPr/>
          <p:nvPr/>
        </p:nvSpPr>
        <p:spPr>
          <a:xfrm>
            <a:off x="9692640" y="2880360"/>
            <a:ext cx="1463040" cy="457200"/>
          </a:xfrm>
          <a:prstGeom prst="rect">
            <a:avLst/>
          </a:prstGeom>
          <a:ln w="9525">
            <a:solidFill>
              <a:srgbClr val="7A6CB4"/>
            </a:solidFill>
            <a:prstDash val="dash"/>
          </a:ln>
        </p:spPr>
      </p:sp>
      <p:sp>
        <p:nvSpPr>
          <p:cNvPr id="17" name="Text 15"/>
          <p:cNvSpPr txBox="1"/>
          <p:nvPr/>
        </p:nvSpPr>
        <p:spPr>
          <a:xfrm>
            <a:off x="9692640" y="2880360"/>
            <a:ext cx="1463040" cy="457200"/>
          </a:xfrm>
          <a:prstGeom prst="rect">
            <a:avLst/>
          </a:prstGeom>
          <a:noFill/>
          <a:ln/>
        </p:spPr>
        <p:txBody>
          <a:bodyPr wrap="square" lIns="0" tIns="0" rIns="0" bIns="0" rtlCol="0" anchor="ctr"/>
          <a:lstStyle/>
          <a:p>
            <a:pPr algn="ctr" indent="0" marL="0">
              <a:buNone/>
            </a:pPr>
            <a:r>
              <a:rPr lang="en-US" sz="1000" spc="100" kern="0" dirty="0">
                <a:solidFill>
                  <a:srgbClr val="B3A6DC"/>
                </a:solidFill>
                <a:latin typeface="JetBrains Mono" pitchFamily="34" charset="0"/>
                <a:ea typeface="JetBrains Mono" pitchFamily="34" charset="-122"/>
                <a:cs typeface="JetBrains Mono" pitchFamily="34" charset="-120"/>
              </a:rPr>
              <a:t>SQS QUEUE</a:t>
            </a:r>
            <a:endParaRPr lang="en-US" sz="1000" dirty="0"/>
          </a:p>
        </p:txBody>
      </p:sp>
      <p:sp>
        <p:nvSpPr>
          <p:cNvPr id="18" name="Shape 16"/>
          <p:cNvSpPr/>
          <p:nvPr/>
        </p:nvSpPr>
        <p:spPr>
          <a:xfrm>
            <a:off x="9692640" y="3657600"/>
            <a:ext cx="1463040" cy="457200"/>
          </a:xfrm>
          <a:prstGeom prst="rect">
            <a:avLst/>
          </a:prstGeom>
          <a:ln w="9525">
            <a:solidFill>
              <a:srgbClr val="7A6CB4"/>
            </a:solidFill>
            <a:prstDash val="dash"/>
          </a:ln>
        </p:spPr>
      </p:sp>
      <p:sp>
        <p:nvSpPr>
          <p:cNvPr id="19" name="Text 17"/>
          <p:cNvSpPr txBox="1"/>
          <p:nvPr/>
        </p:nvSpPr>
        <p:spPr>
          <a:xfrm>
            <a:off x="9692640" y="3657600"/>
            <a:ext cx="1463040" cy="457200"/>
          </a:xfrm>
          <a:prstGeom prst="rect">
            <a:avLst/>
          </a:prstGeom>
          <a:noFill/>
          <a:ln/>
        </p:spPr>
        <p:txBody>
          <a:bodyPr wrap="square" lIns="0" tIns="0" rIns="0" bIns="0" rtlCol="0" anchor="ctr"/>
          <a:lstStyle/>
          <a:p>
            <a:pPr algn="ctr" indent="0" marL="0">
              <a:buNone/>
            </a:pPr>
            <a:r>
              <a:rPr lang="en-US" sz="1000" spc="100" kern="0" dirty="0">
                <a:solidFill>
                  <a:srgbClr val="B3A6DC"/>
                </a:solidFill>
                <a:latin typeface="JetBrains Mono" pitchFamily="34" charset="0"/>
                <a:ea typeface="JetBrains Mono" pitchFamily="34" charset="-122"/>
                <a:cs typeface="JetBrains Mono" pitchFamily="34" charset="-120"/>
              </a:rPr>
              <a:t>WORKER</a:t>
            </a:r>
            <a:endParaRPr lang="en-US" sz="1000" dirty="0"/>
          </a:p>
        </p:txBody>
      </p:sp>
      <p:sp>
        <p:nvSpPr>
          <p:cNvPr id="20" name="Shape 18"/>
          <p:cNvSpPr/>
          <p:nvPr/>
        </p:nvSpPr>
        <p:spPr>
          <a:xfrm>
            <a:off x="8092440" y="1783080"/>
            <a:ext cx="0" cy="320040"/>
          </a:xfrm>
          <a:prstGeom prst="line">
            <a:avLst/>
          </a:prstGeom>
          <a:noFill/>
          <a:ln w="19050">
            <a:solidFill>
              <a:srgbClr val="AE99F0"/>
            </a:solidFill>
            <a:prstDash val="solid"/>
            <a:tailEnd type="triangle"/>
          </a:ln>
        </p:spPr>
      </p:sp>
      <p:sp>
        <p:nvSpPr>
          <p:cNvPr id="21" name="Shape 19"/>
          <p:cNvSpPr/>
          <p:nvPr/>
        </p:nvSpPr>
        <p:spPr>
          <a:xfrm>
            <a:off x="8092440" y="2560320"/>
            <a:ext cx="0" cy="320040"/>
          </a:xfrm>
          <a:prstGeom prst="line">
            <a:avLst/>
          </a:prstGeom>
          <a:noFill/>
          <a:ln w="19050">
            <a:solidFill>
              <a:srgbClr val="AE99F0"/>
            </a:solidFill>
            <a:prstDash val="solid"/>
            <a:tailEnd type="triangle"/>
          </a:ln>
        </p:spPr>
      </p:sp>
      <p:sp>
        <p:nvSpPr>
          <p:cNvPr id="22" name="Shape 20"/>
          <p:cNvSpPr/>
          <p:nvPr/>
        </p:nvSpPr>
        <p:spPr>
          <a:xfrm>
            <a:off x="8092440" y="3337560"/>
            <a:ext cx="0" cy="320040"/>
          </a:xfrm>
          <a:prstGeom prst="line">
            <a:avLst/>
          </a:prstGeom>
          <a:noFill/>
          <a:ln w="19050">
            <a:solidFill>
              <a:srgbClr val="AE99F0"/>
            </a:solidFill>
            <a:prstDash val="solid"/>
            <a:headEnd type="triangle"/>
            <a:tailEnd type="triangle"/>
          </a:ln>
        </p:spPr>
      </p:sp>
      <p:sp>
        <p:nvSpPr>
          <p:cNvPr id="23" name="Shape 21"/>
          <p:cNvSpPr/>
          <p:nvPr/>
        </p:nvSpPr>
        <p:spPr>
          <a:xfrm>
            <a:off x="8823960" y="3108960"/>
            <a:ext cx="868680" cy="0"/>
          </a:xfrm>
          <a:prstGeom prst="line">
            <a:avLst/>
          </a:prstGeom>
          <a:noFill/>
          <a:ln w="19050">
            <a:solidFill>
              <a:srgbClr val="AE99F0"/>
            </a:solidFill>
            <a:prstDash val="solid"/>
            <a:tailEnd type="triangle"/>
          </a:ln>
        </p:spPr>
      </p:sp>
      <p:sp>
        <p:nvSpPr>
          <p:cNvPr id="24" name="Text 22"/>
          <p:cNvSpPr txBox="1"/>
          <p:nvPr/>
        </p:nvSpPr>
        <p:spPr>
          <a:xfrm>
            <a:off x="9098280" y="2871216"/>
            <a:ext cx="594360" cy="201168"/>
          </a:xfrm>
          <a:prstGeom prst="rect">
            <a:avLst/>
          </a:prstGeom>
          <a:noFill/>
          <a:ln/>
        </p:spPr>
        <p:txBody>
          <a:bodyPr wrap="square" lIns="0" tIns="0" rIns="0" bIns="0" rtlCol="0" anchor="t"/>
          <a:lstStyle/>
          <a:p>
            <a:pPr algn="ctr" indent="0" marL="0">
              <a:buNone/>
            </a:pPr>
            <a:r>
              <a:rPr lang="en-US" sz="900" spc="100" kern="0" dirty="0">
                <a:solidFill>
                  <a:srgbClr val="AE99F0"/>
                </a:solidFill>
                <a:latin typeface="JetBrains Mono" pitchFamily="34" charset="0"/>
                <a:ea typeface="JetBrains Mono" pitchFamily="34" charset="-122"/>
                <a:cs typeface="JetBrains Mono" pitchFamily="34" charset="-120"/>
              </a:rPr>
              <a:t>OUTBOX</a:t>
            </a:r>
            <a:endParaRPr lang="en-US" sz="900" dirty="0"/>
          </a:p>
        </p:txBody>
      </p:sp>
      <p:sp>
        <p:nvSpPr>
          <p:cNvPr id="25" name="Text 23"/>
          <p:cNvSpPr txBox="1"/>
          <p:nvPr/>
        </p:nvSpPr>
        <p:spPr>
          <a:xfrm>
            <a:off x="8183880" y="3383280"/>
            <a:ext cx="731520" cy="201168"/>
          </a:xfrm>
          <a:prstGeom prst="rect">
            <a:avLst/>
          </a:prstGeom>
          <a:noFill/>
          <a:ln/>
        </p:spPr>
        <p:txBody>
          <a:bodyPr wrap="square" lIns="0" tIns="0" rIns="0" bIns="0" rtlCol="0" anchor="t"/>
          <a:lstStyle/>
          <a:p>
            <a:pPr indent="0" marL="0">
              <a:buNone/>
            </a:pPr>
            <a:r>
              <a:rPr lang="en-US" sz="900" spc="100" kern="0" dirty="0">
                <a:solidFill>
                  <a:srgbClr val="AE99F0"/>
                </a:solidFill>
                <a:latin typeface="JetBrains Mono" pitchFamily="34" charset="0"/>
                <a:ea typeface="JetBrains Mono" pitchFamily="34" charset="-122"/>
                <a:cs typeface="JetBrains Mono" pitchFamily="34" charset="-120"/>
              </a:rPr>
              <a:t>ONE TX</a:t>
            </a:r>
            <a:endParaRPr lang="en-US" sz="900" dirty="0"/>
          </a:p>
        </p:txBody>
      </p:sp>
      <p:sp>
        <p:nvSpPr>
          <p:cNvPr id="26" name="Shape 24"/>
          <p:cNvSpPr/>
          <p:nvPr/>
        </p:nvSpPr>
        <p:spPr>
          <a:xfrm>
            <a:off x="10424160" y="3337560"/>
            <a:ext cx="0" cy="320040"/>
          </a:xfrm>
          <a:prstGeom prst="line">
            <a:avLst/>
          </a:prstGeom>
          <a:noFill/>
          <a:ln w="19050">
            <a:solidFill>
              <a:srgbClr val="AE99F0"/>
            </a:solidFill>
            <a:prstDash val="solid"/>
            <a:tailEnd type="triangle"/>
          </a:ln>
        </p:spPr>
      </p:sp>
      <p:sp>
        <p:nvSpPr>
          <p:cNvPr id="27" name="Shape 25"/>
          <p:cNvSpPr/>
          <p:nvPr/>
        </p:nvSpPr>
        <p:spPr>
          <a:xfrm>
            <a:off x="10424160" y="4114800"/>
            <a:ext cx="0" cy="292608"/>
          </a:xfrm>
          <a:prstGeom prst="line">
            <a:avLst/>
          </a:prstGeom>
          <a:noFill/>
          <a:ln w="19050">
            <a:solidFill>
              <a:srgbClr val="AE99F0"/>
            </a:solidFill>
            <a:prstDash val="solid"/>
          </a:ln>
        </p:spPr>
      </p:sp>
      <p:sp>
        <p:nvSpPr>
          <p:cNvPr id="28" name="Shape 26"/>
          <p:cNvSpPr/>
          <p:nvPr/>
        </p:nvSpPr>
        <p:spPr>
          <a:xfrm flipH="1">
            <a:off x="7589520" y="4407408"/>
            <a:ext cx="2834640" cy="0"/>
          </a:xfrm>
          <a:prstGeom prst="line">
            <a:avLst/>
          </a:prstGeom>
          <a:noFill/>
          <a:ln w="19050">
            <a:solidFill>
              <a:srgbClr val="AE99F0"/>
            </a:solidFill>
            <a:prstDash val="solid"/>
          </a:ln>
        </p:spPr>
      </p:sp>
      <p:sp>
        <p:nvSpPr>
          <p:cNvPr id="29" name="Shape 27"/>
          <p:cNvSpPr/>
          <p:nvPr/>
        </p:nvSpPr>
        <p:spPr>
          <a:xfrm>
            <a:off x="7589520" y="4407408"/>
            <a:ext cx="0" cy="256032"/>
          </a:xfrm>
          <a:prstGeom prst="line">
            <a:avLst/>
          </a:prstGeom>
          <a:noFill/>
          <a:ln w="19050">
            <a:solidFill>
              <a:srgbClr val="AE99F0"/>
            </a:solidFill>
            <a:prstDash val="solid"/>
            <a:tailEnd type="triangle"/>
          </a:ln>
        </p:spPr>
      </p:sp>
      <p:sp>
        <p:nvSpPr>
          <p:cNvPr id="30" name="Shape 28"/>
          <p:cNvSpPr/>
          <p:nvPr/>
        </p:nvSpPr>
        <p:spPr>
          <a:xfrm>
            <a:off x="8714232" y="2724912"/>
            <a:ext cx="310896" cy="310896"/>
          </a:xfrm>
          <a:prstGeom prst="ellipse">
            <a:avLst/>
          </a:prstGeom>
          <a:solidFill>
            <a:srgbClr val="160B35"/>
          </a:solidFill>
          <a:ln w="12700">
            <a:solidFill>
              <a:srgbClr val="AE99F0"/>
            </a:solidFill>
            <a:prstDash val="solid"/>
          </a:ln>
        </p:spPr>
      </p:sp>
      <p:sp>
        <p:nvSpPr>
          <p:cNvPr id="31" name="Text 29"/>
          <p:cNvSpPr txBox="1"/>
          <p:nvPr/>
        </p:nvSpPr>
        <p:spPr>
          <a:xfrm>
            <a:off x="8714232" y="2724912"/>
            <a:ext cx="310896" cy="310896"/>
          </a:xfrm>
          <a:prstGeom prst="rect">
            <a:avLst/>
          </a:prstGeom>
          <a:noFill/>
          <a:ln/>
        </p:spPr>
        <p:txBody>
          <a:bodyPr wrap="square" lIns="0" tIns="0" rIns="0" bIns="0" rtlCol="0" anchor="ctr"/>
          <a:lstStyle/>
          <a:p>
            <a:pPr algn="ctr" indent="0" marL="0">
              <a:buNone/>
            </a:pPr>
            <a:r>
              <a:rPr lang="en-US" sz="900" b="1" dirty="0">
                <a:solidFill>
                  <a:srgbClr val="AE99F0"/>
                </a:solidFill>
                <a:latin typeface="JetBrains Mono" pitchFamily="34" charset="0"/>
                <a:ea typeface="JetBrains Mono" pitchFamily="34" charset="-122"/>
                <a:cs typeface="JetBrains Mono" pitchFamily="34" charset="-120"/>
              </a:rPr>
              <a:t>#3</a:t>
            </a:r>
            <a:endParaRPr lang="en-US" sz="900" dirty="0"/>
          </a:p>
        </p:txBody>
      </p:sp>
      <p:sp>
        <p:nvSpPr>
          <p:cNvPr id="32" name="Shape 30"/>
          <p:cNvSpPr/>
          <p:nvPr/>
        </p:nvSpPr>
        <p:spPr>
          <a:xfrm>
            <a:off x="7589520" y="4828032"/>
            <a:ext cx="2523744" cy="0"/>
          </a:xfrm>
          <a:prstGeom prst="line">
            <a:avLst/>
          </a:prstGeom>
          <a:noFill/>
          <a:ln w="19050">
            <a:solidFill>
              <a:srgbClr val="AE99F0"/>
            </a:solidFill>
            <a:prstDash val="solid"/>
          </a:ln>
        </p:spPr>
      </p:sp>
      <p:sp>
        <p:nvSpPr>
          <p:cNvPr id="33" name="Shape 31"/>
          <p:cNvSpPr/>
          <p:nvPr/>
        </p:nvSpPr>
        <p:spPr>
          <a:xfrm>
            <a:off x="10113264" y="4828032"/>
            <a:ext cx="841248" cy="0"/>
          </a:xfrm>
          <a:prstGeom prst="line">
            <a:avLst/>
          </a:prstGeom>
          <a:noFill/>
          <a:ln w="12700">
            <a:solidFill>
              <a:srgbClr val="7A6CB4"/>
            </a:solidFill>
            <a:prstDash val="dash"/>
          </a:ln>
        </p:spPr>
      </p:sp>
      <p:sp>
        <p:nvSpPr>
          <p:cNvPr id="34" name="Shape 32"/>
          <p:cNvSpPr/>
          <p:nvPr/>
        </p:nvSpPr>
        <p:spPr>
          <a:xfrm>
            <a:off x="7511796" y="4750308"/>
            <a:ext cx="155448" cy="155448"/>
          </a:xfrm>
          <a:prstGeom prst="ellipse">
            <a:avLst/>
          </a:prstGeom>
          <a:solidFill>
            <a:srgbClr val="AE99F0"/>
          </a:solidFill>
          <a:ln/>
        </p:spPr>
      </p:sp>
      <p:sp>
        <p:nvSpPr>
          <p:cNvPr id="35" name="Text 33"/>
          <p:cNvSpPr txBox="1"/>
          <p:nvPr/>
        </p:nvSpPr>
        <p:spPr>
          <a:xfrm>
            <a:off x="7132320" y="5010912"/>
            <a:ext cx="914400" cy="182880"/>
          </a:xfrm>
          <a:prstGeom prst="rect">
            <a:avLst/>
          </a:prstGeom>
          <a:noFill/>
          <a:ln/>
        </p:spPr>
        <p:txBody>
          <a:bodyPr wrap="square" lIns="0" tIns="0" rIns="0" bIns="0" rtlCol="0" anchor="t"/>
          <a:lstStyle/>
          <a:p>
            <a:pPr algn="ctr" indent="0" marL="0">
              <a:buNone/>
            </a:pPr>
            <a:r>
              <a:rPr lang="en-US" sz="850" dirty="0">
                <a:solidFill>
                  <a:srgbClr val="B3A6DC"/>
                </a:solidFill>
                <a:latin typeface="JetBrains Mono" pitchFamily="34" charset="0"/>
                <a:ea typeface="JetBrains Mono" pitchFamily="34" charset="-122"/>
                <a:cs typeface="JetBrains Mono" pitchFamily="34" charset="-120"/>
              </a:rPr>
              <a:t>PLACED</a:t>
            </a:r>
            <a:endParaRPr lang="en-US" sz="850" dirty="0"/>
          </a:p>
        </p:txBody>
      </p:sp>
      <p:sp>
        <p:nvSpPr>
          <p:cNvPr id="36" name="Shape 34"/>
          <p:cNvSpPr/>
          <p:nvPr/>
        </p:nvSpPr>
        <p:spPr>
          <a:xfrm>
            <a:off x="8353044" y="4750308"/>
            <a:ext cx="155448" cy="155448"/>
          </a:xfrm>
          <a:prstGeom prst="ellipse">
            <a:avLst/>
          </a:prstGeom>
          <a:solidFill>
            <a:srgbClr val="AE99F0"/>
          </a:solidFill>
          <a:ln/>
        </p:spPr>
      </p:sp>
      <p:sp>
        <p:nvSpPr>
          <p:cNvPr id="37" name="Text 35"/>
          <p:cNvSpPr txBox="1"/>
          <p:nvPr/>
        </p:nvSpPr>
        <p:spPr>
          <a:xfrm>
            <a:off x="7973568" y="5010912"/>
            <a:ext cx="914400" cy="182880"/>
          </a:xfrm>
          <a:prstGeom prst="rect">
            <a:avLst/>
          </a:prstGeom>
          <a:noFill/>
          <a:ln/>
        </p:spPr>
        <p:txBody>
          <a:bodyPr wrap="square" lIns="0" tIns="0" rIns="0" bIns="0" rtlCol="0" anchor="t"/>
          <a:lstStyle/>
          <a:p>
            <a:pPr algn="ctr" indent="0" marL="0">
              <a:buNone/>
            </a:pPr>
            <a:r>
              <a:rPr lang="en-US" sz="850" dirty="0">
                <a:solidFill>
                  <a:srgbClr val="B3A6DC"/>
                </a:solidFill>
                <a:latin typeface="JetBrains Mono" pitchFamily="34" charset="0"/>
                <a:ea typeface="JetBrains Mono" pitchFamily="34" charset="-122"/>
                <a:cs typeface="JetBrains Mono" pitchFamily="34" charset="-120"/>
              </a:rPr>
              <a:t>CONFIRMED</a:t>
            </a:r>
            <a:endParaRPr lang="en-US" sz="850" dirty="0"/>
          </a:p>
        </p:txBody>
      </p:sp>
      <p:sp>
        <p:nvSpPr>
          <p:cNvPr id="38" name="Shape 36"/>
          <p:cNvSpPr/>
          <p:nvPr/>
        </p:nvSpPr>
        <p:spPr>
          <a:xfrm>
            <a:off x="9194292" y="4750308"/>
            <a:ext cx="155448" cy="155448"/>
          </a:xfrm>
          <a:prstGeom prst="ellipse">
            <a:avLst/>
          </a:prstGeom>
          <a:solidFill>
            <a:srgbClr val="AE99F0"/>
          </a:solidFill>
          <a:ln/>
        </p:spPr>
      </p:sp>
      <p:sp>
        <p:nvSpPr>
          <p:cNvPr id="39" name="Text 37"/>
          <p:cNvSpPr txBox="1"/>
          <p:nvPr/>
        </p:nvSpPr>
        <p:spPr>
          <a:xfrm>
            <a:off x="8814816" y="5010912"/>
            <a:ext cx="914400" cy="182880"/>
          </a:xfrm>
          <a:prstGeom prst="rect">
            <a:avLst/>
          </a:prstGeom>
          <a:noFill/>
          <a:ln/>
        </p:spPr>
        <p:txBody>
          <a:bodyPr wrap="square" lIns="0" tIns="0" rIns="0" bIns="0" rtlCol="0" anchor="t"/>
          <a:lstStyle/>
          <a:p>
            <a:pPr algn="ctr" indent="0" marL="0">
              <a:buNone/>
            </a:pPr>
            <a:r>
              <a:rPr lang="en-US" sz="850" dirty="0">
                <a:solidFill>
                  <a:srgbClr val="B3A6DC"/>
                </a:solidFill>
                <a:latin typeface="JetBrains Mono" pitchFamily="34" charset="0"/>
                <a:ea typeface="JetBrains Mono" pitchFamily="34" charset="-122"/>
                <a:cs typeface="JetBrains Mono" pitchFamily="34" charset="-120"/>
              </a:rPr>
              <a:t>PROCESSING</a:t>
            </a:r>
            <a:endParaRPr lang="en-US" sz="850" dirty="0"/>
          </a:p>
        </p:txBody>
      </p:sp>
      <p:sp>
        <p:nvSpPr>
          <p:cNvPr id="40" name="Shape 38"/>
          <p:cNvSpPr/>
          <p:nvPr/>
        </p:nvSpPr>
        <p:spPr>
          <a:xfrm>
            <a:off x="9994392" y="4709160"/>
            <a:ext cx="237744" cy="237744"/>
          </a:xfrm>
          <a:prstGeom prst="ellipse">
            <a:avLst/>
          </a:prstGeom>
          <a:solidFill>
            <a:srgbClr val="160B35"/>
          </a:solidFill>
          <a:ln w="12700">
            <a:solidFill>
              <a:srgbClr val="AE99F0"/>
            </a:solidFill>
            <a:prstDash val="solid"/>
          </a:ln>
        </p:spPr>
      </p:sp>
      <p:sp>
        <p:nvSpPr>
          <p:cNvPr id="41" name="Shape 39"/>
          <p:cNvSpPr/>
          <p:nvPr/>
        </p:nvSpPr>
        <p:spPr>
          <a:xfrm>
            <a:off x="10044684" y="4759452"/>
            <a:ext cx="137160" cy="137160"/>
          </a:xfrm>
          <a:prstGeom prst="ellipse">
            <a:avLst/>
          </a:prstGeom>
          <a:solidFill>
            <a:srgbClr val="AE99F0"/>
          </a:solidFill>
          <a:ln/>
        </p:spPr>
      </p:sp>
      <p:sp>
        <p:nvSpPr>
          <p:cNvPr id="42" name="Text 40"/>
          <p:cNvSpPr txBox="1"/>
          <p:nvPr/>
        </p:nvSpPr>
        <p:spPr>
          <a:xfrm>
            <a:off x="9656064" y="5010912"/>
            <a:ext cx="914400" cy="182880"/>
          </a:xfrm>
          <a:prstGeom prst="rect">
            <a:avLst/>
          </a:prstGeom>
          <a:noFill/>
          <a:ln/>
        </p:spPr>
        <p:txBody>
          <a:bodyPr wrap="square" lIns="0" tIns="0" rIns="0" bIns="0" rtlCol="0" anchor="t"/>
          <a:lstStyle/>
          <a:p>
            <a:pPr algn="ctr" indent="0" marL="0">
              <a:buNone/>
            </a:pPr>
            <a:r>
              <a:rPr lang="en-US" sz="850" dirty="0">
                <a:solidFill>
                  <a:srgbClr val="F3F2F8"/>
                </a:solidFill>
                <a:latin typeface="JetBrains Mono" pitchFamily="34" charset="0"/>
                <a:ea typeface="JetBrains Mono" pitchFamily="34" charset="-122"/>
                <a:cs typeface="JetBrains Mono" pitchFamily="34" charset="-120"/>
              </a:rPr>
              <a:t>SHIPPED</a:t>
            </a:r>
            <a:endParaRPr lang="en-US" sz="850" dirty="0"/>
          </a:p>
        </p:txBody>
      </p:sp>
      <p:sp>
        <p:nvSpPr>
          <p:cNvPr id="43" name="Shape 41"/>
          <p:cNvSpPr/>
          <p:nvPr/>
        </p:nvSpPr>
        <p:spPr>
          <a:xfrm>
            <a:off x="10876788" y="4750308"/>
            <a:ext cx="155448" cy="155448"/>
          </a:xfrm>
          <a:prstGeom prst="ellipse">
            <a:avLst/>
          </a:prstGeom>
          <a:solidFill>
            <a:srgbClr val="160B35"/>
          </a:solidFill>
          <a:ln w="12700">
            <a:solidFill>
              <a:srgbClr val="7A6CB4"/>
            </a:solidFill>
            <a:prstDash val="solid"/>
          </a:ln>
        </p:spPr>
      </p:sp>
      <p:sp>
        <p:nvSpPr>
          <p:cNvPr id="44" name="Text 42"/>
          <p:cNvSpPr txBox="1"/>
          <p:nvPr/>
        </p:nvSpPr>
        <p:spPr>
          <a:xfrm>
            <a:off x="10497312" y="5010912"/>
            <a:ext cx="914400" cy="182880"/>
          </a:xfrm>
          <a:prstGeom prst="rect">
            <a:avLst/>
          </a:prstGeom>
          <a:noFill/>
          <a:ln/>
        </p:spPr>
        <p:txBody>
          <a:bodyPr wrap="square" lIns="0" tIns="0" rIns="0" bIns="0" rtlCol="0" anchor="t"/>
          <a:lstStyle/>
          <a:p>
            <a:pPr algn="ctr" indent="0" marL="0">
              <a:buNone/>
            </a:pPr>
            <a:r>
              <a:rPr lang="en-US" sz="850" dirty="0">
                <a:solidFill>
                  <a:srgbClr val="B3A6DC"/>
                </a:solidFill>
                <a:latin typeface="JetBrains Mono" pitchFamily="34" charset="0"/>
                <a:ea typeface="JetBrains Mono" pitchFamily="34" charset="-122"/>
                <a:cs typeface="JetBrains Mono" pitchFamily="34" charset="-120"/>
              </a:rPr>
              <a:t>DELIVERED</a:t>
            </a:r>
            <a:endParaRPr lang="en-US" sz="850" dirty="0"/>
          </a:p>
        </p:txBody>
      </p:sp>
      <p:sp>
        <p:nvSpPr>
          <p:cNvPr id="45" name="Shape 43"/>
          <p:cNvSpPr/>
          <p:nvPr/>
        </p:nvSpPr>
        <p:spPr>
          <a:xfrm>
            <a:off x="9436608" y="5321808"/>
            <a:ext cx="1883664" cy="402336"/>
          </a:xfrm>
          <a:prstGeom prst="rect">
            <a:avLst/>
          </a:prstGeom>
          <a:ln w="9525">
            <a:solidFill>
              <a:srgbClr val="7A6CB4"/>
            </a:solidFill>
            <a:prstDash val="solid"/>
          </a:ln>
        </p:spPr>
      </p:sp>
      <p:sp>
        <p:nvSpPr>
          <p:cNvPr id="46" name="Shape 44"/>
          <p:cNvSpPr/>
          <p:nvPr/>
        </p:nvSpPr>
        <p:spPr>
          <a:xfrm>
            <a:off x="9436608" y="5522976"/>
            <a:ext cx="1883664" cy="0"/>
          </a:xfrm>
          <a:prstGeom prst="line">
            <a:avLst/>
          </a:prstGeom>
          <a:noFill/>
          <a:ln w="9525">
            <a:solidFill>
              <a:srgbClr val="7A6CB4"/>
            </a:solidFill>
            <a:prstDash val="solid"/>
          </a:ln>
        </p:spPr>
      </p:sp>
      <p:sp>
        <p:nvSpPr>
          <p:cNvPr id="47" name="Shape 45"/>
          <p:cNvSpPr/>
          <p:nvPr/>
        </p:nvSpPr>
        <p:spPr>
          <a:xfrm>
            <a:off x="10552176" y="5321808"/>
            <a:ext cx="0" cy="201168"/>
          </a:xfrm>
          <a:prstGeom prst="line">
            <a:avLst/>
          </a:prstGeom>
          <a:noFill/>
          <a:ln w="9525">
            <a:solidFill>
              <a:srgbClr val="7A6CB4"/>
            </a:solidFill>
            <a:prstDash val="solid"/>
          </a:ln>
        </p:spPr>
      </p:sp>
      <p:sp>
        <p:nvSpPr>
          <p:cNvPr id="48" name="Text 46"/>
          <p:cNvSpPr txBox="1"/>
          <p:nvPr/>
        </p:nvSpPr>
        <p:spPr>
          <a:xfrm>
            <a:off x="9509760" y="5321808"/>
            <a:ext cx="1005840" cy="201168"/>
          </a:xfrm>
          <a:prstGeom prst="rect">
            <a:avLst/>
          </a:prstGeom>
          <a:noFill/>
          <a:ln/>
        </p:spPr>
        <p:txBody>
          <a:bodyPr wrap="square" lIns="0" tIns="0" rIns="0" bIns="0" rtlCol="0" anchor="ctr"/>
          <a:lstStyle/>
          <a:p>
            <a:pPr indent="0" marL="0">
              <a:buNone/>
            </a:pPr>
            <a:r>
              <a:rPr lang="en-US" sz="850" b="1" dirty="0">
                <a:solidFill>
                  <a:srgbClr val="F3F2F8"/>
                </a:solidFill>
                <a:latin typeface="JetBrains Mono" pitchFamily="34" charset="0"/>
                <a:ea typeface="JetBrains Mono" pitchFamily="34" charset="-122"/>
                <a:cs typeface="JetBrains Mono" pitchFamily="34" charset="-120"/>
              </a:rPr>
              <a:t>TEAM ALPHA</a:t>
            </a:r>
            <a:endParaRPr lang="en-US" sz="850" dirty="0"/>
          </a:p>
        </p:txBody>
      </p:sp>
      <p:sp>
        <p:nvSpPr>
          <p:cNvPr id="49" name="Text 47"/>
          <p:cNvSpPr txBox="1"/>
          <p:nvPr/>
        </p:nvSpPr>
        <p:spPr>
          <a:xfrm>
            <a:off x="10607040" y="5321808"/>
            <a:ext cx="676656" cy="201168"/>
          </a:xfrm>
          <a:prstGeom prst="rect">
            <a:avLst/>
          </a:prstGeom>
          <a:noFill/>
          <a:ln/>
        </p:spPr>
        <p:txBody>
          <a:bodyPr wrap="square" lIns="0" tIns="0" rIns="0" bIns="0" rtlCol="0" anchor="ctr"/>
          <a:lstStyle/>
          <a:p>
            <a:pPr indent="0" marL="0">
              <a:buNone/>
            </a:pPr>
            <a:r>
              <a:rPr lang="en-US" sz="850" dirty="0">
                <a:solidFill>
                  <a:srgbClr val="B3A6DC"/>
                </a:solidFill>
                <a:latin typeface="JetBrains Mono" pitchFamily="34" charset="0"/>
                <a:ea typeface="JetBrains Mono" pitchFamily="34" charset="-122"/>
                <a:cs typeface="JetBrains Mono" pitchFamily="34" charset="-120"/>
              </a:rPr>
              <a:t>SHEET 01</a:t>
            </a:r>
            <a:endParaRPr lang="en-US" sz="850" dirty="0"/>
          </a:p>
        </p:txBody>
      </p:sp>
      <p:sp>
        <p:nvSpPr>
          <p:cNvPr id="50" name="Text 48"/>
          <p:cNvSpPr txBox="1"/>
          <p:nvPr/>
        </p:nvSpPr>
        <p:spPr>
          <a:xfrm>
            <a:off x="9509760" y="5522976"/>
            <a:ext cx="1783080" cy="201168"/>
          </a:xfrm>
          <a:prstGeom prst="rect">
            <a:avLst/>
          </a:prstGeom>
          <a:noFill/>
          <a:ln/>
        </p:spPr>
        <p:txBody>
          <a:bodyPr wrap="square" lIns="0" tIns="0" rIns="0" bIns="0" rtlCol="0" anchor="ctr"/>
          <a:lstStyle/>
          <a:p>
            <a:pPr indent="0" marL="0">
              <a:buNone/>
            </a:pPr>
            <a:r>
              <a:rPr lang="en-US" sz="850" dirty="0">
                <a:solidFill>
                  <a:srgbClr val="AE99F0"/>
                </a:solidFill>
                <a:latin typeface="JetBrains Mono" pitchFamily="34" charset="0"/>
                <a:ea typeface="JetBrains Mono" pitchFamily="34" charset="-122"/>
                <a:cs typeface="JetBrains Mono" pitchFamily="34" charset="-120"/>
              </a:rPr>
              <a:t>ORDER #3  ·  SHIPPED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  ·  CONTEXT</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Kit Room equips new starters from one page</a:t>
            </a:r>
            <a:endParaRPr lang="en-US" sz="3000" dirty="0"/>
          </a:p>
        </p:txBody>
      </p:sp>
      <p:sp>
        <p:nvSpPr>
          <p:cNvPr id="4" name="Text 2"/>
          <p:cNvSpPr txBox="1"/>
          <p:nvPr/>
        </p:nvSpPr>
        <p:spPr>
          <a:xfrm>
            <a:off x="685800" y="1783080"/>
            <a:ext cx="3840480" cy="1234440"/>
          </a:xfrm>
          <a:prstGeom prst="rect">
            <a:avLst/>
          </a:prstGeom>
          <a:noFill/>
          <a:ln/>
        </p:spPr>
        <p:txBody>
          <a:bodyPr wrap="square" lIns="0" tIns="0" rIns="0" bIns="0" rtlCol="0" anchor="t"/>
          <a:lstStyle/>
          <a:p>
            <a:pPr indent="0" marL="0">
              <a:lnSpc>
                <a:spcPct val="120000"/>
              </a:lnSpc>
              <a:buNone/>
            </a:pPr>
            <a:r>
              <a:rPr lang="en-US" sz="1450" dirty="0">
                <a:solidFill>
                  <a:srgbClr val="4A5470"/>
                </a:solidFill>
                <a:latin typeface="Inter" pitchFamily="34" charset="0"/>
                <a:ea typeface="Inter" pitchFamily="34" charset="-122"/>
                <a:cs typeface="Inter" pitchFamily="34" charset="-120"/>
              </a:rPr>
              <a:t>An operations team picks the parts a new starter needs. Kit Room prices them from live stock, takes payment, ships them and keeps everyone told.</a:t>
            </a:r>
            <a:endParaRPr lang="en-US" sz="1450" dirty="0"/>
          </a:p>
        </p:txBody>
      </p:sp>
      <p:sp>
        <p:nvSpPr>
          <p:cNvPr id="5" name="Text 3"/>
          <p:cNvSpPr txBox="1"/>
          <p:nvPr/>
        </p:nvSpPr>
        <p:spPr>
          <a:xfrm>
            <a:off x="685800" y="3154680"/>
            <a:ext cx="384048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WHO IT SERVES</a:t>
            </a:r>
            <a:endParaRPr lang="en-US" sz="1000" dirty="0"/>
          </a:p>
        </p:txBody>
      </p:sp>
      <p:sp>
        <p:nvSpPr>
          <p:cNvPr id="6" name="Text 4"/>
          <p:cNvSpPr txBox="1"/>
          <p:nvPr/>
        </p:nvSpPr>
        <p:spPr>
          <a:xfrm>
            <a:off x="685800" y="3429000"/>
            <a:ext cx="3840480" cy="548640"/>
          </a:xfrm>
          <a:prstGeom prst="rect">
            <a:avLst/>
          </a:prstGeom>
          <a:noFill/>
          <a:ln/>
        </p:spPr>
        <p:txBody>
          <a:bodyPr wrap="square" lIns="0" tIns="0" rIns="0" bIns="0" rtlCol="0" anchor="t"/>
          <a:lstStyle/>
          <a:p>
            <a:pPr indent="0" marL="0">
              <a:lnSpc>
                <a:spcPct val="110000"/>
              </a:lnSpc>
              <a:buNone/>
            </a:pPr>
            <a:r>
              <a:rPr lang="en-US" sz="1300" b="1" dirty="0">
                <a:solidFill>
                  <a:srgbClr val="242E46"/>
                </a:solidFill>
                <a:latin typeface="Inter" pitchFamily="34" charset="0"/>
                <a:ea typeface="Inter" pitchFamily="34" charset="-122"/>
                <a:cs typeface="Inter" pitchFamily="34" charset="-120"/>
              </a:rPr>
              <a:t>The person ordering</a:t>
            </a:r>
            <a:endParaRPr lang="en-US" sz="1300" dirty="0"/>
          </a:p>
          <a:p>
            <a:pPr indent="0" marL="0">
              <a:lnSpc>
                <a:spcPct val="110000"/>
              </a:lnSpc>
              <a:buNone/>
            </a:pPr>
            <a:r>
              <a:rPr lang="en-US" sz="1300" dirty="0">
                <a:solidFill>
                  <a:srgbClr val="4A5470"/>
                </a:solidFill>
                <a:latin typeface="Inter" pitchFamily="34" charset="0"/>
                <a:ea typeface="Inter" pitchFamily="34" charset="-122"/>
                <a:cs typeface="Inter" pitchFamily="34" charset="-120"/>
              </a:rPr>
              <a:t>builds a kit, places the order, tracks it.</a:t>
            </a:r>
            <a:endParaRPr lang="en-US" sz="1300" dirty="0"/>
          </a:p>
        </p:txBody>
      </p:sp>
      <p:sp>
        <p:nvSpPr>
          <p:cNvPr id="7" name="Text 5"/>
          <p:cNvSpPr txBox="1"/>
          <p:nvPr/>
        </p:nvSpPr>
        <p:spPr>
          <a:xfrm>
            <a:off x="685800" y="4032504"/>
            <a:ext cx="3840480" cy="548640"/>
          </a:xfrm>
          <a:prstGeom prst="rect">
            <a:avLst/>
          </a:prstGeom>
          <a:noFill/>
          <a:ln/>
        </p:spPr>
        <p:txBody>
          <a:bodyPr wrap="square" lIns="0" tIns="0" rIns="0" bIns="0" rtlCol="0" anchor="t"/>
          <a:lstStyle/>
          <a:p>
            <a:pPr indent="0" marL="0">
              <a:lnSpc>
                <a:spcPct val="110000"/>
              </a:lnSpc>
              <a:buNone/>
            </a:pPr>
            <a:r>
              <a:rPr lang="en-US" sz="1300" b="1" dirty="0">
                <a:solidFill>
                  <a:srgbClr val="242E46"/>
                </a:solidFill>
                <a:latin typeface="Inter" pitchFamily="34" charset="0"/>
                <a:ea typeface="Inter" pitchFamily="34" charset="-122"/>
                <a:cs typeface="Inter" pitchFamily="34" charset="-120"/>
              </a:rPr>
              <a:t>Operators</a:t>
            </a:r>
            <a:endParaRPr lang="en-US" sz="1300" dirty="0"/>
          </a:p>
          <a:p>
            <a:pPr indent="0" marL="0">
              <a:lnSpc>
                <a:spcPct val="110000"/>
              </a:lnSpc>
              <a:buNone/>
            </a:pPr>
            <a:r>
              <a:rPr lang="en-US" sz="1300" dirty="0">
                <a:solidFill>
                  <a:srgbClr val="4A5470"/>
                </a:solidFill>
                <a:latin typeface="Inter" pitchFamily="34" charset="0"/>
                <a:ea typeface="Inter" pitchFamily="34" charset="-122"/>
                <a:cs typeface="Inter" pitchFamily="34" charset="-120"/>
              </a:rPr>
              <a:t>manage stock, payments and shipping.</a:t>
            </a:r>
            <a:endParaRPr lang="en-US" sz="1300" dirty="0"/>
          </a:p>
        </p:txBody>
      </p:sp>
      <p:sp>
        <p:nvSpPr>
          <p:cNvPr id="8" name="Text 6"/>
          <p:cNvSpPr txBox="1"/>
          <p:nvPr/>
        </p:nvSpPr>
        <p:spPr>
          <a:xfrm>
            <a:off x="685800" y="4846320"/>
            <a:ext cx="384048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ONE JOURNEY</a:t>
            </a:r>
            <a:endParaRPr lang="en-US" sz="1000" dirty="0"/>
          </a:p>
        </p:txBody>
      </p:sp>
      <p:sp>
        <p:nvSpPr>
          <p:cNvPr id="9" name="Text 7"/>
          <p:cNvSpPr txBox="1"/>
          <p:nvPr/>
        </p:nvSpPr>
        <p:spPr>
          <a:xfrm>
            <a:off x="685800" y="5102352"/>
            <a:ext cx="411480" cy="256032"/>
          </a:xfrm>
          <a:prstGeom prst="rect">
            <a:avLst/>
          </a:prstGeom>
          <a:noFill/>
          <a:ln/>
        </p:spPr>
        <p:txBody>
          <a:bodyPr wrap="square" lIns="0" tIns="0" rIns="0" bIns="0" rtlCol="0" anchor="t"/>
          <a:lstStyle/>
          <a:p>
            <a:pPr indent="0" marL="0">
              <a:buNone/>
            </a:pPr>
            <a:r>
              <a:rPr lang="en-US" sz="1200" b="1" dirty="0">
                <a:solidFill>
                  <a:srgbClr val="5700D6"/>
                </a:solidFill>
                <a:latin typeface="JetBrains Mono" pitchFamily="34" charset="0"/>
                <a:ea typeface="JetBrains Mono" pitchFamily="34" charset="-122"/>
                <a:cs typeface="JetBrains Mono" pitchFamily="34" charset="-120"/>
              </a:rPr>
              <a:t>01</a:t>
            </a:r>
            <a:endParaRPr lang="en-US" sz="1200" dirty="0"/>
          </a:p>
        </p:txBody>
      </p:sp>
      <p:sp>
        <p:nvSpPr>
          <p:cNvPr id="10" name="Text 8"/>
          <p:cNvSpPr txBox="1"/>
          <p:nvPr/>
        </p:nvSpPr>
        <p:spPr>
          <a:xfrm>
            <a:off x="1143000" y="5102352"/>
            <a:ext cx="3383280" cy="256032"/>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Build a kit</a:t>
            </a:r>
            <a:endParaRPr lang="en-US" sz="1300" dirty="0"/>
          </a:p>
        </p:txBody>
      </p:sp>
      <p:sp>
        <p:nvSpPr>
          <p:cNvPr id="11" name="Text 9"/>
          <p:cNvSpPr txBox="1"/>
          <p:nvPr/>
        </p:nvSpPr>
        <p:spPr>
          <a:xfrm>
            <a:off x="685800" y="5376672"/>
            <a:ext cx="411480" cy="256032"/>
          </a:xfrm>
          <a:prstGeom prst="rect">
            <a:avLst/>
          </a:prstGeom>
          <a:noFill/>
          <a:ln/>
        </p:spPr>
        <p:txBody>
          <a:bodyPr wrap="square" lIns="0" tIns="0" rIns="0" bIns="0" rtlCol="0" anchor="t"/>
          <a:lstStyle/>
          <a:p>
            <a:pPr indent="0" marL="0">
              <a:buNone/>
            </a:pPr>
            <a:r>
              <a:rPr lang="en-US" sz="1200" b="1" dirty="0">
                <a:solidFill>
                  <a:srgbClr val="5700D6"/>
                </a:solidFill>
                <a:latin typeface="JetBrains Mono" pitchFamily="34" charset="0"/>
                <a:ea typeface="JetBrains Mono" pitchFamily="34" charset="-122"/>
                <a:cs typeface="JetBrains Mono" pitchFamily="34" charset="-120"/>
              </a:rPr>
              <a:t>02</a:t>
            </a:r>
            <a:endParaRPr lang="en-US" sz="1200" dirty="0"/>
          </a:p>
        </p:txBody>
      </p:sp>
      <p:sp>
        <p:nvSpPr>
          <p:cNvPr id="12" name="Text 10"/>
          <p:cNvSpPr txBox="1"/>
          <p:nvPr/>
        </p:nvSpPr>
        <p:spPr>
          <a:xfrm>
            <a:off x="1143000" y="5376672"/>
            <a:ext cx="3383280" cy="256032"/>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Place the order</a:t>
            </a:r>
            <a:endParaRPr lang="en-US" sz="1300" dirty="0"/>
          </a:p>
        </p:txBody>
      </p:sp>
      <p:sp>
        <p:nvSpPr>
          <p:cNvPr id="13" name="Text 11"/>
          <p:cNvSpPr txBox="1"/>
          <p:nvPr/>
        </p:nvSpPr>
        <p:spPr>
          <a:xfrm>
            <a:off x="685800" y="5650992"/>
            <a:ext cx="411480" cy="256032"/>
          </a:xfrm>
          <a:prstGeom prst="rect">
            <a:avLst/>
          </a:prstGeom>
          <a:noFill/>
          <a:ln/>
        </p:spPr>
        <p:txBody>
          <a:bodyPr wrap="square" lIns="0" tIns="0" rIns="0" bIns="0" rtlCol="0" anchor="t"/>
          <a:lstStyle/>
          <a:p>
            <a:pPr indent="0" marL="0">
              <a:buNone/>
            </a:pPr>
            <a:r>
              <a:rPr lang="en-US" sz="1200" b="1" dirty="0">
                <a:solidFill>
                  <a:srgbClr val="5700D6"/>
                </a:solidFill>
                <a:latin typeface="JetBrains Mono" pitchFamily="34" charset="0"/>
                <a:ea typeface="JetBrains Mono" pitchFamily="34" charset="-122"/>
                <a:cs typeface="JetBrains Mono" pitchFamily="34" charset="-120"/>
              </a:rPr>
              <a:t>03</a:t>
            </a:r>
            <a:endParaRPr lang="en-US" sz="1200" dirty="0"/>
          </a:p>
        </p:txBody>
      </p:sp>
      <p:sp>
        <p:nvSpPr>
          <p:cNvPr id="14" name="Text 12"/>
          <p:cNvSpPr txBox="1"/>
          <p:nvPr/>
        </p:nvSpPr>
        <p:spPr>
          <a:xfrm>
            <a:off x="1143000" y="5650992"/>
            <a:ext cx="3383280" cy="256032"/>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Fulfilment runs by itself</a:t>
            </a:r>
            <a:endParaRPr lang="en-US" sz="1300" dirty="0"/>
          </a:p>
        </p:txBody>
      </p:sp>
      <p:sp>
        <p:nvSpPr>
          <p:cNvPr id="15" name="Text 13"/>
          <p:cNvSpPr txBox="1"/>
          <p:nvPr/>
        </p:nvSpPr>
        <p:spPr>
          <a:xfrm>
            <a:off x="685800" y="5925312"/>
            <a:ext cx="411480" cy="256032"/>
          </a:xfrm>
          <a:prstGeom prst="rect">
            <a:avLst/>
          </a:prstGeom>
          <a:noFill/>
          <a:ln/>
        </p:spPr>
        <p:txBody>
          <a:bodyPr wrap="square" lIns="0" tIns="0" rIns="0" bIns="0" rtlCol="0" anchor="t"/>
          <a:lstStyle/>
          <a:p>
            <a:pPr indent="0" marL="0">
              <a:buNone/>
            </a:pPr>
            <a:r>
              <a:rPr lang="en-US" sz="1200" b="1" dirty="0">
                <a:solidFill>
                  <a:srgbClr val="5700D6"/>
                </a:solidFill>
                <a:latin typeface="JetBrains Mono" pitchFamily="34" charset="0"/>
                <a:ea typeface="JetBrains Mono" pitchFamily="34" charset="-122"/>
                <a:cs typeface="JetBrains Mono" pitchFamily="34" charset="-120"/>
              </a:rPr>
              <a:t>04</a:t>
            </a:r>
            <a:endParaRPr lang="en-US" sz="1200" dirty="0"/>
          </a:p>
        </p:txBody>
      </p:sp>
      <p:sp>
        <p:nvSpPr>
          <p:cNvPr id="16" name="Text 14"/>
          <p:cNvSpPr txBox="1"/>
          <p:nvPr/>
        </p:nvSpPr>
        <p:spPr>
          <a:xfrm>
            <a:off x="1143000" y="5925312"/>
            <a:ext cx="3383280" cy="256032"/>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Track it to delivery</a:t>
            </a:r>
            <a:endParaRPr lang="en-US" sz="1300" dirty="0"/>
          </a:p>
        </p:txBody>
      </p:sp>
      <p:pic>
        <p:nvPicPr>
          <p:cNvPr id="17" name="Image 0" descr="Kit page with a monitor, keyboard and hub in the bill of materials">    </p:cNvPr>
          <p:cNvPicPr>
            <a:picLocks noChangeAspect="1"/>
          </p:cNvPicPr>
          <p:nvPr/>
        </p:nvPicPr>
        <p:blipFill>
          <a:blip r:embed="rId1"/>
          <a:stretch>
            <a:fillRect/>
          </a:stretch>
        </p:blipFill>
        <p:spPr>
          <a:xfrm>
            <a:off x="4830775" y="1783080"/>
            <a:ext cx="6675120" cy="3754286"/>
          </a:xfrm>
          <a:prstGeom prst="rect">
            <a:avLst/>
          </a:prstGeom>
        </p:spPr>
      </p:pic>
      <p:sp>
        <p:nvSpPr>
          <p:cNvPr id="18" name="Shape 15"/>
          <p:cNvSpPr/>
          <p:nvPr/>
        </p:nvSpPr>
        <p:spPr>
          <a:xfrm>
            <a:off x="4830775" y="1783080"/>
            <a:ext cx="6675120" cy="3754286"/>
          </a:xfrm>
          <a:prstGeom prst="rect">
            <a:avLst/>
          </a:prstGeom>
          <a:ln w="9525">
            <a:solidFill>
              <a:srgbClr val="C2C3C5"/>
            </a:solidFill>
            <a:prstDash val="solid"/>
          </a:ln>
        </p:spPr>
      </p:sp>
      <p:sp>
        <p:nvSpPr>
          <p:cNvPr id="19" name="Text 16"/>
          <p:cNvSpPr txBox="1"/>
          <p:nvPr/>
        </p:nvSpPr>
        <p:spPr>
          <a:xfrm>
            <a:off x="4830775" y="5665382"/>
            <a:ext cx="6675120" cy="228600"/>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THE KIT PAGE  ·  CURRENT BUILD, RUN LOCALLY, 13 OCT</a:t>
            </a:r>
            <a:endParaRPr lang="en-US" sz="10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  ·  THE STARTING LINE</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Out of the box, no order got past pending</a:t>
            </a:r>
            <a:endParaRPr lang="en-US" sz="3000" dirty="0"/>
          </a:p>
        </p:txBody>
      </p:sp>
      <p:sp>
        <p:nvSpPr>
          <p:cNvPr id="4" name="Shape 2"/>
          <p:cNvSpPr/>
          <p:nvPr/>
        </p:nvSpPr>
        <p:spPr>
          <a:xfrm>
            <a:off x="685800" y="1783080"/>
            <a:ext cx="5669280" cy="4069080"/>
          </a:xfrm>
          <a:prstGeom prst="rect">
            <a:avLst/>
          </a:prstGeom>
          <a:solidFill>
            <a:srgbClr val="160B35"/>
          </a:solidFill>
          <a:ln/>
        </p:spPr>
      </p:sp>
      <p:sp>
        <p:nvSpPr>
          <p:cNvPr id="5" name="Text 3"/>
          <p:cNvSpPr txBox="1"/>
          <p:nvPr/>
        </p:nvSpPr>
        <p:spPr>
          <a:xfrm>
            <a:off x="960120" y="2011680"/>
            <a:ext cx="5120640" cy="219456"/>
          </a:xfrm>
          <a:prstGeom prst="rect">
            <a:avLst/>
          </a:prstGeom>
          <a:noFill/>
          <a:ln/>
        </p:spPr>
        <p:txBody>
          <a:bodyPr wrap="square" lIns="0" tIns="0" rIns="0" bIns="0" rtlCol="0" anchor="t"/>
          <a:lstStyle/>
          <a:p>
            <a:pPr indent="0" marL="0">
              <a:buNone/>
            </a:pPr>
            <a:r>
              <a:rPr lang="en-US" sz="1000" spc="120" kern="0" dirty="0">
                <a:solidFill>
                  <a:srgbClr val="B3A6DC"/>
                </a:solidFill>
                <a:latin typeface="JetBrains Mono" pitchFamily="34" charset="0"/>
                <a:ea typeface="JetBrains Mono" pitchFamily="34" charset="-122"/>
                <a:cs typeface="JetBrains Mono" pitchFamily="34" charset="-120"/>
              </a:rPr>
              <a:t>AS PROVIDED  ·  ORDER-SERVICE/MAIN.GO</a:t>
            </a:r>
            <a:endParaRPr lang="en-US" sz="1000" dirty="0"/>
          </a:p>
        </p:txBody>
      </p:sp>
      <p:sp>
        <p:nvSpPr>
          <p:cNvPr id="6" name="Text 4"/>
          <p:cNvSpPr txBox="1"/>
          <p:nvPr/>
        </p:nvSpPr>
        <p:spPr>
          <a:xfrm>
            <a:off x="960120" y="2331720"/>
            <a:ext cx="5212080" cy="868680"/>
          </a:xfrm>
          <a:prstGeom prst="rect">
            <a:avLst/>
          </a:prstGeom>
          <a:noFill/>
          <a:ln/>
        </p:spPr>
        <p:txBody>
          <a:bodyPr wrap="square" lIns="0" tIns="0" rIns="0" bIns="0" rtlCol="0" anchor="t"/>
          <a:lstStyle/>
          <a:p>
            <a:pPr indent="0" marL="0">
              <a:lnSpc>
                <a:spcPct val="130000"/>
              </a:lnSpc>
              <a:buNone/>
            </a:pPr>
            <a:r>
              <a:rPr lang="en-US" sz="1150" dirty="0">
                <a:solidFill>
                  <a:srgbClr val="F3F2F8"/>
                </a:solidFill>
                <a:latin typeface="JetBrains Mono" pitchFamily="34" charset="0"/>
                <a:ea typeface="JetBrains Mono" pitchFamily="34" charset="-122"/>
                <a:cs typeface="JetBrains Mono" pitchFamily="34" charset="-120"/>
              </a:rPr>
              <a:t>data, _ := json.Marshal(event)</a:t>
            </a:r>
            <a:endParaRPr lang="en-US" sz="1150" dirty="0"/>
          </a:p>
          <a:p>
            <a:pPr indent="0" marL="0">
              <a:lnSpc>
                <a:spcPct val="130000"/>
              </a:lnSpc>
              <a:buNone/>
            </a:pPr>
            <a:r>
              <a:rPr lang="en-US" sz="1150" dirty="0">
                <a:solidFill>
                  <a:srgbClr val="F3F2F8"/>
                </a:solidFill>
                <a:latin typeface="JetBrains Mono" pitchFamily="34" charset="0"/>
                <a:ea typeface="JetBrains Mono" pitchFamily="34" charset="-122"/>
                <a:cs typeface="JetBrains Mono" pitchFamily="34" charset="-120"/>
              </a:rPr>
              <a:t>log.Printf("Event -&gt; SQS: %s", string(data))</a:t>
            </a:r>
            <a:endParaRPr lang="en-US" sz="1150" dirty="0"/>
          </a:p>
          <a:p>
            <a:pPr indent="0" marL="0">
              <a:lnSpc>
                <a:spcPct val="130000"/>
              </a:lnSpc>
              <a:buNone/>
            </a:pPr>
            <a:r>
              <a:rPr lang="en-US" sz="1150" dirty="0">
                <a:solidFill>
                  <a:srgbClr val="AE99F0"/>
                </a:solidFill>
                <a:latin typeface="JetBrains Mono" pitchFamily="34" charset="0"/>
                <a:ea typeface="JetBrains Mono" pitchFamily="34" charset="-122"/>
                <a:cs typeface="JetBrains Mono" pitchFamily="34" charset="-120"/>
              </a:rPr>
              <a:t>// Students implement actual SQS SendMessage here</a:t>
            </a:r>
            <a:endParaRPr lang="en-US" sz="1150" dirty="0"/>
          </a:p>
        </p:txBody>
      </p:sp>
      <p:sp>
        <p:nvSpPr>
          <p:cNvPr id="7" name="Shape 5"/>
          <p:cNvSpPr/>
          <p:nvPr/>
        </p:nvSpPr>
        <p:spPr>
          <a:xfrm>
            <a:off x="960120" y="3383280"/>
            <a:ext cx="5120640" cy="0"/>
          </a:xfrm>
          <a:prstGeom prst="line">
            <a:avLst/>
          </a:prstGeom>
          <a:noFill/>
          <a:ln w="9525">
            <a:solidFill>
              <a:srgbClr val="4E4180"/>
            </a:solidFill>
            <a:prstDash val="solid"/>
          </a:ln>
        </p:spPr>
      </p:sp>
      <p:sp>
        <p:nvSpPr>
          <p:cNvPr id="8" name="Text 6"/>
          <p:cNvSpPr txBox="1"/>
          <p:nvPr/>
        </p:nvSpPr>
        <p:spPr>
          <a:xfrm>
            <a:off x="960120" y="3566160"/>
            <a:ext cx="5120640" cy="219456"/>
          </a:xfrm>
          <a:prstGeom prst="rect">
            <a:avLst/>
          </a:prstGeom>
          <a:noFill/>
          <a:ln/>
        </p:spPr>
        <p:txBody>
          <a:bodyPr wrap="square" lIns="0" tIns="0" rIns="0" bIns="0" rtlCol="0" anchor="t"/>
          <a:lstStyle/>
          <a:p>
            <a:pPr indent="0" marL="0">
              <a:buNone/>
            </a:pPr>
            <a:r>
              <a:rPr lang="en-US" sz="1000" spc="120" kern="0" dirty="0">
                <a:solidFill>
                  <a:srgbClr val="B3A6DC"/>
                </a:solidFill>
                <a:latin typeface="JetBrains Mono" pitchFamily="34" charset="0"/>
                <a:ea typeface="JetBrains Mono" pitchFamily="34" charset="-122"/>
                <a:cs typeface="JetBrains Mono" pitchFamily="34" charset="-120"/>
              </a:rPr>
              <a:t>AS PROVIDED  ·  WORKER/MAIN.GO</a:t>
            </a:r>
            <a:endParaRPr lang="en-US" sz="1000" dirty="0"/>
          </a:p>
        </p:txBody>
      </p:sp>
      <p:sp>
        <p:nvSpPr>
          <p:cNvPr id="9" name="Text 7"/>
          <p:cNvSpPr txBox="1"/>
          <p:nvPr/>
        </p:nvSpPr>
        <p:spPr>
          <a:xfrm>
            <a:off x="960120" y="3886200"/>
            <a:ext cx="5212080" cy="1371600"/>
          </a:xfrm>
          <a:prstGeom prst="rect">
            <a:avLst/>
          </a:prstGeom>
          <a:noFill/>
          <a:ln/>
        </p:spPr>
        <p:txBody>
          <a:bodyPr wrap="square" lIns="0" tIns="0" rIns="0" bIns="0" rtlCol="0" anchor="t"/>
          <a:lstStyle/>
          <a:p>
            <a:pPr indent="0" marL="0">
              <a:lnSpc>
                <a:spcPct val="130000"/>
              </a:lnSpc>
              <a:buNone/>
            </a:pPr>
            <a:r>
              <a:rPr lang="en-US" sz="1150" dirty="0">
                <a:solidFill>
                  <a:srgbClr val="F3F2F8"/>
                </a:solidFill>
                <a:latin typeface="JetBrains Mono" pitchFamily="34" charset="0"/>
                <a:ea typeface="JetBrains Mono" pitchFamily="34" charset="-122"/>
                <a:cs typeface="JetBrains Mono" pitchFamily="34" charset="-120"/>
              </a:rPr>
              <a:t>func receiveSQSMessages(ctx context.Context,</a:t>
            </a:r>
            <a:endParaRPr lang="en-US" sz="1150" dirty="0"/>
          </a:p>
          <a:p>
            <a:pPr indent="0" marL="0">
              <a:lnSpc>
                <a:spcPct val="130000"/>
              </a:lnSpc>
              <a:buNone/>
            </a:pPr>
            <a:r>
              <a:rPr lang="en-US" sz="1150" dirty="0">
                <a:solidFill>
                  <a:srgbClr val="F3F2F8"/>
                </a:solidFill>
                <a:latin typeface="JetBrains Mono" pitchFamily="34" charset="0"/>
                <a:ea typeface="JetBrains Mono" pitchFamily="34" charset="-122"/>
                <a:cs typeface="JetBrains Mono" pitchFamily="34" charset="-120"/>
              </a:rPr>
              <a:t>        queueURL string) []string {</a:t>
            </a:r>
            <a:endParaRPr lang="en-US" sz="1150" dirty="0"/>
          </a:p>
          <a:p>
            <a:pPr indent="0" marL="0">
              <a:lnSpc>
                <a:spcPct val="130000"/>
              </a:lnSpc>
              <a:buNone/>
            </a:pPr>
            <a:r>
              <a:rPr lang="en-US" sz="1150" dirty="0">
                <a:solidFill>
                  <a:srgbClr val="AE99F0"/>
                </a:solidFill>
                <a:latin typeface="JetBrains Mono" pitchFamily="34" charset="0"/>
                <a:ea typeface="JetBrains Mono" pitchFamily="34" charset="-122"/>
                <a:cs typeface="JetBrains Mono" pitchFamily="34" charset="-120"/>
              </a:rPr>
              <a:t>    // Students implement with AWS SDK SQS ReceiveMessage</a:t>
            </a:r>
            <a:endParaRPr lang="en-US" sz="1150" dirty="0"/>
          </a:p>
          <a:p>
            <a:pPr indent="0" marL="0">
              <a:lnSpc>
                <a:spcPct val="130000"/>
              </a:lnSpc>
              <a:buNone/>
            </a:pPr>
            <a:r>
              <a:rPr lang="en-US" sz="1150" dirty="0">
                <a:solidFill>
                  <a:srgbClr val="F3F2F8"/>
                </a:solidFill>
                <a:latin typeface="JetBrains Mono" pitchFamily="34" charset="0"/>
                <a:ea typeface="JetBrains Mono" pitchFamily="34" charset="-122"/>
                <a:cs typeface="JetBrains Mono" pitchFamily="34" charset="-120"/>
              </a:rPr>
              <a:t>    return nil</a:t>
            </a:r>
            <a:endParaRPr lang="en-US" sz="1150" dirty="0"/>
          </a:p>
          <a:p>
            <a:pPr indent="0" marL="0">
              <a:lnSpc>
                <a:spcPct val="130000"/>
              </a:lnSpc>
              <a:buNone/>
            </a:pPr>
            <a:r>
              <a:rPr lang="en-US" sz="1150" dirty="0">
                <a:solidFill>
                  <a:srgbClr val="F3F2F8"/>
                </a:solidFill>
                <a:latin typeface="JetBrains Mono" pitchFamily="34" charset="0"/>
                <a:ea typeface="JetBrains Mono" pitchFamily="34" charset="-122"/>
                <a:cs typeface="JetBrains Mono" pitchFamily="34" charset="-120"/>
              </a:rPr>
              <a:t>}</a:t>
            </a:r>
            <a:endParaRPr lang="en-US" sz="1150" dirty="0"/>
          </a:p>
        </p:txBody>
      </p:sp>
      <p:sp>
        <p:nvSpPr>
          <p:cNvPr id="10" name="Text 8"/>
          <p:cNvSpPr txBox="1"/>
          <p:nvPr/>
        </p:nvSpPr>
        <p:spPr>
          <a:xfrm>
            <a:off x="960120" y="5349240"/>
            <a:ext cx="5212080" cy="320040"/>
          </a:xfrm>
          <a:prstGeom prst="rect">
            <a:avLst/>
          </a:prstGeom>
          <a:noFill/>
          <a:ln/>
        </p:spPr>
        <p:txBody>
          <a:bodyPr wrap="square" lIns="0" tIns="0" rIns="0" bIns="0" rtlCol="0" anchor="t"/>
          <a:lstStyle/>
          <a:p>
            <a:pPr indent="0" marL="0">
              <a:buNone/>
            </a:pPr>
            <a:r>
              <a:rPr lang="en-US" sz="1300" b="1" dirty="0">
                <a:solidFill>
                  <a:srgbClr val="F3F2F8"/>
                </a:solidFill>
                <a:latin typeface="Inter" pitchFamily="34" charset="0"/>
                <a:ea typeface="Inter" pitchFamily="34" charset="-122"/>
                <a:cs typeface="Inter" pitchFamily="34" charset="-120"/>
              </a:rPr>
              <a:t>Publishing was a log line. Nothing read the queue. No tests.</a:t>
            </a:r>
            <a:endParaRPr lang="en-US" sz="1300" dirty="0"/>
          </a:p>
        </p:txBody>
      </p:sp>
      <p:sp>
        <p:nvSpPr>
          <p:cNvPr id="11" name="Text 9"/>
          <p:cNvSpPr txBox="1"/>
          <p:nvPr/>
        </p:nvSpPr>
        <p:spPr>
          <a:xfrm>
            <a:off x="6720840" y="1691640"/>
            <a:ext cx="2011680" cy="914400"/>
          </a:xfrm>
          <a:prstGeom prst="rect">
            <a:avLst/>
          </a:prstGeom>
          <a:noFill/>
          <a:ln/>
        </p:spPr>
        <p:txBody>
          <a:bodyPr wrap="square" lIns="0" tIns="0" rIns="0" bIns="0" rtlCol="0" anchor="t"/>
          <a:lstStyle/>
          <a:p>
            <a:pPr indent="0" marL="0">
              <a:buNone/>
            </a:pPr>
            <a:r>
              <a:rPr lang="en-US" sz="6000" b="1" dirty="0">
                <a:solidFill>
                  <a:srgbClr val="5700D6"/>
                </a:solidFill>
                <a:latin typeface="Manrope" pitchFamily="34" charset="0"/>
                <a:ea typeface="Manrope" pitchFamily="34" charset="-122"/>
                <a:cs typeface="Manrope" pitchFamily="34" charset="-120"/>
              </a:rPr>
              <a:t>168</a:t>
            </a:r>
            <a:endParaRPr lang="en-US" sz="6000" dirty="0"/>
          </a:p>
        </p:txBody>
      </p:sp>
      <p:sp>
        <p:nvSpPr>
          <p:cNvPr id="12" name="Text 10"/>
          <p:cNvSpPr txBox="1"/>
          <p:nvPr/>
        </p:nvSpPr>
        <p:spPr>
          <a:xfrm>
            <a:off x="8686800" y="1938528"/>
            <a:ext cx="2788920" cy="640080"/>
          </a:xfrm>
          <a:prstGeom prst="rect">
            <a:avLst/>
          </a:prstGeom>
          <a:noFill/>
          <a:ln/>
        </p:spPr>
        <p:txBody>
          <a:bodyPr wrap="square" lIns="0" tIns="0" rIns="0" bIns="0" rtlCol="0" anchor="t"/>
          <a:lstStyle/>
          <a:p>
            <a:pPr indent="0" marL="0">
              <a:lnSpc>
                <a:spcPct val="115000"/>
              </a:lnSpc>
              <a:buNone/>
            </a:pPr>
            <a:r>
              <a:rPr lang="en-US" sz="1350" dirty="0">
                <a:solidFill>
                  <a:srgbClr val="4A5470"/>
                </a:solidFill>
                <a:latin typeface="Inter" pitchFamily="34" charset="0"/>
                <a:ea typeface="Inter" pitchFamily="34" charset="-122"/>
                <a:cs typeface="Inter" pitchFamily="34" charset="-120"/>
              </a:rPr>
              <a:t>test functions in 20 files. The provided services had none.</a:t>
            </a:r>
            <a:endParaRPr lang="en-US" sz="1350" dirty="0"/>
          </a:p>
        </p:txBody>
      </p:sp>
      <p:sp>
        <p:nvSpPr>
          <p:cNvPr id="13" name="Text 11"/>
          <p:cNvSpPr txBox="1"/>
          <p:nvPr/>
        </p:nvSpPr>
        <p:spPr>
          <a:xfrm>
            <a:off x="6720840" y="2834640"/>
            <a:ext cx="4782312" cy="219456"/>
          </a:xfrm>
          <a:prstGeom prst="rect">
            <a:avLst/>
          </a:prstGeom>
          <a:noFill/>
          <a:ln/>
        </p:spPr>
        <p:txBody>
          <a:bodyPr wrap="square" lIns="0" tIns="0" rIns="0" bIns="0" rtlCol="0" anchor="t"/>
          <a:lstStyle/>
          <a:p>
            <a:pPr indent="0" marL="0">
              <a:buNone/>
            </a:pPr>
            <a:r>
              <a:rPr lang="en-US" sz="1000" spc="120" kern="0" dirty="0">
                <a:solidFill>
                  <a:srgbClr val="5700D6"/>
                </a:solidFill>
                <a:latin typeface="JetBrains Mono" pitchFamily="34" charset="0"/>
                <a:ea typeface="JetBrains Mono" pitchFamily="34" charset="-122"/>
                <a:cs typeface="JetBrains Mono" pitchFamily="34" charset="-120"/>
              </a:rPr>
              <a:t>BUILT INTO THE APP</a:t>
            </a:r>
            <a:endParaRPr lang="en-US" sz="1000" dirty="0"/>
          </a:p>
        </p:txBody>
      </p:sp>
      <p:sp>
        <p:nvSpPr>
          <p:cNvPr id="14" name="Text 12"/>
          <p:cNvSpPr txBox="1"/>
          <p:nvPr/>
        </p:nvSpPr>
        <p:spPr>
          <a:xfrm>
            <a:off x="6720840" y="3108960"/>
            <a:ext cx="4782312" cy="274320"/>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Transactional outbox and SQS publisher</a:t>
            </a:r>
            <a:endParaRPr lang="en-US" sz="1300" dirty="0"/>
          </a:p>
        </p:txBody>
      </p:sp>
      <p:sp>
        <p:nvSpPr>
          <p:cNvPr id="15" name="Text 13"/>
          <p:cNvSpPr txBox="1"/>
          <p:nvPr/>
        </p:nvSpPr>
        <p:spPr>
          <a:xfrm>
            <a:off x="6720840" y="3401568"/>
            <a:ext cx="4782312" cy="274320"/>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The worker: reserve, charge, confirm, commit</a:t>
            </a:r>
            <a:endParaRPr lang="en-US" sz="1300" dirty="0"/>
          </a:p>
        </p:txBody>
      </p:sp>
      <p:sp>
        <p:nvSpPr>
          <p:cNvPr id="16" name="Text 14"/>
          <p:cNvSpPr txBox="1"/>
          <p:nvPr/>
        </p:nvSpPr>
        <p:spPr>
          <a:xfrm>
            <a:off x="6720840" y="3694176"/>
            <a:ext cx="4782312" cy="274320"/>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Idempotency keys on orders and payments</a:t>
            </a:r>
            <a:endParaRPr lang="en-US" sz="1300" dirty="0"/>
          </a:p>
        </p:txBody>
      </p:sp>
      <p:sp>
        <p:nvSpPr>
          <p:cNvPr id="17" name="Text 15"/>
          <p:cNvSpPr txBox="1"/>
          <p:nvPr/>
        </p:nvSpPr>
        <p:spPr>
          <a:xfrm>
            <a:off x="6720840" y="3986784"/>
            <a:ext cx="4782312" cy="274320"/>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A route allow-list at the gateway</a:t>
            </a:r>
            <a:endParaRPr lang="en-US" sz="1300" dirty="0"/>
          </a:p>
        </p:txBody>
      </p:sp>
      <p:sp>
        <p:nvSpPr>
          <p:cNvPr id="18" name="Text 16"/>
          <p:cNvSpPr txBox="1"/>
          <p:nvPr/>
        </p:nvSpPr>
        <p:spPr>
          <a:xfrm>
            <a:off x="6720840" y="4434840"/>
            <a:ext cx="4782312" cy="219456"/>
          </a:xfrm>
          <a:prstGeom prst="rect">
            <a:avLst/>
          </a:prstGeom>
          <a:noFill/>
          <a:ln/>
        </p:spPr>
        <p:txBody>
          <a:bodyPr wrap="square" lIns="0" tIns="0" rIns="0" bIns="0" rtlCol="0" anchor="t"/>
          <a:lstStyle/>
          <a:p>
            <a:pPr indent="0" marL="0">
              <a:buNone/>
            </a:pPr>
            <a:r>
              <a:rPr lang="en-US" sz="1000" spc="120" kern="0" dirty="0">
                <a:solidFill>
                  <a:srgbClr val="5700D6"/>
                </a:solidFill>
                <a:latin typeface="JetBrains Mono" pitchFamily="34" charset="0"/>
                <a:ea typeface="JetBrains Mono" pitchFamily="34" charset="-122"/>
                <a:cs typeface="JetBrains Mono" pitchFamily="34" charset="-120"/>
              </a:rPr>
              <a:t>BUILT AROUND IT</a:t>
            </a:r>
            <a:endParaRPr lang="en-US" sz="1000" dirty="0"/>
          </a:p>
        </p:txBody>
      </p:sp>
      <p:sp>
        <p:nvSpPr>
          <p:cNvPr id="19" name="Text 17"/>
          <p:cNvSpPr txBox="1"/>
          <p:nvPr/>
        </p:nvSpPr>
        <p:spPr>
          <a:xfrm>
            <a:off x="6720840" y="4709160"/>
            <a:ext cx="4782312" cy="274320"/>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9 multi-stage Dockerfiles, distroless, non-root</a:t>
            </a:r>
            <a:endParaRPr lang="en-US" sz="1300" dirty="0"/>
          </a:p>
        </p:txBody>
      </p:sp>
      <p:sp>
        <p:nvSpPr>
          <p:cNvPr id="20" name="Text 18"/>
          <p:cNvSpPr txBox="1"/>
          <p:nvPr/>
        </p:nvSpPr>
        <p:spPr>
          <a:xfrm>
            <a:off x="6720840" y="5001768"/>
            <a:ext cx="4782312" cy="274320"/>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Terraform: 6 modules, 3 environments, a bootstrap</a:t>
            </a:r>
            <a:endParaRPr lang="en-US" sz="1300" dirty="0"/>
          </a:p>
        </p:txBody>
      </p:sp>
      <p:sp>
        <p:nvSpPr>
          <p:cNvPr id="21" name="Text 19"/>
          <p:cNvSpPr txBox="1"/>
          <p:nvPr/>
        </p:nvSpPr>
        <p:spPr>
          <a:xfrm>
            <a:off x="6720840" y="5294376"/>
            <a:ext cx="4782312" cy="274320"/>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One Helm chart for 9 services, ArgoCD app-of-apps</a:t>
            </a:r>
            <a:endParaRPr lang="en-US" sz="1300" dirty="0"/>
          </a:p>
        </p:txBody>
      </p:sp>
      <p:sp>
        <p:nvSpPr>
          <p:cNvPr id="22" name="Text 20"/>
          <p:cNvSpPr txBox="1"/>
          <p:nvPr/>
        </p:nvSpPr>
        <p:spPr>
          <a:xfrm>
            <a:off x="6720840" y="5586984"/>
            <a:ext cx="4782312" cy="274320"/>
          </a:xfrm>
          <a:prstGeom prst="rect">
            <a:avLst/>
          </a:prstGeom>
          <a:noFill/>
          <a:ln/>
        </p:spPr>
        <p:txBody>
          <a:bodyPr wrap="square" lIns="0" tIns="0" rIns="0" bIns="0" rtlCol="0" anchor="t"/>
          <a:lstStyle/>
          <a:p>
            <a:pPr indent="0" marL="0">
              <a:buNone/>
            </a:pPr>
            <a:r>
              <a:rPr lang="en-US" sz="1300" dirty="0">
                <a:solidFill>
                  <a:srgbClr val="242E46"/>
                </a:solidFill>
                <a:latin typeface="Inter" pitchFamily="34" charset="0"/>
                <a:ea typeface="Inter" pitchFamily="34" charset="-122"/>
                <a:cs typeface="Inter" pitchFamily="34" charset="-120"/>
              </a:rPr>
              <a:t>8 GitHub Actions workflows</a:t>
            </a:r>
            <a:endParaRPr lang="en-US" sz="13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  ·  GOALS AND CONSTRAINTS</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Five aims, shaped by a $200 budget</a:t>
            </a:r>
            <a:endParaRPr lang="en-US" sz="3000" dirty="0"/>
          </a:p>
        </p:txBody>
      </p:sp>
      <p:sp>
        <p:nvSpPr>
          <p:cNvPr id="4" name="Shape 2"/>
          <p:cNvSpPr/>
          <p:nvPr/>
        </p:nvSpPr>
        <p:spPr>
          <a:xfrm>
            <a:off x="685800" y="1783080"/>
            <a:ext cx="4892040" cy="4206240"/>
          </a:xfrm>
          <a:prstGeom prst="rect">
            <a:avLst/>
          </a:prstGeom>
          <a:solidFill>
            <a:srgbClr val="FBFAF7"/>
          </a:solidFill>
          <a:ln w="9525">
            <a:solidFill>
              <a:srgbClr val="C2C3C5"/>
            </a:solidFill>
            <a:prstDash val="solid"/>
          </a:ln>
        </p:spPr>
      </p:sp>
      <p:sp>
        <p:nvSpPr>
          <p:cNvPr id="5" name="Text 3"/>
          <p:cNvSpPr txBox="1"/>
          <p:nvPr/>
        </p:nvSpPr>
        <p:spPr>
          <a:xfrm>
            <a:off x="960120" y="2011680"/>
            <a:ext cx="411480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CONSTRAINTS</a:t>
            </a:r>
            <a:endParaRPr lang="en-US" sz="1000" dirty="0"/>
          </a:p>
        </p:txBody>
      </p:sp>
      <p:sp>
        <p:nvSpPr>
          <p:cNvPr id="6" name="Text 4"/>
          <p:cNvSpPr txBox="1"/>
          <p:nvPr/>
        </p:nvSpPr>
        <p:spPr>
          <a:xfrm>
            <a:off x="960120" y="2240280"/>
            <a:ext cx="2194560" cy="868680"/>
          </a:xfrm>
          <a:prstGeom prst="rect">
            <a:avLst/>
          </a:prstGeom>
          <a:noFill/>
          <a:ln/>
        </p:spPr>
        <p:txBody>
          <a:bodyPr wrap="square" lIns="0" tIns="0" rIns="0" bIns="0" rtlCol="0" anchor="t"/>
          <a:lstStyle/>
          <a:p>
            <a:pPr indent="0" marL="0">
              <a:buNone/>
            </a:pPr>
            <a:r>
              <a:rPr lang="en-US" sz="5400" b="1" dirty="0">
                <a:solidFill>
                  <a:srgbClr val="5700D6"/>
                </a:solidFill>
                <a:latin typeface="Manrope" pitchFamily="34" charset="0"/>
                <a:ea typeface="Manrope" pitchFamily="34" charset="-122"/>
                <a:cs typeface="Manrope" pitchFamily="34" charset="-120"/>
              </a:rPr>
              <a:t>$200</a:t>
            </a:r>
            <a:endParaRPr lang="en-US" sz="5400" dirty="0"/>
          </a:p>
        </p:txBody>
      </p:sp>
      <p:sp>
        <p:nvSpPr>
          <p:cNvPr id="7" name="Text 5"/>
          <p:cNvSpPr txBox="1"/>
          <p:nvPr/>
        </p:nvSpPr>
        <p:spPr>
          <a:xfrm>
            <a:off x="3017520" y="2404872"/>
            <a:ext cx="2331720" cy="685800"/>
          </a:xfrm>
          <a:prstGeom prst="rect">
            <a:avLst/>
          </a:prstGeom>
          <a:noFill/>
          <a:ln/>
        </p:spPr>
        <p:txBody>
          <a:bodyPr wrap="square" lIns="0" tIns="0" rIns="0" bIns="0" rtlCol="0" anchor="t"/>
          <a:lstStyle/>
          <a:p>
            <a:pPr indent="0" marL="0">
              <a:lnSpc>
                <a:spcPct val="115000"/>
              </a:lnSpc>
              <a:buNone/>
            </a:pPr>
            <a:r>
              <a:rPr lang="en-US" sz="1250" dirty="0">
                <a:solidFill>
                  <a:srgbClr val="4A5470"/>
                </a:solidFill>
                <a:latin typeface="Inter" pitchFamily="34" charset="0"/>
                <a:ea typeface="Inter" pitchFamily="34" charset="-122"/>
                <a:cs typeface="Inter" pitchFamily="34" charset="-120"/>
              </a:rPr>
              <a:t>AWS spend CoderCo reimburses per team. Every cost needs a reason.</a:t>
            </a:r>
            <a:endParaRPr lang="en-US" sz="1250" dirty="0"/>
          </a:p>
        </p:txBody>
      </p:sp>
      <p:sp>
        <p:nvSpPr>
          <p:cNvPr id="8" name="Text 6"/>
          <p:cNvSpPr txBox="1"/>
          <p:nvPr/>
        </p:nvSpPr>
        <p:spPr>
          <a:xfrm>
            <a:off x="960120" y="3264408"/>
            <a:ext cx="429768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STAKEHOLDER PRIORITY ORDER, 14 SEP</a:t>
            </a:r>
            <a:endParaRPr lang="en-US" sz="1000" dirty="0"/>
          </a:p>
        </p:txBody>
      </p:sp>
      <p:sp>
        <p:nvSpPr>
          <p:cNvPr id="9" name="Shape 7"/>
          <p:cNvSpPr/>
          <p:nvPr/>
        </p:nvSpPr>
        <p:spPr>
          <a:xfrm>
            <a:off x="960120" y="3538728"/>
            <a:ext cx="996696" cy="457200"/>
          </a:xfrm>
          <a:prstGeom prst="rect">
            <a:avLst/>
          </a:prstGeom>
          <a:solidFill>
            <a:srgbClr val="6C00FF"/>
          </a:solidFill>
          <a:ln/>
        </p:spPr>
      </p:sp>
      <p:sp>
        <p:nvSpPr>
          <p:cNvPr id="10" name="Text 8"/>
          <p:cNvSpPr txBox="1"/>
          <p:nvPr/>
        </p:nvSpPr>
        <p:spPr>
          <a:xfrm>
            <a:off x="960120" y="3538728"/>
            <a:ext cx="996696"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1  Cost</a:t>
            </a:r>
            <a:endParaRPr lang="en-US" sz="1200" dirty="0"/>
          </a:p>
        </p:txBody>
      </p:sp>
      <p:sp>
        <p:nvSpPr>
          <p:cNvPr id="11" name="Shape 9"/>
          <p:cNvSpPr/>
          <p:nvPr/>
        </p:nvSpPr>
        <p:spPr>
          <a:xfrm>
            <a:off x="2048256" y="3538728"/>
            <a:ext cx="996696" cy="457200"/>
          </a:xfrm>
          <a:prstGeom prst="rect">
            <a:avLst/>
          </a:prstGeom>
          <a:solidFill>
            <a:srgbClr val="F4F2EE"/>
          </a:solidFill>
          <a:ln w="9525">
            <a:solidFill>
              <a:srgbClr val="C2C3C5"/>
            </a:solidFill>
            <a:prstDash val="solid"/>
          </a:ln>
        </p:spPr>
      </p:sp>
      <p:sp>
        <p:nvSpPr>
          <p:cNvPr id="12" name="Text 10"/>
          <p:cNvSpPr txBox="1"/>
          <p:nvPr/>
        </p:nvSpPr>
        <p:spPr>
          <a:xfrm>
            <a:off x="2048256" y="3538728"/>
            <a:ext cx="996696" cy="457200"/>
          </a:xfrm>
          <a:prstGeom prst="rect">
            <a:avLst/>
          </a:prstGeom>
          <a:noFill/>
          <a:ln/>
        </p:spPr>
        <p:txBody>
          <a:bodyPr wrap="square" lIns="0" tIns="0" rIns="0" bIns="0" rtlCol="0" anchor="ctr"/>
          <a:lstStyle/>
          <a:p>
            <a:pPr algn="ctr" indent="0" marL="0">
              <a:buNone/>
            </a:pPr>
            <a:r>
              <a:rPr lang="en-US" sz="1200" dirty="0">
                <a:solidFill>
                  <a:srgbClr val="242E46"/>
                </a:solidFill>
                <a:latin typeface="Inter" pitchFamily="34" charset="0"/>
                <a:ea typeface="Inter" pitchFamily="34" charset="-122"/>
                <a:cs typeface="Inter" pitchFamily="34" charset="-120"/>
              </a:rPr>
              <a:t>2  Security</a:t>
            </a:r>
            <a:endParaRPr lang="en-US" sz="1200" dirty="0"/>
          </a:p>
        </p:txBody>
      </p:sp>
      <p:sp>
        <p:nvSpPr>
          <p:cNvPr id="13" name="Shape 11"/>
          <p:cNvSpPr/>
          <p:nvPr/>
        </p:nvSpPr>
        <p:spPr>
          <a:xfrm>
            <a:off x="3136392" y="3538728"/>
            <a:ext cx="996696" cy="457200"/>
          </a:xfrm>
          <a:prstGeom prst="rect">
            <a:avLst/>
          </a:prstGeom>
          <a:solidFill>
            <a:srgbClr val="F4F2EE"/>
          </a:solidFill>
          <a:ln w="9525">
            <a:solidFill>
              <a:srgbClr val="C2C3C5"/>
            </a:solidFill>
            <a:prstDash val="solid"/>
          </a:ln>
        </p:spPr>
      </p:sp>
      <p:sp>
        <p:nvSpPr>
          <p:cNvPr id="14" name="Text 12"/>
          <p:cNvSpPr txBox="1"/>
          <p:nvPr/>
        </p:nvSpPr>
        <p:spPr>
          <a:xfrm>
            <a:off x="3136392" y="3538728"/>
            <a:ext cx="996696" cy="457200"/>
          </a:xfrm>
          <a:prstGeom prst="rect">
            <a:avLst/>
          </a:prstGeom>
          <a:noFill/>
          <a:ln/>
        </p:spPr>
        <p:txBody>
          <a:bodyPr wrap="square" lIns="0" tIns="0" rIns="0" bIns="0" rtlCol="0" anchor="ctr"/>
          <a:lstStyle/>
          <a:p>
            <a:pPr algn="ctr" indent="0" marL="0">
              <a:buNone/>
            </a:pPr>
            <a:r>
              <a:rPr lang="en-US" sz="1200" dirty="0">
                <a:solidFill>
                  <a:srgbClr val="242E46"/>
                </a:solidFill>
                <a:latin typeface="Inter" pitchFamily="34" charset="0"/>
                <a:ea typeface="Inter" pitchFamily="34" charset="-122"/>
                <a:cs typeface="Inter" pitchFamily="34" charset="-120"/>
              </a:rPr>
              <a:t>3  Uptime</a:t>
            </a:r>
            <a:endParaRPr lang="en-US" sz="1200" dirty="0"/>
          </a:p>
        </p:txBody>
      </p:sp>
      <p:sp>
        <p:nvSpPr>
          <p:cNvPr id="15" name="Shape 13"/>
          <p:cNvSpPr/>
          <p:nvPr/>
        </p:nvSpPr>
        <p:spPr>
          <a:xfrm>
            <a:off x="4224528" y="3538728"/>
            <a:ext cx="996696" cy="457200"/>
          </a:xfrm>
          <a:prstGeom prst="rect">
            <a:avLst/>
          </a:prstGeom>
          <a:solidFill>
            <a:srgbClr val="F4F2EE"/>
          </a:solidFill>
          <a:ln w="9525">
            <a:solidFill>
              <a:srgbClr val="C2C3C5"/>
            </a:solidFill>
            <a:prstDash val="solid"/>
          </a:ln>
        </p:spPr>
      </p:sp>
      <p:sp>
        <p:nvSpPr>
          <p:cNvPr id="16" name="Text 14"/>
          <p:cNvSpPr txBox="1"/>
          <p:nvPr/>
        </p:nvSpPr>
        <p:spPr>
          <a:xfrm>
            <a:off x="4224528" y="3538728"/>
            <a:ext cx="996696" cy="457200"/>
          </a:xfrm>
          <a:prstGeom prst="rect">
            <a:avLst/>
          </a:prstGeom>
          <a:noFill/>
          <a:ln/>
        </p:spPr>
        <p:txBody>
          <a:bodyPr wrap="square" lIns="0" tIns="0" rIns="0" bIns="0" rtlCol="0" anchor="ctr"/>
          <a:lstStyle/>
          <a:p>
            <a:pPr algn="ctr" indent="0" marL="0">
              <a:buNone/>
            </a:pPr>
            <a:r>
              <a:rPr lang="en-US" sz="1200" dirty="0">
                <a:solidFill>
                  <a:srgbClr val="242E46"/>
                </a:solidFill>
                <a:latin typeface="Inter" pitchFamily="34" charset="0"/>
                <a:ea typeface="Inter" pitchFamily="34" charset="-122"/>
                <a:cs typeface="Inter" pitchFamily="34" charset="-120"/>
              </a:rPr>
              <a:t>4  Features</a:t>
            </a:r>
            <a:endParaRPr lang="en-US" sz="1200" dirty="0"/>
          </a:p>
        </p:txBody>
      </p:sp>
      <p:sp>
        <p:nvSpPr>
          <p:cNvPr id="17" name="Text 15"/>
          <p:cNvSpPr txBox="1"/>
          <p:nvPr/>
        </p:nvSpPr>
        <p:spPr>
          <a:xfrm>
            <a:off x="960120" y="4251960"/>
            <a:ext cx="429768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FIXED BY THE BRIEF</a:t>
            </a:r>
            <a:endParaRPr lang="en-US" sz="1000" dirty="0"/>
          </a:p>
        </p:txBody>
      </p:sp>
      <p:sp>
        <p:nvSpPr>
          <p:cNvPr id="18" name="Text 16"/>
          <p:cNvSpPr txBox="1"/>
          <p:nvPr/>
        </p:nvSpPr>
        <p:spPr>
          <a:xfrm>
            <a:off x="960120" y="4526280"/>
            <a:ext cx="4343400" cy="914400"/>
          </a:xfrm>
          <a:prstGeom prst="rect">
            <a:avLst/>
          </a:prstGeom>
          <a:noFill/>
          <a:ln/>
        </p:spPr>
        <p:txBody>
          <a:bodyPr wrap="square" lIns="0" tIns="0" rIns="0" bIns="0" rtlCol="0" anchor="t"/>
          <a:lstStyle/>
          <a:p>
            <a:pPr indent="0" marL="0">
              <a:lnSpc>
                <a:spcPct val="125000"/>
              </a:lnSpc>
              <a:buNone/>
            </a:pPr>
            <a:r>
              <a:rPr lang="en-US" sz="1200" dirty="0">
                <a:solidFill>
                  <a:srgbClr val="4A5470"/>
                </a:solidFill>
                <a:latin typeface="Inter" pitchFamily="34" charset="0"/>
                <a:ea typeface="Inter" pitchFamily="34" charset="-122"/>
                <a:cs typeface="Inter" pitchFamily="34" charset="-120"/>
              </a:rPr>
              <a:t>EKS across 3 AZs  ·  Karpenter  ·  Traefik behind an NLB  ·  cert-manager and ExternalDNS  ·  ArgoCD app-of-apps  ·  Postgres and Redis on StatefulSets  ·  GitHub OIDC  ·  image scanning</a:t>
            </a:r>
            <a:endParaRPr lang="en-US" sz="1200" dirty="0"/>
          </a:p>
        </p:txBody>
      </p:sp>
      <p:sp>
        <p:nvSpPr>
          <p:cNvPr id="19" name="Text 17"/>
          <p:cNvSpPr txBox="1"/>
          <p:nvPr/>
        </p:nvSpPr>
        <p:spPr>
          <a:xfrm>
            <a:off x="960120" y="5532120"/>
            <a:ext cx="4343400" cy="274320"/>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4 weeks  ·  5 engineers  ·  1 AWS account</a:t>
            </a:r>
            <a:endParaRPr lang="en-US" sz="1100" dirty="0"/>
          </a:p>
        </p:txBody>
      </p:sp>
      <p:sp>
        <p:nvSpPr>
          <p:cNvPr id="20" name="Text 18"/>
          <p:cNvSpPr txBox="1"/>
          <p:nvPr/>
        </p:nvSpPr>
        <p:spPr>
          <a:xfrm>
            <a:off x="5989320" y="1783080"/>
            <a:ext cx="5513832" cy="219456"/>
          </a:xfrm>
          <a:prstGeom prst="rect">
            <a:avLst/>
          </a:prstGeom>
          <a:noFill/>
          <a:ln/>
        </p:spPr>
        <p:txBody>
          <a:bodyPr wrap="square" lIns="0" tIns="0" rIns="0" bIns="0" rtlCol="0" anchor="t"/>
          <a:lstStyle/>
          <a:p>
            <a:pPr indent="0" marL="0">
              <a:buNone/>
            </a:pPr>
            <a:r>
              <a:rPr lang="en-US" sz="1000" spc="120" kern="0" dirty="0">
                <a:solidFill>
                  <a:srgbClr val="5700D6"/>
                </a:solidFill>
                <a:latin typeface="JetBrains Mono" pitchFamily="34" charset="0"/>
                <a:ea typeface="JetBrains Mono" pitchFamily="34" charset="-122"/>
                <a:cs typeface="JetBrains Mono" pitchFamily="34" charset="-120"/>
              </a:rPr>
              <a:t>WHAT WE SET OUT TO DO</a:t>
            </a:r>
            <a:endParaRPr lang="en-US" sz="1000" dirty="0"/>
          </a:p>
        </p:txBody>
      </p:sp>
      <p:sp>
        <p:nvSpPr>
          <p:cNvPr id="21" name="Text 19"/>
          <p:cNvSpPr txBox="1"/>
          <p:nvPr/>
        </p:nvSpPr>
        <p:spPr>
          <a:xfrm>
            <a:off x="5989320" y="2103120"/>
            <a:ext cx="457200" cy="292608"/>
          </a:xfrm>
          <a:prstGeom prst="rect">
            <a:avLst/>
          </a:prstGeom>
          <a:noFill/>
          <a:ln/>
        </p:spPr>
        <p:txBody>
          <a:bodyPr wrap="square" lIns="0" tIns="0" rIns="0" bIns="0" rtlCol="0" anchor="t"/>
          <a:lstStyle/>
          <a:p>
            <a:pPr indent="0" marL="0">
              <a:buNone/>
            </a:pPr>
            <a:r>
              <a:rPr lang="en-US" sz="1300" b="1" dirty="0">
                <a:solidFill>
                  <a:srgbClr val="5700D6"/>
                </a:solidFill>
                <a:latin typeface="JetBrains Mono" pitchFamily="34" charset="0"/>
                <a:ea typeface="JetBrains Mono" pitchFamily="34" charset="-122"/>
                <a:cs typeface="JetBrains Mono" pitchFamily="34" charset="-120"/>
              </a:rPr>
              <a:t>01</a:t>
            </a:r>
            <a:endParaRPr lang="en-US" sz="1300" dirty="0"/>
          </a:p>
        </p:txBody>
      </p:sp>
      <p:sp>
        <p:nvSpPr>
          <p:cNvPr id="22" name="Text 20"/>
          <p:cNvSpPr txBox="1"/>
          <p:nvPr/>
        </p:nvSpPr>
        <p:spPr>
          <a:xfrm>
            <a:off x="6492240" y="2084832"/>
            <a:ext cx="5010912" cy="292608"/>
          </a:xfrm>
          <a:prstGeom prst="rect">
            <a:avLst/>
          </a:prstGeom>
          <a:noFill/>
          <a:ln/>
        </p:spPr>
        <p:txBody>
          <a:bodyPr wrap="square" lIns="0" tIns="0" rIns="0" bIns="0" rtlCol="0" anchor="t"/>
          <a:lstStyle/>
          <a:p>
            <a:pPr indent="0" marL="0">
              <a:buNone/>
            </a:pPr>
            <a:r>
              <a:rPr lang="en-US" sz="1600" b="1" dirty="0">
                <a:solidFill>
                  <a:srgbClr val="242E46"/>
                </a:solidFill>
                <a:latin typeface="Manrope" pitchFamily="34" charset="0"/>
                <a:ea typeface="Manrope" pitchFamily="34" charset="-122"/>
                <a:cs typeface="Manrope" pitchFamily="34" charset="-120"/>
              </a:rPr>
              <a:t>Never lose an accepted order</a:t>
            </a:r>
            <a:endParaRPr lang="en-US" sz="1600" dirty="0"/>
          </a:p>
        </p:txBody>
      </p:sp>
      <p:sp>
        <p:nvSpPr>
          <p:cNvPr id="23" name="Text 21"/>
          <p:cNvSpPr txBox="1"/>
          <p:nvPr/>
        </p:nvSpPr>
        <p:spPr>
          <a:xfrm>
            <a:off x="6492240" y="2377440"/>
            <a:ext cx="5010912" cy="274320"/>
          </a:xfrm>
          <a:prstGeom prst="rect">
            <a:avLst/>
          </a:prstGeom>
          <a:noFill/>
          <a:ln/>
        </p:spPr>
        <p:txBody>
          <a:bodyPr wrap="square" lIns="0" tIns="0" rIns="0" bIns="0" rtlCol="0" anchor="t"/>
          <a:lstStyle/>
          <a:p>
            <a:pPr indent="0" marL="0">
              <a:buNone/>
            </a:pPr>
            <a:r>
              <a:rPr lang="en-US" sz="1250" dirty="0">
                <a:solidFill>
                  <a:srgbClr val="4A5470"/>
                </a:solidFill>
                <a:latin typeface="Inter" pitchFamily="34" charset="0"/>
                <a:ea typeface="Inter" pitchFamily="34" charset="-122"/>
                <a:cs typeface="Inter" pitchFamily="34" charset="-120"/>
              </a:rPr>
              <a:t>even when a downstream service or AWS is briefly down.</a:t>
            </a:r>
            <a:endParaRPr lang="en-US" sz="1250" dirty="0"/>
          </a:p>
        </p:txBody>
      </p:sp>
      <p:sp>
        <p:nvSpPr>
          <p:cNvPr id="24" name="Shape 22"/>
          <p:cNvSpPr/>
          <p:nvPr/>
        </p:nvSpPr>
        <p:spPr>
          <a:xfrm>
            <a:off x="5989320" y="2743200"/>
            <a:ext cx="5513832" cy="0"/>
          </a:xfrm>
          <a:prstGeom prst="line">
            <a:avLst/>
          </a:prstGeom>
          <a:noFill/>
          <a:ln w="9525">
            <a:solidFill>
              <a:srgbClr val="DBDADA"/>
            </a:solidFill>
            <a:prstDash val="solid"/>
          </a:ln>
        </p:spPr>
      </p:sp>
      <p:sp>
        <p:nvSpPr>
          <p:cNvPr id="25" name="Text 23"/>
          <p:cNvSpPr txBox="1"/>
          <p:nvPr/>
        </p:nvSpPr>
        <p:spPr>
          <a:xfrm>
            <a:off x="5989320" y="2816352"/>
            <a:ext cx="457200" cy="292608"/>
          </a:xfrm>
          <a:prstGeom prst="rect">
            <a:avLst/>
          </a:prstGeom>
          <a:noFill/>
          <a:ln/>
        </p:spPr>
        <p:txBody>
          <a:bodyPr wrap="square" lIns="0" tIns="0" rIns="0" bIns="0" rtlCol="0" anchor="t"/>
          <a:lstStyle/>
          <a:p>
            <a:pPr indent="0" marL="0">
              <a:buNone/>
            </a:pPr>
            <a:r>
              <a:rPr lang="en-US" sz="1300" b="1" dirty="0">
                <a:solidFill>
                  <a:srgbClr val="5700D6"/>
                </a:solidFill>
                <a:latin typeface="JetBrains Mono" pitchFamily="34" charset="0"/>
                <a:ea typeface="JetBrains Mono" pitchFamily="34" charset="-122"/>
                <a:cs typeface="JetBrains Mono" pitchFamily="34" charset="-120"/>
              </a:rPr>
              <a:t>02</a:t>
            </a:r>
            <a:endParaRPr lang="en-US" sz="1300" dirty="0"/>
          </a:p>
        </p:txBody>
      </p:sp>
      <p:sp>
        <p:nvSpPr>
          <p:cNvPr id="26" name="Text 24"/>
          <p:cNvSpPr txBox="1"/>
          <p:nvPr/>
        </p:nvSpPr>
        <p:spPr>
          <a:xfrm>
            <a:off x="6492240" y="2798064"/>
            <a:ext cx="5010912" cy="292608"/>
          </a:xfrm>
          <a:prstGeom prst="rect">
            <a:avLst/>
          </a:prstGeom>
          <a:noFill/>
          <a:ln/>
        </p:spPr>
        <p:txBody>
          <a:bodyPr wrap="square" lIns="0" tIns="0" rIns="0" bIns="0" rtlCol="0" anchor="t"/>
          <a:lstStyle/>
          <a:p>
            <a:pPr indent="0" marL="0">
              <a:buNone/>
            </a:pPr>
            <a:r>
              <a:rPr lang="en-US" sz="1600" b="1" dirty="0">
                <a:solidFill>
                  <a:srgbClr val="242E46"/>
                </a:solidFill>
                <a:latin typeface="Manrope" pitchFamily="34" charset="0"/>
                <a:ea typeface="Manrope" pitchFamily="34" charset="-122"/>
                <a:cs typeface="Manrope" pitchFamily="34" charset="-120"/>
              </a:rPr>
              <a:t>Never charge twice</a:t>
            </a:r>
            <a:endParaRPr lang="en-US" sz="1600" dirty="0"/>
          </a:p>
        </p:txBody>
      </p:sp>
      <p:sp>
        <p:nvSpPr>
          <p:cNvPr id="27" name="Text 25"/>
          <p:cNvSpPr txBox="1"/>
          <p:nvPr/>
        </p:nvSpPr>
        <p:spPr>
          <a:xfrm>
            <a:off x="6492240" y="3090672"/>
            <a:ext cx="5010912" cy="274320"/>
          </a:xfrm>
          <a:prstGeom prst="rect">
            <a:avLst/>
          </a:prstGeom>
          <a:noFill/>
          <a:ln/>
        </p:spPr>
        <p:txBody>
          <a:bodyPr wrap="square" lIns="0" tIns="0" rIns="0" bIns="0" rtlCol="0" anchor="t"/>
          <a:lstStyle/>
          <a:p>
            <a:pPr indent="0" marL="0">
              <a:buNone/>
            </a:pPr>
            <a:r>
              <a:rPr lang="en-US" sz="1250" dirty="0">
                <a:solidFill>
                  <a:srgbClr val="4A5470"/>
                </a:solidFill>
                <a:latin typeface="Inter" pitchFamily="34" charset="0"/>
                <a:ea typeface="Inter" pitchFamily="34" charset="-122"/>
                <a:cs typeface="Inter" pitchFamily="34" charset="-120"/>
              </a:rPr>
              <a:t>a retry, a redelivery or a double click changes nothing.</a:t>
            </a:r>
            <a:endParaRPr lang="en-US" sz="1250" dirty="0"/>
          </a:p>
        </p:txBody>
      </p:sp>
      <p:sp>
        <p:nvSpPr>
          <p:cNvPr id="28" name="Shape 26"/>
          <p:cNvSpPr/>
          <p:nvPr/>
        </p:nvSpPr>
        <p:spPr>
          <a:xfrm>
            <a:off x="5989320" y="3456432"/>
            <a:ext cx="5513832" cy="0"/>
          </a:xfrm>
          <a:prstGeom prst="line">
            <a:avLst/>
          </a:prstGeom>
          <a:noFill/>
          <a:ln w="9525">
            <a:solidFill>
              <a:srgbClr val="DBDADA"/>
            </a:solidFill>
            <a:prstDash val="solid"/>
          </a:ln>
        </p:spPr>
      </p:sp>
      <p:sp>
        <p:nvSpPr>
          <p:cNvPr id="29" name="Text 27"/>
          <p:cNvSpPr txBox="1"/>
          <p:nvPr/>
        </p:nvSpPr>
        <p:spPr>
          <a:xfrm>
            <a:off x="5989320" y="3529584"/>
            <a:ext cx="457200" cy="292608"/>
          </a:xfrm>
          <a:prstGeom prst="rect">
            <a:avLst/>
          </a:prstGeom>
          <a:noFill/>
          <a:ln/>
        </p:spPr>
        <p:txBody>
          <a:bodyPr wrap="square" lIns="0" tIns="0" rIns="0" bIns="0" rtlCol="0" anchor="t"/>
          <a:lstStyle/>
          <a:p>
            <a:pPr indent="0" marL="0">
              <a:buNone/>
            </a:pPr>
            <a:r>
              <a:rPr lang="en-US" sz="1300" b="1" dirty="0">
                <a:solidFill>
                  <a:srgbClr val="5700D6"/>
                </a:solidFill>
                <a:latin typeface="JetBrains Mono" pitchFamily="34" charset="0"/>
                <a:ea typeface="JetBrains Mono" pitchFamily="34" charset="-122"/>
                <a:cs typeface="JetBrains Mono" pitchFamily="34" charset="-120"/>
              </a:rPr>
              <a:t>03</a:t>
            </a:r>
            <a:endParaRPr lang="en-US" sz="1300" dirty="0"/>
          </a:p>
        </p:txBody>
      </p:sp>
      <p:sp>
        <p:nvSpPr>
          <p:cNvPr id="30" name="Text 28"/>
          <p:cNvSpPr txBox="1"/>
          <p:nvPr/>
        </p:nvSpPr>
        <p:spPr>
          <a:xfrm>
            <a:off x="6492240" y="3511296"/>
            <a:ext cx="5010912" cy="292608"/>
          </a:xfrm>
          <a:prstGeom prst="rect">
            <a:avLst/>
          </a:prstGeom>
          <a:noFill/>
          <a:ln/>
        </p:spPr>
        <p:txBody>
          <a:bodyPr wrap="square" lIns="0" tIns="0" rIns="0" bIns="0" rtlCol="0" anchor="t"/>
          <a:lstStyle/>
          <a:p>
            <a:pPr indent="0" marL="0">
              <a:buNone/>
            </a:pPr>
            <a:r>
              <a:rPr lang="en-US" sz="1600" b="1" dirty="0">
                <a:solidFill>
                  <a:srgbClr val="242E46"/>
                </a:solidFill>
                <a:latin typeface="Manrope" pitchFamily="34" charset="0"/>
                <a:ea typeface="Manrope" pitchFamily="34" charset="-122"/>
                <a:cs typeface="Manrope" pitchFamily="34" charset="-120"/>
              </a:rPr>
              <a:t>Hold no long-lived AWS keys</a:t>
            </a:r>
            <a:endParaRPr lang="en-US" sz="1600" dirty="0"/>
          </a:p>
        </p:txBody>
      </p:sp>
      <p:sp>
        <p:nvSpPr>
          <p:cNvPr id="31" name="Text 29"/>
          <p:cNvSpPr txBox="1"/>
          <p:nvPr/>
        </p:nvSpPr>
        <p:spPr>
          <a:xfrm>
            <a:off x="6492240" y="3803904"/>
            <a:ext cx="5010912" cy="274320"/>
          </a:xfrm>
          <a:prstGeom prst="rect">
            <a:avLst/>
          </a:prstGeom>
          <a:noFill/>
          <a:ln/>
        </p:spPr>
        <p:txBody>
          <a:bodyPr wrap="square" lIns="0" tIns="0" rIns="0" bIns="0" rtlCol="0" anchor="t"/>
          <a:lstStyle/>
          <a:p>
            <a:pPr indent="0" marL="0">
              <a:buNone/>
            </a:pPr>
            <a:r>
              <a:rPr lang="en-US" sz="1250" dirty="0">
                <a:solidFill>
                  <a:srgbClr val="4A5470"/>
                </a:solidFill>
                <a:latin typeface="Inter" pitchFamily="34" charset="0"/>
                <a:ea typeface="Inter" pitchFamily="34" charset="-122"/>
                <a:cs typeface="Inter" pitchFamily="34" charset="-120"/>
              </a:rPr>
              <a:t>nothing in Git, CI or an image can reach AWS on its own.</a:t>
            </a:r>
            <a:endParaRPr lang="en-US" sz="1250" dirty="0"/>
          </a:p>
        </p:txBody>
      </p:sp>
      <p:sp>
        <p:nvSpPr>
          <p:cNvPr id="32" name="Shape 30"/>
          <p:cNvSpPr/>
          <p:nvPr/>
        </p:nvSpPr>
        <p:spPr>
          <a:xfrm>
            <a:off x="5989320" y="4169664"/>
            <a:ext cx="5513832" cy="0"/>
          </a:xfrm>
          <a:prstGeom prst="line">
            <a:avLst/>
          </a:prstGeom>
          <a:noFill/>
          <a:ln w="9525">
            <a:solidFill>
              <a:srgbClr val="DBDADA"/>
            </a:solidFill>
            <a:prstDash val="solid"/>
          </a:ln>
        </p:spPr>
      </p:sp>
      <p:sp>
        <p:nvSpPr>
          <p:cNvPr id="33" name="Text 31"/>
          <p:cNvSpPr txBox="1"/>
          <p:nvPr/>
        </p:nvSpPr>
        <p:spPr>
          <a:xfrm>
            <a:off x="5989320" y="4242816"/>
            <a:ext cx="457200" cy="292608"/>
          </a:xfrm>
          <a:prstGeom prst="rect">
            <a:avLst/>
          </a:prstGeom>
          <a:noFill/>
          <a:ln/>
        </p:spPr>
        <p:txBody>
          <a:bodyPr wrap="square" lIns="0" tIns="0" rIns="0" bIns="0" rtlCol="0" anchor="t"/>
          <a:lstStyle/>
          <a:p>
            <a:pPr indent="0" marL="0">
              <a:buNone/>
            </a:pPr>
            <a:r>
              <a:rPr lang="en-US" sz="1300" b="1" dirty="0">
                <a:solidFill>
                  <a:srgbClr val="5700D6"/>
                </a:solidFill>
                <a:latin typeface="JetBrains Mono" pitchFamily="34" charset="0"/>
                <a:ea typeface="JetBrains Mono" pitchFamily="34" charset="-122"/>
                <a:cs typeface="JetBrains Mono" pitchFamily="34" charset="-120"/>
              </a:rPr>
              <a:t>04</a:t>
            </a:r>
            <a:endParaRPr lang="en-US" sz="1300" dirty="0"/>
          </a:p>
        </p:txBody>
      </p:sp>
      <p:sp>
        <p:nvSpPr>
          <p:cNvPr id="34" name="Text 32"/>
          <p:cNvSpPr txBox="1"/>
          <p:nvPr/>
        </p:nvSpPr>
        <p:spPr>
          <a:xfrm>
            <a:off x="6492240" y="4224528"/>
            <a:ext cx="5010912" cy="292608"/>
          </a:xfrm>
          <a:prstGeom prst="rect">
            <a:avLst/>
          </a:prstGeom>
          <a:noFill/>
          <a:ln/>
        </p:spPr>
        <p:txBody>
          <a:bodyPr wrap="square" lIns="0" tIns="0" rIns="0" bIns="0" rtlCol="0" anchor="t"/>
          <a:lstStyle/>
          <a:p>
            <a:pPr indent="0" marL="0">
              <a:buNone/>
            </a:pPr>
            <a:r>
              <a:rPr lang="en-US" sz="1600" b="1" dirty="0">
                <a:solidFill>
                  <a:srgbClr val="242E46"/>
                </a:solidFill>
                <a:latin typeface="Manrope" pitchFamily="34" charset="0"/>
                <a:ea typeface="Manrope" pitchFamily="34" charset="-122"/>
                <a:cs typeface="Manrope" pitchFamily="34" charset="-120"/>
              </a:rPr>
              <a:t>Change the platform only through Git</a:t>
            </a:r>
            <a:endParaRPr lang="en-US" sz="1600" dirty="0"/>
          </a:p>
        </p:txBody>
      </p:sp>
      <p:sp>
        <p:nvSpPr>
          <p:cNvPr id="35" name="Text 33"/>
          <p:cNvSpPr txBox="1"/>
          <p:nvPr/>
        </p:nvSpPr>
        <p:spPr>
          <a:xfrm>
            <a:off x="6492240" y="4517136"/>
            <a:ext cx="5010912" cy="274320"/>
          </a:xfrm>
          <a:prstGeom prst="rect">
            <a:avLst/>
          </a:prstGeom>
          <a:noFill/>
          <a:ln/>
        </p:spPr>
        <p:txBody>
          <a:bodyPr wrap="square" lIns="0" tIns="0" rIns="0" bIns="0" rtlCol="0" anchor="t"/>
          <a:lstStyle/>
          <a:p>
            <a:pPr indent="0" marL="0">
              <a:buNone/>
            </a:pPr>
            <a:r>
              <a:rPr lang="en-US" sz="1250" dirty="0">
                <a:solidFill>
                  <a:srgbClr val="4A5470"/>
                </a:solidFill>
                <a:latin typeface="Inter" pitchFamily="34" charset="0"/>
                <a:ea typeface="Inter" pitchFamily="34" charset="-122"/>
                <a:cs typeface="Inter" pitchFamily="34" charset="-120"/>
              </a:rPr>
              <a:t>Terraform for AWS, ArgoCD for the cluster.</a:t>
            </a:r>
            <a:endParaRPr lang="en-US" sz="1250" dirty="0"/>
          </a:p>
        </p:txBody>
      </p:sp>
      <p:sp>
        <p:nvSpPr>
          <p:cNvPr id="36" name="Shape 34"/>
          <p:cNvSpPr/>
          <p:nvPr/>
        </p:nvSpPr>
        <p:spPr>
          <a:xfrm>
            <a:off x="5989320" y="4882896"/>
            <a:ext cx="5513832" cy="0"/>
          </a:xfrm>
          <a:prstGeom prst="line">
            <a:avLst/>
          </a:prstGeom>
          <a:noFill/>
          <a:ln w="9525">
            <a:solidFill>
              <a:srgbClr val="DBDADA"/>
            </a:solidFill>
            <a:prstDash val="solid"/>
          </a:ln>
        </p:spPr>
      </p:sp>
      <p:sp>
        <p:nvSpPr>
          <p:cNvPr id="37" name="Text 35"/>
          <p:cNvSpPr txBox="1"/>
          <p:nvPr/>
        </p:nvSpPr>
        <p:spPr>
          <a:xfrm>
            <a:off x="5989320" y="4956048"/>
            <a:ext cx="457200" cy="292608"/>
          </a:xfrm>
          <a:prstGeom prst="rect">
            <a:avLst/>
          </a:prstGeom>
          <a:noFill/>
          <a:ln/>
        </p:spPr>
        <p:txBody>
          <a:bodyPr wrap="square" lIns="0" tIns="0" rIns="0" bIns="0" rtlCol="0" anchor="t"/>
          <a:lstStyle/>
          <a:p>
            <a:pPr indent="0" marL="0">
              <a:buNone/>
            </a:pPr>
            <a:r>
              <a:rPr lang="en-US" sz="1300" b="1" dirty="0">
                <a:solidFill>
                  <a:srgbClr val="5700D6"/>
                </a:solidFill>
                <a:latin typeface="JetBrains Mono" pitchFamily="34" charset="0"/>
                <a:ea typeface="JetBrains Mono" pitchFamily="34" charset="-122"/>
                <a:cs typeface="JetBrains Mono" pitchFamily="34" charset="-120"/>
              </a:rPr>
              <a:t>05</a:t>
            </a:r>
            <a:endParaRPr lang="en-US" sz="1300" dirty="0"/>
          </a:p>
        </p:txBody>
      </p:sp>
      <p:sp>
        <p:nvSpPr>
          <p:cNvPr id="38" name="Text 36"/>
          <p:cNvSpPr txBox="1"/>
          <p:nvPr/>
        </p:nvSpPr>
        <p:spPr>
          <a:xfrm>
            <a:off x="6492240" y="4937760"/>
            <a:ext cx="5010912" cy="292608"/>
          </a:xfrm>
          <a:prstGeom prst="rect">
            <a:avLst/>
          </a:prstGeom>
          <a:noFill/>
          <a:ln/>
        </p:spPr>
        <p:txBody>
          <a:bodyPr wrap="square" lIns="0" tIns="0" rIns="0" bIns="0" rtlCol="0" anchor="t"/>
          <a:lstStyle/>
          <a:p>
            <a:pPr indent="0" marL="0">
              <a:buNone/>
            </a:pPr>
            <a:r>
              <a:rPr lang="en-US" sz="1600" b="1" dirty="0">
                <a:solidFill>
                  <a:srgbClr val="242E46"/>
                </a:solidFill>
                <a:latin typeface="Manrope" pitchFamily="34" charset="0"/>
                <a:ea typeface="Manrope" pitchFamily="34" charset="-122"/>
                <a:cs typeface="Manrope" pitchFamily="34" charset="-120"/>
              </a:rPr>
              <a:t>Ship one service without touching eight</a:t>
            </a:r>
            <a:endParaRPr lang="en-US" sz="1600" dirty="0"/>
          </a:p>
        </p:txBody>
      </p:sp>
      <p:sp>
        <p:nvSpPr>
          <p:cNvPr id="39" name="Text 37"/>
          <p:cNvSpPr txBox="1"/>
          <p:nvPr/>
        </p:nvSpPr>
        <p:spPr>
          <a:xfrm>
            <a:off x="6492240" y="5230368"/>
            <a:ext cx="5010912" cy="274320"/>
          </a:xfrm>
          <a:prstGeom prst="rect">
            <a:avLst/>
          </a:prstGeom>
          <a:noFill/>
          <a:ln/>
        </p:spPr>
        <p:txBody>
          <a:bodyPr wrap="square" lIns="0" tIns="0" rIns="0" bIns="0" rtlCol="0" anchor="t"/>
          <a:lstStyle/>
          <a:p>
            <a:pPr indent="0" marL="0">
              <a:buNone/>
            </a:pPr>
            <a:r>
              <a:rPr lang="en-US" sz="1250" dirty="0">
                <a:solidFill>
                  <a:srgbClr val="4A5470"/>
                </a:solidFill>
                <a:latin typeface="Inter" pitchFamily="34" charset="0"/>
                <a:ea typeface="Inter" pitchFamily="34" charset="-122"/>
                <a:cs typeface="Inter" pitchFamily="34" charset="-120"/>
              </a:rPr>
              <a:t>and roll it back the same way.</a:t>
            </a:r>
            <a:endParaRPr lang="en-US" sz="1250" dirty="0"/>
          </a:p>
        </p:txBody>
      </p:sp>
      <p:sp>
        <p:nvSpPr>
          <p:cNvPr id="40" name="Text 38"/>
          <p:cNvSpPr txBox="1"/>
          <p:nvPr/>
        </p:nvSpPr>
        <p:spPr>
          <a:xfrm>
            <a:off x="5989320" y="5669280"/>
            <a:ext cx="5513832" cy="228600"/>
          </a:xfrm>
          <a:prstGeom prst="rect">
            <a:avLst/>
          </a:prstGeom>
          <a:noFill/>
          <a:ln/>
        </p:spPr>
        <p:txBody>
          <a:bodyPr wrap="square" lIns="0" tIns="0" rIns="0" bIns="0" rtlCol="0" anchor="t"/>
          <a:lstStyle/>
          <a:p>
            <a:pPr indent="0" marL="0">
              <a:buNone/>
            </a:pPr>
            <a:r>
              <a:rPr lang="en-US" sz="1000" spc="100" kern="0" dirty="0">
                <a:solidFill>
                  <a:srgbClr val="5B6480"/>
                </a:solidFill>
                <a:latin typeface="JetBrains Mono" pitchFamily="34" charset="0"/>
                <a:ea typeface="JetBrains Mono" pitchFamily="34" charset="-122"/>
                <a:cs typeface="JetBrains Mono" pitchFamily="34" charset="-120"/>
              </a:rPr>
              <a:t>AIMS, NOT GUARANTEES. SLIDE 18 SAYS WHICH ARE PROVEN.</a:t>
            </a:r>
            <a:endParaRPr lang="en-US" sz="10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B3A6DC"/>
                </a:solidFill>
                <a:latin typeface="JetBrains Mono" pitchFamily="34" charset="0"/>
                <a:ea typeface="JetBrains Mono" pitchFamily="34" charset="-122"/>
                <a:cs typeface="JetBrains Mono" pitchFamily="34" charset="-120"/>
              </a:rPr>
              <a:t>ACT II  ·  LIVE DEMO</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F3F2F8"/>
                </a:solidFill>
                <a:latin typeface="Manrope" pitchFamily="34" charset="0"/>
                <a:ea typeface="Manrope" pitchFamily="34" charset="-122"/>
                <a:cs typeface="Manrope" pitchFamily="34" charset="-120"/>
              </a:rPr>
              <a:t>Watch one order travel</a:t>
            </a:r>
            <a:endParaRPr lang="en-US" sz="3000" dirty="0"/>
          </a:p>
        </p:txBody>
      </p:sp>
      <p:sp>
        <p:nvSpPr>
          <p:cNvPr id="4" name="Shape 2"/>
          <p:cNvSpPr/>
          <p:nvPr/>
        </p:nvSpPr>
        <p:spPr>
          <a:xfrm>
            <a:off x="841248" y="2212848"/>
            <a:ext cx="8229600" cy="0"/>
          </a:xfrm>
          <a:prstGeom prst="line">
            <a:avLst/>
          </a:prstGeom>
          <a:noFill/>
          <a:ln w="12700">
            <a:solidFill>
              <a:srgbClr val="7A6CB4"/>
            </a:solidFill>
            <a:prstDash val="solid"/>
          </a:ln>
        </p:spPr>
      </p:sp>
      <p:sp>
        <p:nvSpPr>
          <p:cNvPr id="5" name="Shape 3"/>
          <p:cNvSpPr/>
          <p:nvPr/>
        </p:nvSpPr>
        <p:spPr>
          <a:xfrm>
            <a:off x="685800" y="2057400"/>
            <a:ext cx="310896" cy="310896"/>
          </a:xfrm>
          <a:prstGeom prst="ellipse">
            <a:avLst/>
          </a:prstGeom>
          <a:solidFill>
            <a:srgbClr val="160B35"/>
          </a:solidFill>
          <a:ln w="12700">
            <a:solidFill>
              <a:srgbClr val="AE99F0"/>
            </a:solidFill>
            <a:prstDash val="solid"/>
          </a:ln>
        </p:spPr>
      </p:sp>
      <p:sp>
        <p:nvSpPr>
          <p:cNvPr id="6" name="Text 4"/>
          <p:cNvSpPr txBox="1"/>
          <p:nvPr/>
        </p:nvSpPr>
        <p:spPr>
          <a:xfrm>
            <a:off x="685800" y="2057400"/>
            <a:ext cx="310896" cy="310896"/>
          </a:xfrm>
          <a:prstGeom prst="rect">
            <a:avLst/>
          </a:prstGeom>
          <a:noFill/>
          <a:ln/>
        </p:spPr>
        <p:txBody>
          <a:bodyPr wrap="square" lIns="0" tIns="0" rIns="0" bIns="0" rtlCol="0" anchor="ctr"/>
          <a:lstStyle/>
          <a:p>
            <a:pPr algn="ctr" indent="0" marL="0">
              <a:buNone/>
            </a:pPr>
            <a:r>
              <a:rPr lang="en-US" sz="1000" b="1" dirty="0">
                <a:solidFill>
                  <a:srgbClr val="AE99F0"/>
                </a:solidFill>
                <a:latin typeface="JetBrains Mono" pitchFamily="34" charset="0"/>
                <a:ea typeface="JetBrains Mono" pitchFamily="34" charset="-122"/>
                <a:cs typeface="JetBrains Mono" pitchFamily="34" charset="-120"/>
              </a:rPr>
              <a:t>01</a:t>
            </a:r>
            <a:endParaRPr lang="en-US" sz="1000" dirty="0"/>
          </a:p>
        </p:txBody>
      </p:sp>
      <p:sp>
        <p:nvSpPr>
          <p:cNvPr id="7" name="Text 5"/>
          <p:cNvSpPr txBox="1"/>
          <p:nvPr/>
        </p:nvSpPr>
        <p:spPr>
          <a:xfrm>
            <a:off x="685800" y="2606040"/>
            <a:ext cx="2587752" cy="411480"/>
          </a:xfrm>
          <a:prstGeom prst="rect">
            <a:avLst/>
          </a:prstGeom>
          <a:noFill/>
          <a:ln/>
        </p:spPr>
        <p:txBody>
          <a:bodyPr wrap="square" lIns="0" tIns="0" rIns="0" bIns="0" rtlCol="0" anchor="t"/>
          <a:lstStyle/>
          <a:p>
            <a:pPr indent="0" marL="0">
              <a:buNone/>
            </a:pPr>
            <a:r>
              <a:rPr lang="en-US" sz="2000" b="1" dirty="0">
                <a:solidFill>
                  <a:srgbClr val="F3F2F8"/>
                </a:solidFill>
                <a:latin typeface="Manrope" pitchFamily="34" charset="0"/>
                <a:ea typeface="Manrope" pitchFamily="34" charset="-122"/>
                <a:cs typeface="Manrope" pitchFamily="34" charset="-120"/>
              </a:rPr>
              <a:t>Build a kit</a:t>
            </a:r>
            <a:endParaRPr lang="en-US" sz="2000" dirty="0"/>
          </a:p>
        </p:txBody>
      </p:sp>
      <p:sp>
        <p:nvSpPr>
          <p:cNvPr id="8" name="Text 6"/>
          <p:cNvSpPr txBox="1"/>
          <p:nvPr/>
        </p:nvSpPr>
        <p:spPr>
          <a:xfrm>
            <a:off x="685800" y="3154680"/>
            <a:ext cx="2587752" cy="219456"/>
          </a:xfrm>
          <a:prstGeom prst="rect">
            <a:avLst/>
          </a:prstGeom>
          <a:noFill/>
          <a:ln/>
        </p:spPr>
        <p:txBody>
          <a:bodyPr wrap="square" lIns="0" tIns="0" rIns="0" bIns="0" rtlCol="0" anchor="t"/>
          <a:lstStyle/>
          <a:p>
            <a:pPr indent="0" marL="0">
              <a:buNone/>
            </a:pPr>
            <a:r>
              <a:rPr lang="en-US" sz="1000" spc="150" kern="0" dirty="0">
                <a:solidFill>
                  <a:srgbClr val="AE99F0"/>
                </a:solidFill>
                <a:latin typeface="JetBrains Mono" pitchFamily="34" charset="0"/>
                <a:ea typeface="JetBrains Mono" pitchFamily="34" charset="-122"/>
                <a:cs typeface="JetBrains Mono" pitchFamily="34" charset="-120"/>
              </a:rPr>
              <a:t>NOTICE</a:t>
            </a:r>
            <a:endParaRPr lang="en-US" sz="1000" dirty="0"/>
          </a:p>
        </p:txBody>
      </p:sp>
      <p:sp>
        <p:nvSpPr>
          <p:cNvPr id="9" name="Text 7"/>
          <p:cNvSpPr txBox="1"/>
          <p:nvPr/>
        </p:nvSpPr>
        <p:spPr>
          <a:xfrm>
            <a:off x="685800" y="3429000"/>
            <a:ext cx="2450592" cy="1280160"/>
          </a:xfrm>
          <a:prstGeom prst="rect">
            <a:avLst/>
          </a:prstGeom>
          <a:noFill/>
          <a:ln/>
        </p:spPr>
        <p:txBody>
          <a:bodyPr wrap="square" lIns="0" tIns="0" rIns="0" bIns="0" rtlCol="0" anchor="t"/>
          <a:lstStyle/>
          <a:p>
            <a:pPr indent="0" marL="0">
              <a:lnSpc>
                <a:spcPct val="120000"/>
              </a:lnSpc>
              <a:buNone/>
            </a:pPr>
            <a:r>
              <a:rPr lang="en-US" sz="1400" dirty="0">
                <a:solidFill>
                  <a:srgbClr val="B3A6DC"/>
                </a:solidFill>
                <a:latin typeface="Inter" pitchFamily="34" charset="0"/>
                <a:ea typeface="Inter" pitchFamily="34" charset="-122"/>
                <a:cs typeface="Inter" pitchFamily="34" charset="-120"/>
              </a:rPr>
              <a:t>Prices and stock come live from inventory. The browser never sets a price.</a:t>
            </a:r>
            <a:endParaRPr lang="en-US" sz="1400" dirty="0"/>
          </a:p>
        </p:txBody>
      </p:sp>
      <p:sp>
        <p:nvSpPr>
          <p:cNvPr id="10" name="Shape 8"/>
          <p:cNvSpPr/>
          <p:nvPr/>
        </p:nvSpPr>
        <p:spPr>
          <a:xfrm>
            <a:off x="3429000" y="2057400"/>
            <a:ext cx="310896" cy="310896"/>
          </a:xfrm>
          <a:prstGeom prst="ellipse">
            <a:avLst/>
          </a:prstGeom>
          <a:solidFill>
            <a:srgbClr val="160B35"/>
          </a:solidFill>
          <a:ln w="12700">
            <a:solidFill>
              <a:srgbClr val="AE99F0"/>
            </a:solidFill>
            <a:prstDash val="solid"/>
          </a:ln>
        </p:spPr>
      </p:sp>
      <p:sp>
        <p:nvSpPr>
          <p:cNvPr id="11" name="Text 9"/>
          <p:cNvSpPr txBox="1"/>
          <p:nvPr/>
        </p:nvSpPr>
        <p:spPr>
          <a:xfrm>
            <a:off x="3429000" y="2057400"/>
            <a:ext cx="310896" cy="310896"/>
          </a:xfrm>
          <a:prstGeom prst="rect">
            <a:avLst/>
          </a:prstGeom>
          <a:noFill/>
          <a:ln/>
        </p:spPr>
        <p:txBody>
          <a:bodyPr wrap="square" lIns="0" tIns="0" rIns="0" bIns="0" rtlCol="0" anchor="ctr"/>
          <a:lstStyle/>
          <a:p>
            <a:pPr algn="ctr" indent="0" marL="0">
              <a:buNone/>
            </a:pPr>
            <a:r>
              <a:rPr lang="en-US" sz="1000" b="1" dirty="0">
                <a:solidFill>
                  <a:srgbClr val="AE99F0"/>
                </a:solidFill>
                <a:latin typeface="JetBrains Mono" pitchFamily="34" charset="0"/>
                <a:ea typeface="JetBrains Mono" pitchFamily="34" charset="-122"/>
                <a:cs typeface="JetBrains Mono" pitchFamily="34" charset="-120"/>
              </a:rPr>
              <a:t>02</a:t>
            </a:r>
            <a:endParaRPr lang="en-US" sz="1000" dirty="0"/>
          </a:p>
        </p:txBody>
      </p:sp>
      <p:sp>
        <p:nvSpPr>
          <p:cNvPr id="12" name="Text 10"/>
          <p:cNvSpPr txBox="1"/>
          <p:nvPr/>
        </p:nvSpPr>
        <p:spPr>
          <a:xfrm>
            <a:off x="3429000" y="2606040"/>
            <a:ext cx="2587752" cy="411480"/>
          </a:xfrm>
          <a:prstGeom prst="rect">
            <a:avLst/>
          </a:prstGeom>
          <a:noFill/>
          <a:ln/>
        </p:spPr>
        <p:txBody>
          <a:bodyPr wrap="square" lIns="0" tIns="0" rIns="0" bIns="0" rtlCol="0" anchor="t"/>
          <a:lstStyle/>
          <a:p>
            <a:pPr indent="0" marL="0">
              <a:buNone/>
            </a:pPr>
            <a:r>
              <a:rPr lang="en-US" sz="2000" b="1" dirty="0">
                <a:solidFill>
                  <a:srgbClr val="F3F2F8"/>
                </a:solidFill>
                <a:latin typeface="Manrope" pitchFamily="34" charset="0"/>
                <a:ea typeface="Manrope" pitchFamily="34" charset="-122"/>
                <a:cs typeface="Manrope" pitchFamily="34" charset="-120"/>
              </a:rPr>
              <a:t>Place the order</a:t>
            </a:r>
            <a:endParaRPr lang="en-US" sz="2000" dirty="0"/>
          </a:p>
        </p:txBody>
      </p:sp>
      <p:sp>
        <p:nvSpPr>
          <p:cNvPr id="13" name="Text 11"/>
          <p:cNvSpPr txBox="1"/>
          <p:nvPr/>
        </p:nvSpPr>
        <p:spPr>
          <a:xfrm>
            <a:off x="3429000" y="3154680"/>
            <a:ext cx="2587752" cy="219456"/>
          </a:xfrm>
          <a:prstGeom prst="rect">
            <a:avLst/>
          </a:prstGeom>
          <a:noFill/>
          <a:ln/>
        </p:spPr>
        <p:txBody>
          <a:bodyPr wrap="square" lIns="0" tIns="0" rIns="0" bIns="0" rtlCol="0" anchor="t"/>
          <a:lstStyle/>
          <a:p>
            <a:pPr indent="0" marL="0">
              <a:buNone/>
            </a:pPr>
            <a:r>
              <a:rPr lang="en-US" sz="1000" spc="150" kern="0" dirty="0">
                <a:solidFill>
                  <a:srgbClr val="AE99F0"/>
                </a:solidFill>
                <a:latin typeface="JetBrains Mono" pitchFamily="34" charset="0"/>
                <a:ea typeface="JetBrains Mono" pitchFamily="34" charset="-122"/>
                <a:cs typeface="JetBrains Mono" pitchFamily="34" charset="-120"/>
              </a:rPr>
              <a:t>NOTICE</a:t>
            </a:r>
            <a:endParaRPr lang="en-US" sz="1000" dirty="0"/>
          </a:p>
        </p:txBody>
      </p:sp>
      <p:sp>
        <p:nvSpPr>
          <p:cNvPr id="14" name="Text 12"/>
          <p:cNvSpPr txBox="1"/>
          <p:nvPr/>
        </p:nvSpPr>
        <p:spPr>
          <a:xfrm>
            <a:off x="3429000" y="3429000"/>
            <a:ext cx="2450592" cy="1280160"/>
          </a:xfrm>
          <a:prstGeom prst="rect">
            <a:avLst/>
          </a:prstGeom>
          <a:noFill/>
          <a:ln/>
        </p:spPr>
        <p:txBody>
          <a:bodyPr wrap="square" lIns="0" tIns="0" rIns="0" bIns="0" rtlCol="0" anchor="t"/>
          <a:lstStyle/>
          <a:p>
            <a:pPr indent="0" marL="0">
              <a:lnSpc>
                <a:spcPct val="120000"/>
              </a:lnSpc>
              <a:buNone/>
            </a:pPr>
            <a:r>
              <a:rPr lang="en-US" sz="1400" dirty="0">
                <a:solidFill>
                  <a:srgbClr val="B3A6DC"/>
                </a:solidFill>
                <a:latin typeface="Inter" pitchFamily="34" charset="0"/>
                <a:ea typeface="Inter" pitchFamily="34" charset="-122"/>
                <a:cs typeface="Inter" pitchFamily="34" charset="-120"/>
              </a:rPr>
              <a:t>"Placed" comes back at once: the order is saved and queued before any work begins.</a:t>
            </a:r>
            <a:endParaRPr lang="en-US" sz="1400" dirty="0"/>
          </a:p>
        </p:txBody>
      </p:sp>
      <p:sp>
        <p:nvSpPr>
          <p:cNvPr id="15" name="Shape 13"/>
          <p:cNvSpPr/>
          <p:nvPr/>
        </p:nvSpPr>
        <p:spPr>
          <a:xfrm>
            <a:off x="6172200" y="2057400"/>
            <a:ext cx="310896" cy="310896"/>
          </a:xfrm>
          <a:prstGeom prst="ellipse">
            <a:avLst/>
          </a:prstGeom>
          <a:solidFill>
            <a:srgbClr val="160B35"/>
          </a:solidFill>
          <a:ln w="12700">
            <a:solidFill>
              <a:srgbClr val="AE99F0"/>
            </a:solidFill>
            <a:prstDash val="solid"/>
          </a:ln>
        </p:spPr>
      </p:sp>
      <p:sp>
        <p:nvSpPr>
          <p:cNvPr id="16" name="Text 14"/>
          <p:cNvSpPr txBox="1"/>
          <p:nvPr/>
        </p:nvSpPr>
        <p:spPr>
          <a:xfrm>
            <a:off x="6172200" y="2057400"/>
            <a:ext cx="310896" cy="310896"/>
          </a:xfrm>
          <a:prstGeom prst="rect">
            <a:avLst/>
          </a:prstGeom>
          <a:noFill/>
          <a:ln/>
        </p:spPr>
        <p:txBody>
          <a:bodyPr wrap="square" lIns="0" tIns="0" rIns="0" bIns="0" rtlCol="0" anchor="ctr"/>
          <a:lstStyle/>
          <a:p>
            <a:pPr algn="ctr" indent="0" marL="0">
              <a:buNone/>
            </a:pPr>
            <a:r>
              <a:rPr lang="en-US" sz="1000" b="1" dirty="0">
                <a:solidFill>
                  <a:srgbClr val="AE99F0"/>
                </a:solidFill>
                <a:latin typeface="JetBrains Mono" pitchFamily="34" charset="0"/>
                <a:ea typeface="JetBrains Mono" pitchFamily="34" charset="-122"/>
                <a:cs typeface="JetBrains Mono" pitchFamily="34" charset="-120"/>
              </a:rPr>
              <a:t>03</a:t>
            </a:r>
            <a:endParaRPr lang="en-US" sz="1000" dirty="0"/>
          </a:p>
        </p:txBody>
      </p:sp>
      <p:sp>
        <p:nvSpPr>
          <p:cNvPr id="17" name="Text 15"/>
          <p:cNvSpPr txBox="1"/>
          <p:nvPr/>
        </p:nvSpPr>
        <p:spPr>
          <a:xfrm>
            <a:off x="6172200" y="2606040"/>
            <a:ext cx="2587752" cy="411480"/>
          </a:xfrm>
          <a:prstGeom prst="rect">
            <a:avLst/>
          </a:prstGeom>
          <a:noFill/>
          <a:ln/>
        </p:spPr>
        <p:txBody>
          <a:bodyPr wrap="square" lIns="0" tIns="0" rIns="0" bIns="0" rtlCol="0" anchor="t"/>
          <a:lstStyle/>
          <a:p>
            <a:pPr indent="0" marL="0">
              <a:buNone/>
            </a:pPr>
            <a:r>
              <a:rPr lang="en-US" sz="2000" b="1" dirty="0">
                <a:solidFill>
                  <a:srgbClr val="F3F2F8"/>
                </a:solidFill>
                <a:latin typeface="Manrope" pitchFamily="34" charset="0"/>
                <a:ea typeface="Manrope" pitchFamily="34" charset="-122"/>
                <a:cs typeface="Manrope" pitchFamily="34" charset="-120"/>
              </a:rPr>
              <a:t>Wait a few seconds</a:t>
            </a:r>
            <a:endParaRPr lang="en-US" sz="2000" dirty="0"/>
          </a:p>
        </p:txBody>
      </p:sp>
      <p:sp>
        <p:nvSpPr>
          <p:cNvPr id="18" name="Text 16"/>
          <p:cNvSpPr txBox="1"/>
          <p:nvPr/>
        </p:nvSpPr>
        <p:spPr>
          <a:xfrm>
            <a:off x="6172200" y="3154680"/>
            <a:ext cx="2587752" cy="219456"/>
          </a:xfrm>
          <a:prstGeom prst="rect">
            <a:avLst/>
          </a:prstGeom>
          <a:noFill/>
          <a:ln/>
        </p:spPr>
        <p:txBody>
          <a:bodyPr wrap="square" lIns="0" tIns="0" rIns="0" bIns="0" rtlCol="0" anchor="t"/>
          <a:lstStyle/>
          <a:p>
            <a:pPr indent="0" marL="0">
              <a:buNone/>
            </a:pPr>
            <a:r>
              <a:rPr lang="en-US" sz="1000" spc="150" kern="0" dirty="0">
                <a:solidFill>
                  <a:srgbClr val="AE99F0"/>
                </a:solidFill>
                <a:latin typeface="JetBrains Mono" pitchFamily="34" charset="0"/>
                <a:ea typeface="JetBrains Mono" pitchFamily="34" charset="-122"/>
                <a:cs typeface="JetBrains Mono" pitchFamily="34" charset="-120"/>
              </a:rPr>
              <a:t>NOTICE</a:t>
            </a:r>
            <a:endParaRPr lang="en-US" sz="1000" dirty="0"/>
          </a:p>
        </p:txBody>
      </p:sp>
      <p:sp>
        <p:nvSpPr>
          <p:cNvPr id="19" name="Text 17"/>
          <p:cNvSpPr txBox="1"/>
          <p:nvPr/>
        </p:nvSpPr>
        <p:spPr>
          <a:xfrm>
            <a:off x="6172200" y="3429000"/>
            <a:ext cx="2450592" cy="1280160"/>
          </a:xfrm>
          <a:prstGeom prst="rect">
            <a:avLst/>
          </a:prstGeom>
          <a:noFill/>
          <a:ln/>
        </p:spPr>
        <p:txBody>
          <a:bodyPr wrap="square" lIns="0" tIns="0" rIns="0" bIns="0" rtlCol="0" anchor="t"/>
          <a:lstStyle/>
          <a:p>
            <a:pPr indent="0" marL="0">
              <a:lnSpc>
                <a:spcPct val="120000"/>
              </a:lnSpc>
              <a:buNone/>
            </a:pPr>
            <a:r>
              <a:rPr lang="en-US" sz="1400" dirty="0">
                <a:solidFill>
                  <a:srgbClr val="B3A6DC"/>
                </a:solidFill>
                <a:latin typeface="Inter" pitchFamily="34" charset="0"/>
                <a:ea typeface="Inter" pitchFamily="34" charset="-122"/>
                <a:cs typeface="Inter" pitchFamily="34" charset="-120"/>
              </a:rPr>
              <a:t>It turns "Confirmed" by itself: a background worker reserved the stock and took the payment.</a:t>
            </a:r>
            <a:endParaRPr lang="en-US" sz="1400" dirty="0"/>
          </a:p>
        </p:txBody>
      </p:sp>
      <p:sp>
        <p:nvSpPr>
          <p:cNvPr id="20" name="Shape 18"/>
          <p:cNvSpPr/>
          <p:nvPr/>
        </p:nvSpPr>
        <p:spPr>
          <a:xfrm>
            <a:off x="8915400" y="2057400"/>
            <a:ext cx="310896" cy="310896"/>
          </a:xfrm>
          <a:prstGeom prst="ellipse">
            <a:avLst/>
          </a:prstGeom>
          <a:solidFill>
            <a:srgbClr val="AE99F0"/>
          </a:solidFill>
          <a:ln w="12700">
            <a:solidFill>
              <a:srgbClr val="AE99F0"/>
            </a:solidFill>
            <a:prstDash val="solid"/>
          </a:ln>
        </p:spPr>
      </p:sp>
      <p:sp>
        <p:nvSpPr>
          <p:cNvPr id="21" name="Text 19"/>
          <p:cNvSpPr txBox="1"/>
          <p:nvPr/>
        </p:nvSpPr>
        <p:spPr>
          <a:xfrm>
            <a:off x="8915400" y="2057400"/>
            <a:ext cx="310896" cy="310896"/>
          </a:xfrm>
          <a:prstGeom prst="rect">
            <a:avLst/>
          </a:prstGeom>
          <a:noFill/>
          <a:ln/>
        </p:spPr>
        <p:txBody>
          <a:bodyPr wrap="square" lIns="0" tIns="0" rIns="0" bIns="0" rtlCol="0" anchor="ctr"/>
          <a:lstStyle/>
          <a:p>
            <a:pPr algn="ctr" indent="0" marL="0">
              <a:buNone/>
            </a:pPr>
            <a:r>
              <a:rPr lang="en-US" sz="1000" b="1" dirty="0">
                <a:solidFill>
                  <a:srgbClr val="160B35"/>
                </a:solidFill>
                <a:latin typeface="JetBrains Mono" pitchFamily="34" charset="0"/>
                <a:ea typeface="JetBrains Mono" pitchFamily="34" charset="-122"/>
                <a:cs typeface="JetBrains Mono" pitchFamily="34" charset="-120"/>
              </a:rPr>
              <a:t>04</a:t>
            </a:r>
            <a:endParaRPr lang="en-US" sz="1000" dirty="0"/>
          </a:p>
        </p:txBody>
      </p:sp>
      <p:sp>
        <p:nvSpPr>
          <p:cNvPr id="22" name="Text 20"/>
          <p:cNvSpPr txBox="1"/>
          <p:nvPr/>
        </p:nvSpPr>
        <p:spPr>
          <a:xfrm>
            <a:off x="8915400" y="2606040"/>
            <a:ext cx="2587752" cy="411480"/>
          </a:xfrm>
          <a:prstGeom prst="rect">
            <a:avLst/>
          </a:prstGeom>
          <a:noFill/>
          <a:ln/>
        </p:spPr>
        <p:txBody>
          <a:bodyPr wrap="square" lIns="0" tIns="0" rIns="0" bIns="0" rtlCol="0" anchor="t"/>
          <a:lstStyle/>
          <a:p>
            <a:pPr indent="0" marL="0">
              <a:buNone/>
            </a:pPr>
            <a:r>
              <a:rPr lang="en-US" sz="2000" b="1" dirty="0">
                <a:solidFill>
                  <a:srgbClr val="F3F2F8"/>
                </a:solidFill>
                <a:latin typeface="Manrope" pitchFamily="34" charset="0"/>
                <a:ea typeface="Manrope" pitchFamily="34" charset="-122"/>
                <a:cs typeface="Manrope" pitchFamily="34" charset="-120"/>
              </a:rPr>
              <a:t>Ship it</a:t>
            </a:r>
            <a:endParaRPr lang="en-US" sz="2000" dirty="0"/>
          </a:p>
        </p:txBody>
      </p:sp>
      <p:sp>
        <p:nvSpPr>
          <p:cNvPr id="23" name="Text 21"/>
          <p:cNvSpPr txBox="1"/>
          <p:nvPr/>
        </p:nvSpPr>
        <p:spPr>
          <a:xfrm>
            <a:off x="8915400" y="3154680"/>
            <a:ext cx="2587752" cy="219456"/>
          </a:xfrm>
          <a:prstGeom prst="rect">
            <a:avLst/>
          </a:prstGeom>
          <a:noFill/>
          <a:ln/>
        </p:spPr>
        <p:txBody>
          <a:bodyPr wrap="square" lIns="0" tIns="0" rIns="0" bIns="0" rtlCol="0" anchor="t"/>
          <a:lstStyle/>
          <a:p>
            <a:pPr indent="0" marL="0">
              <a:buNone/>
            </a:pPr>
            <a:r>
              <a:rPr lang="en-US" sz="1000" spc="150" kern="0" dirty="0">
                <a:solidFill>
                  <a:srgbClr val="AE99F0"/>
                </a:solidFill>
                <a:latin typeface="JetBrains Mono" pitchFamily="34" charset="0"/>
                <a:ea typeface="JetBrains Mono" pitchFamily="34" charset="-122"/>
                <a:cs typeface="JetBrains Mono" pitchFamily="34" charset="-120"/>
              </a:rPr>
              <a:t>NOTICE</a:t>
            </a:r>
            <a:endParaRPr lang="en-US" sz="1000" dirty="0"/>
          </a:p>
        </p:txBody>
      </p:sp>
      <p:sp>
        <p:nvSpPr>
          <p:cNvPr id="24" name="Text 22"/>
          <p:cNvSpPr txBox="1"/>
          <p:nvPr/>
        </p:nvSpPr>
        <p:spPr>
          <a:xfrm>
            <a:off x="8915400" y="3429000"/>
            <a:ext cx="2450592" cy="1280160"/>
          </a:xfrm>
          <a:prstGeom prst="rect">
            <a:avLst/>
          </a:prstGeom>
          <a:noFill/>
          <a:ln/>
        </p:spPr>
        <p:txBody>
          <a:bodyPr wrap="square" lIns="0" tIns="0" rIns="0" bIns="0" rtlCol="0" anchor="t"/>
          <a:lstStyle/>
          <a:p>
            <a:pPr indent="0" marL="0">
              <a:lnSpc>
                <a:spcPct val="120000"/>
              </a:lnSpc>
              <a:buNone/>
            </a:pPr>
            <a:r>
              <a:rPr lang="en-US" sz="1400" dirty="0">
                <a:solidFill>
                  <a:srgbClr val="B3A6DC"/>
                </a:solidFill>
                <a:latin typeface="Inter" pitchFamily="34" charset="0"/>
                <a:ea typeface="Inter" pitchFamily="34" charset="-122"/>
                <a:cs typeface="Inter" pitchFamily="34" charset="-120"/>
              </a:rPr>
              <a:t>Shipment, tracking number and emails appear, and each is created once.</a:t>
            </a:r>
            <a:endParaRPr lang="en-US" sz="1400" dirty="0"/>
          </a:p>
        </p:txBody>
      </p:sp>
      <p:sp>
        <p:nvSpPr>
          <p:cNvPr id="25" name="Shape 23"/>
          <p:cNvSpPr/>
          <p:nvPr/>
        </p:nvSpPr>
        <p:spPr>
          <a:xfrm>
            <a:off x="685800" y="5074920"/>
            <a:ext cx="10820095" cy="685800"/>
          </a:xfrm>
          <a:prstGeom prst="rect">
            <a:avLst/>
          </a:prstGeom>
          <a:solidFill>
            <a:srgbClr val="1F1346"/>
          </a:solidFill>
          <a:ln w="9525">
            <a:solidFill>
              <a:srgbClr val="4E4180"/>
            </a:solidFill>
            <a:prstDash val="solid"/>
          </a:ln>
        </p:spPr>
      </p:sp>
      <p:sp>
        <p:nvSpPr>
          <p:cNvPr id="26" name="Text 24"/>
          <p:cNvSpPr txBox="1"/>
          <p:nvPr/>
        </p:nvSpPr>
        <p:spPr>
          <a:xfrm>
            <a:off x="960120" y="5074920"/>
            <a:ext cx="10271455" cy="685800"/>
          </a:xfrm>
          <a:prstGeom prst="rect">
            <a:avLst/>
          </a:prstGeom>
          <a:noFill/>
          <a:ln/>
        </p:spPr>
        <p:txBody>
          <a:bodyPr wrap="square" lIns="0" tIns="0" rIns="0" bIns="0" rtlCol="0" anchor="ctr"/>
          <a:lstStyle/>
          <a:p>
            <a:pPr indent="0" marL="0">
              <a:buNone/>
            </a:pPr>
            <a:r>
              <a:rPr lang="en-US" sz="1100" b="1" dirty="0">
                <a:solidFill>
                  <a:srgbClr val="AE99F0"/>
                </a:solidFill>
                <a:latin typeface="JetBrains Mono" pitchFamily="34" charset="0"/>
                <a:ea typeface="JetBrains Mono" pitchFamily="34" charset="-122"/>
                <a:cs typeface="JetBrains Mono" pitchFamily="34" charset="-120"/>
              </a:rPr>
              <a:t>LIVE  </a:t>
            </a:r>
            <a:pPr indent="0" marL="0">
              <a:buNone/>
            </a:pPr>
            <a:r>
              <a:rPr lang="en-US" sz="1100" dirty="0">
                <a:solidFill>
                  <a:srgbClr val="F3F2F8"/>
                </a:solidFill>
                <a:latin typeface="JetBrains Mono" pitchFamily="34" charset="0"/>
                <a:ea typeface="JetBrains Mono" pitchFamily="34" charset="-122"/>
                <a:cs typeface="JetBrains Mono" pitchFamily="34" charset="-120"/>
              </a:rPr>
              <a:t>dashboard.dev.eksv2.naimaosmann.com</a:t>
            </a:r>
            <a:pPr indent="0" marL="0">
              <a:buNone/>
            </a:pPr>
            <a:r>
              <a:rPr lang="en-US" sz="1100" b="1" dirty="0">
                <a:solidFill>
                  <a:srgbClr val="AE99F0"/>
                </a:solidFill>
                <a:latin typeface="JetBrains Mono" pitchFamily="34" charset="0"/>
                <a:ea typeface="JetBrains Mono" pitchFamily="34" charset="-122"/>
                <a:cs typeface="JetBrains Mono" pitchFamily="34" charset="-120"/>
              </a:rPr>
              <a:t>      IF DEV IS DOWN  </a:t>
            </a:r>
            <a:pPr indent="0" marL="0">
              <a:buNone/>
            </a:pPr>
            <a:r>
              <a:rPr lang="en-US" sz="1100" dirty="0">
                <a:solidFill>
                  <a:srgbClr val="B3A6DC"/>
                </a:solidFill>
                <a:latin typeface="JetBrains Mono" pitchFamily="34" charset="0"/>
                <a:ea typeface="JetBrains Mono" pitchFamily="34" charset="-122"/>
                <a:cs typeface="JetBrains Mono" pitchFamily="34" charset="-120"/>
              </a:rPr>
              <a:t>slides 6 and 7 show the same journey from this build</a:t>
            </a:r>
            <a:endParaRPr lang="en-US" sz="11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3F2F8"/>
                </a:solidFill>
                <a:latin typeface="JetBrains Mono"/>
                <a:ea typeface="JetBrains Mono"/>
                <a:cs typeface="JetBrains Mono"/>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  ·  THE DEMO, FRAME BY FRAME</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Answered at once, confirmed seconds later</a:t>
            </a:r>
            <a:endParaRPr lang="en-US" sz="3000" dirty="0"/>
          </a:p>
        </p:txBody>
      </p:sp>
      <p:sp>
        <p:nvSpPr>
          <p:cNvPr id="4" name="Shape 2"/>
          <p:cNvSpPr/>
          <p:nvPr/>
        </p:nvSpPr>
        <p:spPr>
          <a:xfrm>
            <a:off x="685800" y="1700784"/>
            <a:ext cx="256032" cy="256032"/>
          </a:xfrm>
          <a:prstGeom prst="ellipse">
            <a:avLst/>
          </a:prstGeom>
          <a:solidFill>
            <a:srgbClr val="6C00FF"/>
          </a:solidFill>
          <a:ln/>
        </p:spPr>
      </p:sp>
      <p:sp>
        <p:nvSpPr>
          <p:cNvPr id="5" name="Text 3"/>
          <p:cNvSpPr txBox="1"/>
          <p:nvPr/>
        </p:nvSpPr>
        <p:spPr>
          <a:xfrm>
            <a:off x="685800" y="1700784"/>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JetBrains Mono" pitchFamily="34" charset="0"/>
                <a:ea typeface="JetBrains Mono" pitchFamily="34" charset="-122"/>
                <a:cs typeface="JetBrains Mono" pitchFamily="34" charset="-120"/>
              </a:rPr>
              <a:t>1</a:t>
            </a:r>
            <a:endParaRPr lang="en-US" sz="950" dirty="0"/>
          </a:p>
        </p:txBody>
      </p:sp>
      <p:sp>
        <p:nvSpPr>
          <p:cNvPr id="6" name="Text 4"/>
          <p:cNvSpPr txBox="1"/>
          <p:nvPr/>
        </p:nvSpPr>
        <p:spPr>
          <a:xfrm>
            <a:off x="1033272" y="1719072"/>
            <a:ext cx="347472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MOMENT OF THE CLICK</a:t>
            </a:r>
            <a:endParaRPr lang="en-US" sz="1000" dirty="0"/>
          </a:p>
        </p:txBody>
      </p:sp>
      <p:pic>
        <p:nvPicPr>
          <p:cNvPr id="7" name="Image 0" descr="Order 3 placed, status placed, queued for the fulfilment worker">    </p:cNvPr>
          <p:cNvPicPr>
            <a:picLocks noChangeAspect="1"/>
          </p:cNvPicPr>
          <p:nvPr/>
        </p:nvPicPr>
        <p:blipFill>
          <a:blip r:embed="rId1"/>
          <a:stretch>
            <a:fillRect/>
          </a:stretch>
        </p:blipFill>
        <p:spPr>
          <a:xfrm>
            <a:off x="685800" y="2057400"/>
            <a:ext cx="3474720" cy="3720257"/>
          </a:xfrm>
          <a:prstGeom prst="rect">
            <a:avLst/>
          </a:prstGeom>
        </p:spPr>
      </p:pic>
      <p:sp>
        <p:nvSpPr>
          <p:cNvPr id="8" name="Shape 5"/>
          <p:cNvSpPr/>
          <p:nvPr/>
        </p:nvSpPr>
        <p:spPr>
          <a:xfrm>
            <a:off x="685800" y="2057400"/>
            <a:ext cx="3474720" cy="3720257"/>
          </a:xfrm>
          <a:prstGeom prst="rect">
            <a:avLst/>
          </a:prstGeom>
          <a:ln w="9525">
            <a:solidFill>
              <a:srgbClr val="C2C3C5"/>
            </a:solidFill>
            <a:prstDash val="solid"/>
          </a:ln>
        </p:spPr>
      </p:sp>
      <p:sp>
        <p:nvSpPr>
          <p:cNvPr id="9" name="Shape 6"/>
          <p:cNvSpPr/>
          <p:nvPr/>
        </p:nvSpPr>
        <p:spPr>
          <a:xfrm>
            <a:off x="4434840" y="1700784"/>
            <a:ext cx="256032" cy="256032"/>
          </a:xfrm>
          <a:prstGeom prst="ellipse">
            <a:avLst/>
          </a:prstGeom>
          <a:solidFill>
            <a:srgbClr val="6C00FF"/>
          </a:solidFill>
          <a:ln/>
        </p:spPr>
      </p:sp>
      <p:sp>
        <p:nvSpPr>
          <p:cNvPr id="10" name="Text 7"/>
          <p:cNvSpPr txBox="1"/>
          <p:nvPr/>
        </p:nvSpPr>
        <p:spPr>
          <a:xfrm>
            <a:off x="4434840" y="1700784"/>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JetBrains Mono" pitchFamily="34" charset="0"/>
                <a:ea typeface="JetBrains Mono" pitchFamily="34" charset="-122"/>
                <a:cs typeface="JetBrains Mono" pitchFamily="34" charset="-120"/>
              </a:rPr>
              <a:t>2</a:t>
            </a:r>
            <a:endParaRPr lang="en-US" sz="950" dirty="0"/>
          </a:p>
        </p:txBody>
      </p:sp>
      <p:sp>
        <p:nvSpPr>
          <p:cNvPr id="11" name="Text 8"/>
          <p:cNvSpPr txBox="1"/>
          <p:nvPr/>
        </p:nvSpPr>
        <p:spPr>
          <a:xfrm>
            <a:off x="4782312" y="1719072"/>
            <a:ext cx="347472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SECONDS LATER, NO CLICK</a:t>
            </a:r>
            <a:endParaRPr lang="en-US" sz="1000" dirty="0"/>
          </a:p>
        </p:txBody>
      </p:sp>
      <p:pic>
        <p:nvPicPr>
          <p:cNvPr id="12" name="Image 1" descr="Order 3 confirmed: stock reserved and payment taken">    </p:cNvPr>
          <p:cNvPicPr>
            <a:picLocks noChangeAspect="1"/>
          </p:cNvPicPr>
          <p:nvPr/>
        </p:nvPicPr>
        <p:blipFill>
          <a:blip r:embed="rId2"/>
          <a:stretch>
            <a:fillRect/>
          </a:stretch>
        </p:blipFill>
        <p:spPr>
          <a:xfrm>
            <a:off x="4434840" y="2057400"/>
            <a:ext cx="3474720" cy="3720257"/>
          </a:xfrm>
          <a:prstGeom prst="rect">
            <a:avLst/>
          </a:prstGeom>
        </p:spPr>
      </p:pic>
      <p:sp>
        <p:nvSpPr>
          <p:cNvPr id="13" name="Shape 9"/>
          <p:cNvSpPr/>
          <p:nvPr/>
        </p:nvSpPr>
        <p:spPr>
          <a:xfrm>
            <a:off x="4434840" y="2057400"/>
            <a:ext cx="3474720" cy="3720257"/>
          </a:xfrm>
          <a:prstGeom prst="rect">
            <a:avLst/>
          </a:prstGeom>
          <a:ln w="9525">
            <a:solidFill>
              <a:srgbClr val="C2C3C5"/>
            </a:solidFill>
            <a:prstDash val="solid"/>
          </a:ln>
        </p:spPr>
      </p:sp>
      <p:sp>
        <p:nvSpPr>
          <p:cNvPr id="14" name="Shape 10"/>
          <p:cNvSpPr/>
          <p:nvPr/>
        </p:nvSpPr>
        <p:spPr>
          <a:xfrm>
            <a:off x="8321040" y="2057400"/>
            <a:ext cx="274320" cy="274320"/>
          </a:xfrm>
          <a:prstGeom prst="ellipse">
            <a:avLst/>
          </a:prstGeom>
          <a:solidFill>
            <a:srgbClr val="6C00FF"/>
          </a:solidFill>
          <a:ln/>
        </p:spPr>
      </p:sp>
      <p:sp>
        <p:nvSpPr>
          <p:cNvPr id="15" name="Text 11"/>
          <p:cNvSpPr txBox="1"/>
          <p:nvPr/>
        </p:nvSpPr>
        <p:spPr>
          <a:xfrm>
            <a:off x="8321040" y="20574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1</a:t>
            </a:r>
            <a:endParaRPr lang="en-US" sz="1000" dirty="0"/>
          </a:p>
        </p:txBody>
      </p:sp>
      <p:sp>
        <p:nvSpPr>
          <p:cNvPr id="16" name="Text 12"/>
          <p:cNvSpPr txBox="1"/>
          <p:nvPr/>
        </p:nvSpPr>
        <p:spPr>
          <a:xfrm>
            <a:off x="8732520" y="2039112"/>
            <a:ext cx="2773375" cy="1143000"/>
          </a:xfrm>
          <a:prstGeom prst="rect">
            <a:avLst/>
          </a:prstGeom>
          <a:noFill/>
          <a:ln/>
        </p:spPr>
        <p:txBody>
          <a:bodyPr wrap="square" lIns="0" tIns="0" rIns="0" bIns="0" rtlCol="0" anchor="t"/>
          <a:lstStyle/>
          <a:p>
            <a:pPr indent="0" marL="0">
              <a:lnSpc>
                <a:spcPct val="115000"/>
              </a:lnSpc>
              <a:spcAft>
                <a:spcPts val="400"/>
              </a:spcAft>
              <a:buNone/>
            </a:pPr>
            <a:r>
              <a:rPr lang="en-US" sz="1400" b="1" dirty="0">
                <a:solidFill>
                  <a:srgbClr val="242E46"/>
                </a:solidFill>
                <a:latin typeface="Inter" pitchFamily="34" charset="0"/>
                <a:ea typeface="Inter" pitchFamily="34" charset="-122"/>
                <a:cs typeface="Inter" pitchFamily="34" charset="-120"/>
              </a:rPr>
              <a:t>Placed is the API's 201 reply.</a:t>
            </a:r>
            <a:endParaRPr lang="en-US" sz="1400" dirty="0"/>
          </a:p>
          <a:p>
            <a:pPr indent="0" marL="0">
              <a:lnSpc>
                <a:spcPct val="115000"/>
              </a:lnSpc>
              <a:spcAft>
                <a:spcPts val="400"/>
              </a:spcAft>
              <a:buNone/>
            </a:pPr>
            <a:r>
              <a:rPr lang="en-US" sz="1250" dirty="0">
                <a:solidFill>
                  <a:srgbClr val="4A5470"/>
                </a:solidFill>
                <a:latin typeface="Inter" pitchFamily="34" charset="0"/>
                <a:ea typeface="Inter" pitchFamily="34" charset="-122"/>
                <a:cs typeface="Inter" pitchFamily="34" charset="-120"/>
              </a:rPr>
              <a:t>The order, its history row and its event were saved together. Nothing has been processed yet.</a:t>
            </a:r>
            <a:endParaRPr lang="en-US" sz="1400" dirty="0"/>
          </a:p>
        </p:txBody>
      </p:sp>
      <p:sp>
        <p:nvSpPr>
          <p:cNvPr id="17" name="Shape 13"/>
          <p:cNvSpPr/>
          <p:nvPr/>
        </p:nvSpPr>
        <p:spPr>
          <a:xfrm>
            <a:off x="8321040" y="3319272"/>
            <a:ext cx="274320" cy="274320"/>
          </a:xfrm>
          <a:prstGeom prst="ellipse">
            <a:avLst/>
          </a:prstGeom>
          <a:solidFill>
            <a:srgbClr val="6C00FF"/>
          </a:solidFill>
          <a:ln/>
        </p:spPr>
      </p:sp>
      <p:sp>
        <p:nvSpPr>
          <p:cNvPr id="18" name="Text 14"/>
          <p:cNvSpPr txBox="1"/>
          <p:nvPr/>
        </p:nvSpPr>
        <p:spPr>
          <a:xfrm>
            <a:off x="8321040" y="331927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2</a:t>
            </a:r>
            <a:endParaRPr lang="en-US" sz="1000" dirty="0"/>
          </a:p>
        </p:txBody>
      </p:sp>
      <p:sp>
        <p:nvSpPr>
          <p:cNvPr id="19" name="Text 15"/>
          <p:cNvSpPr txBox="1"/>
          <p:nvPr/>
        </p:nvSpPr>
        <p:spPr>
          <a:xfrm>
            <a:off x="8732520" y="3300984"/>
            <a:ext cx="2773375" cy="1143000"/>
          </a:xfrm>
          <a:prstGeom prst="rect">
            <a:avLst/>
          </a:prstGeom>
          <a:noFill/>
          <a:ln/>
        </p:spPr>
        <p:txBody>
          <a:bodyPr wrap="square" lIns="0" tIns="0" rIns="0" bIns="0" rtlCol="0" anchor="t"/>
          <a:lstStyle/>
          <a:p>
            <a:pPr indent="0" marL="0">
              <a:lnSpc>
                <a:spcPct val="115000"/>
              </a:lnSpc>
              <a:spcAft>
                <a:spcPts val="400"/>
              </a:spcAft>
              <a:buNone/>
            </a:pPr>
            <a:r>
              <a:rPr lang="en-US" sz="1400" b="1" dirty="0">
                <a:solidFill>
                  <a:srgbClr val="242E46"/>
                </a:solidFill>
                <a:latin typeface="Inter" pitchFamily="34" charset="0"/>
                <a:ea typeface="Inter" pitchFamily="34" charset="-122"/>
                <a:cs typeface="Inter" pitchFamily="34" charset="-120"/>
              </a:rPr>
              <a:t>Nobody pressed confirm.</a:t>
            </a:r>
            <a:endParaRPr lang="en-US" sz="1400" dirty="0"/>
          </a:p>
          <a:p>
            <a:pPr indent="0" marL="0">
              <a:lnSpc>
                <a:spcPct val="115000"/>
              </a:lnSpc>
              <a:spcAft>
                <a:spcPts val="400"/>
              </a:spcAft>
              <a:buNone/>
            </a:pPr>
            <a:r>
              <a:rPr lang="en-US" sz="1250" dirty="0">
                <a:solidFill>
                  <a:srgbClr val="4A5470"/>
                </a:solidFill>
                <a:latin typeface="Inter" pitchFamily="34" charset="0"/>
                <a:ea typeface="Inter" pitchFamily="34" charset="-122"/>
                <a:cs typeface="Inter" pitchFamily="34" charset="-120"/>
              </a:rPr>
              <a:t>The worker read the event from SQS, reserved stock, charged the card and confirmed the order.</a:t>
            </a:r>
            <a:endParaRPr lang="en-US" sz="1400" dirty="0"/>
          </a:p>
        </p:txBody>
      </p:sp>
      <p:sp>
        <p:nvSpPr>
          <p:cNvPr id="20" name="Shape 16"/>
          <p:cNvSpPr/>
          <p:nvPr/>
        </p:nvSpPr>
        <p:spPr>
          <a:xfrm>
            <a:off x="8394192" y="4654296"/>
            <a:ext cx="128016" cy="128016"/>
          </a:xfrm>
          <a:prstGeom prst="ellipse">
            <a:avLst/>
          </a:prstGeom>
          <a:solidFill>
            <a:srgbClr val="242E46"/>
          </a:solidFill>
          <a:ln/>
        </p:spPr>
      </p:sp>
      <p:sp>
        <p:nvSpPr>
          <p:cNvPr id="21" name="Text 17"/>
          <p:cNvSpPr txBox="1"/>
          <p:nvPr/>
        </p:nvSpPr>
        <p:spPr>
          <a:xfrm>
            <a:off x="8732520" y="4562856"/>
            <a:ext cx="2773375" cy="1143000"/>
          </a:xfrm>
          <a:prstGeom prst="rect">
            <a:avLst/>
          </a:prstGeom>
          <a:noFill/>
          <a:ln/>
        </p:spPr>
        <p:txBody>
          <a:bodyPr wrap="square" lIns="0" tIns="0" rIns="0" bIns="0" rtlCol="0" anchor="t"/>
          <a:lstStyle/>
          <a:p>
            <a:pPr indent="0" marL="0">
              <a:lnSpc>
                <a:spcPct val="115000"/>
              </a:lnSpc>
              <a:spcAft>
                <a:spcPts val="400"/>
              </a:spcAft>
              <a:buNone/>
            </a:pPr>
            <a:r>
              <a:rPr lang="en-US" sz="1400" b="1" dirty="0">
                <a:solidFill>
                  <a:srgbClr val="242E46"/>
                </a:solidFill>
                <a:latin typeface="Inter" pitchFamily="34" charset="0"/>
                <a:ea typeface="Inter" pitchFamily="34" charset="-122"/>
                <a:cs typeface="Inter" pitchFamily="34" charset="-120"/>
              </a:rPr>
              <a:t>Stock leaves the shelf last.</a:t>
            </a:r>
            <a:endParaRPr lang="en-US" sz="1400" dirty="0"/>
          </a:p>
          <a:p>
            <a:pPr indent="0" marL="0">
              <a:lnSpc>
                <a:spcPct val="115000"/>
              </a:lnSpc>
              <a:spcAft>
                <a:spcPts val="400"/>
              </a:spcAft>
              <a:buNone/>
            </a:pPr>
            <a:r>
              <a:rPr lang="en-US" sz="1250" dirty="0">
                <a:solidFill>
                  <a:srgbClr val="4A5470"/>
                </a:solidFill>
                <a:latin typeface="Inter" pitchFamily="34" charset="0"/>
                <a:ea typeface="Inter" pitchFamily="34" charset="-122"/>
                <a:cs typeface="Inter" pitchFamily="34" charset="-120"/>
              </a:rPr>
              <a:t>It is committed only after the charge succeeds, so a declined card never takes stock.</a:t>
            </a:r>
            <a:endParaRPr lang="en-US" sz="1400" dirty="0"/>
          </a:p>
        </p:txBody>
      </p:sp>
      <p:sp>
        <p:nvSpPr>
          <p:cNvPr id="22" name="Text 18"/>
          <p:cNvSpPr txBox="1"/>
          <p:nvPr/>
        </p:nvSpPr>
        <p:spPr>
          <a:xfrm>
            <a:off x="685800" y="5916168"/>
            <a:ext cx="10820095" cy="228600"/>
          </a:xfrm>
          <a:prstGeom prst="rect">
            <a:avLst/>
          </a:prstGeom>
          <a:noFill/>
          <a:ln/>
        </p:spPr>
        <p:txBody>
          <a:bodyPr wrap="square" lIns="0" tIns="0" rIns="0" bIns="0" rtlCol="0" anchor="t"/>
          <a:lstStyle/>
          <a:p>
            <a:pPr indent="0" marL="0">
              <a:buNone/>
            </a:pPr>
            <a:r>
              <a:rPr lang="en-US" sz="1000" spc="100" kern="0" dirty="0">
                <a:solidFill>
                  <a:srgbClr val="5B6480"/>
                </a:solidFill>
                <a:latin typeface="JetBrains Mono" pitchFamily="34" charset="0"/>
                <a:ea typeface="JetBrains Mono" pitchFamily="34" charset="-122"/>
                <a:cs typeface="JetBrains Mono" pitchFamily="34" charset="-120"/>
              </a:rPr>
              <a:t>ORDER #3, CURRENT BUILD RUN LOCALLY ON 13 OCT. A LIVE ORDER WILL HAVE ANOTHER NUMBER.</a:t>
            </a:r>
            <a:endParaRPr lang="en-US" sz="10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  ·  THE DEMO, FRAME BY FRAME</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Every later step is visible, and happens once</a:t>
            </a:r>
            <a:endParaRPr lang="en-US" sz="3000" dirty="0"/>
          </a:p>
        </p:txBody>
      </p:sp>
      <p:pic>
        <p:nvPicPr>
          <p:cNvPr id="4" name="Image 0" descr="Order 3 timeline: placed, confirmed, processing, shipped">    </p:cNvPr>
          <p:cNvPicPr>
            <a:picLocks noChangeAspect="1"/>
          </p:cNvPicPr>
          <p:nvPr/>
        </p:nvPicPr>
        <p:blipFill>
          <a:blip r:embed="rId1"/>
          <a:stretch>
            <a:fillRect/>
          </a:stretch>
        </p:blipFill>
        <p:spPr>
          <a:xfrm>
            <a:off x="685800" y="1783080"/>
            <a:ext cx="4069080" cy="3501790"/>
          </a:xfrm>
          <a:prstGeom prst="rect">
            <a:avLst/>
          </a:prstGeom>
        </p:spPr>
      </p:pic>
      <p:sp>
        <p:nvSpPr>
          <p:cNvPr id="5" name="Shape 2"/>
          <p:cNvSpPr/>
          <p:nvPr/>
        </p:nvSpPr>
        <p:spPr>
          <a:xfrm>
            <a:off x="685800" y="1783080"/>
            <a:ext cx="4069080" cy="3501790"/>
          </a:xfrm>
          <a:prstGeom prst="rect">
            <a:avLst/>
          </a:prstGeom>
          <a:ln w="9525">
            <a:solidFill>
              <a:srgbClr val="C2C3C5"/>
            </a:solidFill>
            <a:prstDash val="solid"/>
          </a:ln>
        </p:spPr>
      </p:sp>
      <p:pic>
        <p:nvPicPr>
          <p:cNvPr id="6" name="Image 1" descr="Shipment by Royal Mail, in transit, with tracking number">    </p:cNvPr>
          <p:cNvPicPr>
            <a:picLocks noChangeAspect="1"/>
          </p:cNvPicPr>
          <p:nvPr/>
        </p:nvPicPr>
        <p:blipFill>
          <a:blip r:embed="rId2"/>
          <a:stretch>
            <a:fillRect/>
          </a:stretch>
        </p:blipFill>
        <p:spPr>
          <a:xfrm>
            <a:off x="5029200" y="1783080"/>
            <a:ext cx="3657600" cy="2332653"/>
          </a:xfrm>
          <a:prstGeom prst="rect">
            <a:avLst/>
          </a:prstGeom>
        </p:spPr>
      </p:pic>
      <p:sp>
        <p:nvSpPr>
          <p:cNvPr id="7" name="Shape 3"/>
          <p:cNvSpPr/>
          <p:nvPr/>
        </p:nvSpPr>
        <p:spPr>
          <a:xfrm>
            <a:off x="5029200" y="1783080"/>
            <a:ext cx="3657600" cy="2332653"/>
          </a:xfrm>
          <a:prstGeom prst="rect">
            <a:avLst/>
          </a:prstGeom>
          <a:ln w="9525">
            <a:solidFill>
              <a:srgbClr val="C2C3C5"/>
            </a:solidFill>
            <a:prstDash val="solid"/>
          </a:ln>
        </p:spPr>
      </p:sp>
      <p:pic>
        <p:nvPicPr>
          <p:cNvPr id="8" name="Image 2" descr="Two emails sent for order 3: confirmed and shipped">    </p:cNvPr>
          <p:cNvPicPr>
            <a:picLocks noChangeAspect="1"/>
          </p:cNvPicPr>
          <p:nvPr/>
        </p:nvPicPr>
        <p:blipFill>
          <a:blip r:embed="rId3"/>
          <a:stretch>
            <a:fillRect/>
          </a:stretch>
        </p:blipFill>
        <p:spPr>
          <a:xfrm>
            <a:off x="5029200" y="4344333"/>
            <a:ext cx="3657600" cy="933061"/>
          </a:xfrm>
          <a:prstGeom prst="rect">
            <a:avLst/>
          </a:prstGeom>
        </p:spPr>
      </p:pic>
      <p:sp>
        <p:nvSpPr>
          <p:cNvPr id="9" name="Shape 4"/>
          <p:cNvSpPr/>
          <p:nvPr/>
        </p:nvSpPr>
        <p:spPr>
          <a:xfrm>
            <a:off x="5029200" y="4344333"/>
            <a:ext cx="3657600" cy="933061"/>
          </a:xfrm>
          <a:prstGeom prst="rect">
            <a:avLst/>
          </a:prstGeom>
          <a:ln w="9525">
            <a:solidFill>
              <a:srgbClr val="C2C3C5"/>
            </a:solidFill>
            <a:prstDash val="solid"/>
          </a:ln>
        </p:spPr>
      </p:sp>
      <p:sp>
        <p:nvSpPr>
          <p:cNvPr id="10" name="Text 5"/>
          <p:cNvSpPr txBox="1"/>
          <p:nvPr/>
        </p:nvSpPr>
        <p:spPr>
          <a:xfrm>
            <a:off x="9006840" y="1783080"/>
            <a:ext cx="2499055" cy="1097280"/>
          </a:xfrm>
          <a:prstGeom prst="rect">
            <a:avLst/>
          </a:prstGeom>
          <a:noFill/>
          <a:ln/>
        </p:spPr>
        <p:txBody>
          <a:bodyPr wrap="square" lIns="0" tIns="0" rIns="0" bIns="0" rtlCol="0" anchor="t"/>
          <a:lstStyle/>
          <a:p>
            <a:pPr indent="0" marL="0">
              <a:lnSpc>
                <a:spcPct val="112000"/>
              </a:lnSpc>
              <a:spcAft>
                <a:spcPts val="400"/>
              </a:spcAft>
              <a:buNone/>
            </a:pPr>
            <a:r>
              <a:rPr lang="en-US" sz="1350" b="1" dirty="0">
                <a:solidFill>
                  <a:srgbClr val="242E46"/>
                </a:solidFill>
                <a:latin typeface="Inter" pitchFamily="34" charset="0"/>
                <a:ea typeface="Inter" pitchFamily="34" charset="-122"/>
                <a:cs typeface="Inter" pitchFamily="34" charset="-120"/>
              </a:rPr>
              <a:t>Shipping follows the status.</a:t>
            </a:r>
            <a:endParaRPr lang="en-US" sz="1400" dirty="0"/>
          </a:p>
          <a:p>
            <a:pPr indent="0" marL="0">
              <a:lnSpc>
                <a:spcPct val="112000"/>
              </a:lnSpc>
              <a:spcAft>
                <a:spcPts val="400"/>
              </a:spcAft>
              <a:buNone/>
            </a:pPr>
            <a:r>
              <a:rPr lang="en-US" sz="1200" dirty="0">
                <a:solidFill>
                  <a:srgbClr val="4A5470"/>
                </a:solidFill>
                <a:latin typeface="Inter" pitchFamily="34" charset="0"/>
                <a:ea typeface="Inter" pitchFamily="34" charset="-122"/>
                <a:cs typeface="Inter" pitchFamily="34" charset="-120"/>
              </a:rPr>
              <a:t>Processing creates the shipment; shipped moves it in transit and emails the tracking number.</a:t>
            </a:r>
            <a:endParaRPr lang="en-US" sz="1400" dirty="0"/>
          </a:p>
        </p:txBody>
      </p:sp>
      <p:sp>
        <p:nvSpPr>
          <p:cNvPr id="11" name="Text 6"/>
          <p:cNvSpPr txBox="1"/>
          <p:nvPr/>
        </p:nvSpPr>
        <p:spPr>
          <a:xfrm>
            <a:off x="9006840" y="2971800"/>
            <a:ext cx="2499055" cy="1097280"/>
          </a:xfrm>
          <a:prstGeom prst="rect">
            <a:avLst/>
          </a:prstGeom>
          <a:noFill/>
          <a:ln/>
        </p:spPr>
        <p:txBody>
          <a:bodyPr wrap="square" lIns="0" tIns="0" rIns="0" bIns="0" rtlCol="0" anchor="t"/>
          <a:lstStyle/>
          <a:p>
            <a:pPr indent="0" marL="0">
              <a:lnSpc>
                <a:spcPct val="112000"/>
              </a:lnSpc>
              <a:spcAft>
                <a:spcPts val="400"/>
              </a:spcAft>
              <a:buNone/>
            </a:pPr>
            <a:r>
              <a:rPr lang="en-US" sz="1350" b="1" dirty="0">
                <a:solidFill>
                  <a:srgbClr val="242E46"/>
                </a:solidFill>
                <a:latin typeface="Inter" pitchFamily="34" charset="0"/>
                <a:ea typeface="Inter" pitchFamily="34" charset="-122"/>
                <a:cs typeface="Inter" pitchFamily="34" charset="-120"/>
              </a:rPr>
              <a:t>Each email is sent once.</a:t>
            </a:r>
            <a:endParaRPr lang="en-US" sz="1400" dirty="0"/>
          </a:p>
          <a:p>
            <a:pPr indent="0" marL="0">
              <a:lnSpc>
                <a:spcPct val="112000"/>
              </a:lnSpc>
              <a:spcAft>
                <a:spcPts val="400"/>
              </a:spcAft>
              <a:buNone/>
            </a:pPr>
            <a:r>
              <a:rPr lang="en-US" sz="1200" dirty="0">
                <a:solidFill>
                  <a:srgbClr val="4A5470"/>
                </a:solidFill>
                <a:latin typeface="Inter" pitchFamily="34" charset="0"/>
                <a:ea typeface="Inter" pitchFamily="34" charset="-122"/>
                <a:cs typeface="Inter" pitchFamily="34" charset="-120"/>
              </a:rPr>
              <a:t>It carries a dedupe key, template plus order, so a replayed event sends nothing new.</a:t>
            </a:r>
            <a:endParaRPr lang="en-US" sz="1400" dirty="0"/>
          </a:p>
        </p:txBody>
      </p:sp>
      <p:sp>
        <p:nvSpPr>
          <p:cNvPr id="12" name="Text 7"/>
          <p:cNvSpPr txBox="1"/>
          <p:nvPr/>
        </p:nvSpPr>
        <p:spPr>
          <a:xfrm>
            <a:off x="9006840" y="4160520"/>
            <a:ext cx="2499055" cy="1097280"/>
          </a:xfrm>
          <a:prstGeom prst="rect">
            <a:avLst/>
          </a:prstGeom>
          <a:noFill/>
          <a:ln/>
        </p:spPr>
        <p:txBody>
          <a:bodyPr wrap="square" lIns="0" tIns="0" rIns="0" bIns="0" rtlCol="0" anchor="t"/>
          <a:lstStyle/>
          <a:p>
            <a:pPr indent="0" marL="0">
              <a:lnSpc>
                <a:spcPct val="112000"/>
              </a:lnSpc>
              <a:spcAft>
                <a:spcPts val="400"/>
              </a:spcAft>
              <a:buNone/>
            </a:pPr>
            <a:r>
              <a:rPr lang="en-US" sz="1350" b="1" dirty="0">
                <a:solidFill>
                  <a:srgbClr val="242E46"/>
                </a:solidFill>
                <a:latin typeface="Inter" pitchFamily="34" charset="0"/>
                <a:ea typeface="Inter" pitchFamily="34" charset="-122"/>
                <a:cs typeface="Inter" pitchFamily="34" charset="-120"/>
              </a:rPr>
              <a:t>A gap we show, not hide.</a:t>
            </a:r>
            <a:endParaRPr lang="en-US" sz="1400" dirty="0"/>
          </a:p>
          <a:p>
            <a:pPr indent="0" marL="0">
              <a:lnSpc>
                <a:spcPct val="112000"/>
              </a:lnSpc>
              <a:spcAft>
                <a:spcPts val="400"/>
              </a:spcAft>
              <a:buNone/>
            </a:pPr>
            <a:r>
              <a:rPr lang="en-US" sz="1200" dirty="0">
                <a:solidFill>
                  <a:srgbClr val="4A5470"/>
                </a:solidFill>
                <a:latin typeface="Inter" pitchFamily="34" charset="0"/>
                <a:ea typeface="Inter" pitchFamily="34" charset="-122"/>
                <a:cs typeface="Inter" pitchFamily="34" charset="-120"/>
              </a:rPr>
              <a:t>There is no address model yet, and the page says so.</a:t>
            </a:r>
            <a:endParaRPr lang="en-US" sz="1400" dirty="0"/>
          </a:p>
        </p:txBody>
      </p:sp>
      <p:sp>
        <p:nvSpPr>
          <p:cNvPr id="13" name="Text 8"/>
          <p:cNvSpPr txBox="1"/>
          <p:nvPr/>
        </p:nvSpPr>
        <p:spPr>
          <a:xfrm>
            <a:off x="685800" y="5943600"/>
            <a:ext cx="10820095" cy="228600"/>
          </a:xfrm>
          <a:prstGeom prst="rect">
            <a:avLst/>
          </a:prstGeom>
          <a:noFill/>
          <a:ln/>
        </p:spPr>
        <p:txBody>
          <a:bodyPr wrap="square" lIns="0" tIns="0" rIns="0" bIns="0" rtlCol="0" anchor="t"/>
          <a:lstStyle/>
          <a:p>
            <a:pPr indent="0" marL="0">
              <a:buNone/>
            </a:pPr>
            <a:r>
              <a:rPr lang="en-US" sz="1000" spc="100" kern="0" dirty="0">
                <a:solidFill>
                  <a:srgbClr val="5B6480"/>
                </a:solidFill>
                <a:latin typeface="JetBrains Mono" pitchFamily="34" charset="0"/>
                <a:ea typeface="JetBrains Mono" pitchFamily="34" charset="-122"/>
                <a:cs typeface="JetBrains Mono" pitchFamily="34" charset="-120"/>
              </a:rPr>
              <a:t>ORDER #3 MOVED TO PROCESSING AND SHIPPED FROM THE ORDERS PAGE.</a:t>
            </a:r>
            <a:endParaRPr lang="en-US" sz="10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  ·  THE OPERATOR'S VIEW</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The same page runs the platform</a:t>
            </a:r>
            <a:endParaRPr lang="en-US" sz="3000" dirty="0"/>
          </a:p>
        </p:txBody>
      </p:sp>
      <p:pic>
        <p:nvPicPr>
          <p:cNvPr id="4" name="Image 0" descr="Overview sheet: 7 orders today and where they are in fulfilment">    </p:cNvPr>
          <p:cNvPicPr>
            <a:picLocks noChangeAspect="1"/>
          </p:cNvPicPr>
          <p:nvPr/>
        </p:nvPicPr>
        <p:blipFill>
          <a:blip r:embed="rId1"/>
          <a:stretch>
            <a:fillRect/>
          </a:stretch>
        </p:blipFill>
        <p:spPr>
          <a:xfrm>
            <a:off x="685800" y="1783080"/>
            <a:ext cx="5294376" cy="3210659"/>
          </a:xfrm>
          <a:prstGeom prst="rect">
            <a:avLst/>
          </a:prstGeom>
        </p:spPr>
      </p:pic>
      <p:sp>
        <p:nvSpPr>
          <p:cNvPr id="5" name="Shape 2"/>
          <p:cNvSpPr/>
          <p:nvPr/>
        </p:nvSpPr>
        <p:spPr>
          <a:xfrm>
            <a:off x="685800" y="1783080"/>
            <a:ext cx="5294376" cy="3210659"/>
          </a:xfrm>
          <a:prstGeom prst="rect">
            <a:avLst/>
          </a:prstGeom>
          <a:ln w="9525">
            <a:solidFill>
              <a:srgbClr val="C2C3C5"/>
            </a:solidFill>
            <a:prstDash val="solid"/>
          </a:ln>
        </p:spPr>
      </p:sp>
      <p:pic>
        <p:nvPicPr>
          <p:cNvPr id="6" name="Image 1" descr="Systems sheet: health of each service through the gateway">    </p:cNvPr>
          <p:cNvPicPr>
            <a:picLocks noChangeAspect="1"/>
          </p:cNvPicPr>
          <p:nvPr/>
        </p:nvPicPr>
        <p:blipFill>
          <a:blip r:embed="rId2"/>
          <a:stretch>
            <a:fillRect/>
          </a:stretch>
        </p:blipFill>
        <p:spPr>
          <a:xfrm>
            <a:off x="6208776" y="1783080"/>
            <a:ext cx="5294376" cy="3210659"/>
          </a:xfrm>
          <a:prstGeom prst="rect">
            <a:avLst/>
          </a:prstGeom>
        </p:spPr>
      </p:pic>
      <p:sp>
        <p:nvSpPr>
          <p:cNvPr id="7" name="Shape 3"/>
          <p:cNvSpPr/>
          <p:nvPr/>
        </p:nvSpPr>
        <p:spPr>
          <a:xfrm>
            <a:off x="6208776" y="1783080"/>
            <a:ext cx="5294376" cy="3210659"/>
          </a:xfrm>
          <a:prstGeom prst="rect">
            <a:avLst/>
          </a:prstGeom>
          <a:ln w="9525">
            <a:solidFill>
              <a:srgbClr val="C2C3C5"/>
            </a:solidFill>
            <a:prstDash val="solid"/>
          </a:ln>
        </p:spPr>
      </p:sp>
      <p:sp>
        <p:nvSpPr>
          <p:cNvPr id="8" name="Text 4"/>
          <p:cNvSpPr txBox="1"/>
          <p:nvPr/>
        </p:nvSpPr>
        <p:spPr>
          <a:xfrm>
            <a:off x="685800" y="5130899"/>
            <a:ext cx="5294376"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OVERVIEW</a:t>
            </a:r>
            <a:endParaRPr lang="en-US" sz="1000" dirty="0"/>
          </a:p>
        </p:txBody>
      </p:sp>
      <p:sp>
        <p:nvSpPr>
          <p:cNvPr id="9" name="Text 5"/>
          <p:cNvSpPr txBox="1"/>
          <p:nvPr/>
        </p:nvSpPr>
        <p:spPr>
          <a:xfrm>
            <a:off x="685800" y="5377787"/>
            <a:ext cx="5111496" cy="548640"/>
          </a:xfrm>
          <a:prstGeom prst="rect">
            <a:avLst/>
          </a:prstGeom>
          <a:noFill/>
          <a:ln/>
        </p:spPr>
        <p:txBody>
          <a:bodyPr wrap="square" lIns="0" tIns="0" rIns="0" bIns="0" rtlCol="0" anchor="t"/>
          <a:lstStyle/>
          <a:p>
            <a:pPr indent="0" marL="0">
              <a:lnSpc>
                <a:spcPct val="115000"/>
              </a:lnSpc>
              <a:buNone/>
            </a:pPr>
            <a:r>
              <a:rPr lang="en-US" sz="1300" dirty="0">
                <a:solidFill>
                  <a:srgbClr val="4A5470"/>
                </a:solidFill>
                <a:latin typeface="Inter" pitchFamily="34" charset="0"/>
                <a:ea typeface="Inter" pitchFamily="34" charset="-122"/>
                <a:cs typeface="Inter" pitchFamily="34" charset="-120"/>
              </a:rPr>
              <a:t>Every figure comes from a service API through the gateway. Nothing is invented on the page.</a:t>
            </a:r>
            <a:endParaRPr lang="en-US" sz="1300" dirty="0"/>
          </a:p>
        </p:txBody>
      </p:sp>
      <p:sp>
        <p:nvSpPr>
          <p:cNvPr id="10" name="Text 6"/>
          <p:cNvSpPr txBox="1"/>
          <p:nvPr/>
        </p:nvSpPr>
        <p:spPr>
          <a:xfrm>
            <a:off x="6208776" y="5130899"/>
            <a:ext cx="5294376"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SYSTEMS</a:t>
            </a:r>
            <a:endParaRPr lang="en-US" sz="1000" dirty="0"/>
          </a:p>
        </p:txBody>
      </p:sp>
      <p:sp>
        <p:nvSpPr>
          <p:cNvPr id="11" name="Text 7"/>
          <p:cNvSpPr txBox="1"/>
          <p:nvPr/>
        </p:nvSpPr>
        <p:spPr>
          <a:xfrm>
            <a:off x="6208776" y="5377787"/>
            <a:ext cx="5111496" cy="548640"/>
          </a:xfrm>
          <a:prstGeom prst="rect">
            <a:avLst/>
          </a:prstGeom>
          <a:noFill/>
          <a:ln/>
        </p:spPr>
        <p:txBody>
          <a:bodyPr wrap="square" lIns="0" tIns="0" rIns="0" bIns="0" rtlCol="0" anchor="t"/>
          <a:lstStyle/>
          <a:p>
            <a:pPr indent="0" marL="0">
              <a:lnSpc>
                <a:spcPct val="115000"/>
              </a:lnSpc>
              <a:buNone/>
            </a:pPr>
            <a:r>
              <a:rPr lang="en-US" sz="1300" dirty="0">
                <a:solidFill>
                  <a:srgbClr val="4A5470"/>
                </a:solidFill>
                <a:latin typeface="Inter" pitchFamily="34" charset="0"/>
                <a:ea typeface="Inter" pitchFamily="34" charset="-122"/>
                <a:cs typeface="Inter" pitchFamily="34" charset="-120"/>
              </a:rPr>
              <a:t>Seven services answer the browser. The worker and scheduler have no route from outside, by design.</a:t>
            </a:r>
            <a:endParaRPr lang="en-US" sz="13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B3A6DC"/>
                </a:solidFill>
                <a:latin typeface="JetBrains Mono" pitchFamily="34" charset="0"/>
                <a:ea typeface="JetBrains Mono" pitchFamily="34" charset="-122"/>
                <a:cs typeface="JetBrains Mono" pitchFamily="34" charset="-120"/>
              </a:rPr>
              <a:t>ACT III  ·  ARCHITECTURE</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F3F2F8"/>
                </a:solidFill>
                <a:latin typeface="Manrope" pitchFamily="34" charset="0"/>
                <a:ea typeface="Manrope" pitchFamily="34" charset="-122"/>
                <a:cs typeface="Manrope" pitchFamily="34" charset="-120"/>
              </a:rPr>
              <a:t>One entry point, nine services, one queue</a:t>
            </a:r>
            <a:endParaRPr lang="en-US" sz="3000" dirty="0"/>
          </a:p>
        </p:txBody>
      </p:sp>
      <p:sp>
        <p:nvSpPr>
          <p:cNvPr id="4" name="Shape 2"/>
          <p:cNvSpPr/>
          <p:nvPr/>
        </p:nvSpPr>
        <p:spPr>
          <a:xfrm>
            <a:off x="1874520" y="1572768"/>
            <a:ext cx="9628632" cy="4526280"/>
          </a:xfrm>
          <a:prstGeom prst="rect">
            <a:avLst/>
          </a:prstGeom>
          <a:ln w="9525">
            <a:solidFill>
              <a:srgbClr val="7A6CB4"/>
            </a:solidFill>
            <a:prstDash val="dash"/>
          </a:ln>
        </p:spPr>
      </p:sp>
      <p:sp>
        <p:nvSpPr>
          <p:cNvPr id="5" name="Text 3"/>
          <p:cNvSpPr txBox="1"/>
          <p:nvPr/>
        </p:nvSpPr>
        <p:spPr>
          <a:xfrm>
            <a:off x="2011680" y="1645920"/>
            <a:ext cx="8229600" cy="201168"/>
          </a:xfrm>
          <a:prstGeom prst="rect">
            <a:avLst/>
          </a:prstGeom>
          <a:noFill/>
          <a:ln/>
        </p:spPr>
        <p:txBody>
          <a:bodyPr wrap="square" lIns="0" tIns="0" rIns="0" bIns="0" rtlCol="0" anchor="t"/>
          <a:lstStyle/>
          <a:p>
            <a:pPr indent="0" marL="0">
              <a:buNone/>
            </a:pPr>
            <a:r>
              <a:rPr lang="en-US" sz="950" spc="100" kern="0" dirty="0">
                <a:solidFill>
                  <a:srgbClr val="B3A6DC"/>
                </a:solidFill>
                <a:latin typeface="JetBrains Mono" pitchFamily="34" charset="0"/>
                <a:ea typeface="JetBrains Mono" pitchFamily="34" charset="-122"/>
                <a:cs typeface="JetBrains Mono" pitchFamily="34" charset="-120"/>
              </a:rPr>
              <a:t>AWS EU-WEST-2  ·  ONE VPC PER ENVIRONMENT  ·  3 AZS  ·  EKS 1.35 ON PRIVATE SUBNETS</a:t>
            </a:r>
            <a:endParaRPr lang="en-US" sz="950" dirty="0"/>
          </a:p>
        </p:txBody>
      </p:sp>
      <p:sp>
        <p:nvSpPr>
          <p:cNvPr id="6" name="Shape 4"/>
          <p:cNvSpPr/>
          <p:nvPr/>
        </p:nvSpPr>
        <p:spPr>
          <a:xfrm>
            <a:off x="685800" y="2121408"/>
            <a:ext cx="960120" cy="868680"/>
          </a:xfrm>
          <a:prstGeom prst="rect">
            <a:avLst/>
          </a:prstGeom>
          <a:solidFill>
            <a:srgbClr val="1F1346"/>
          </a:solidFill>
          <a:ln w="9525">
            <a:solidFill>
              <a:srgbClr val="7A6CB4"/>
            </a:solidFill>
            <a:prstDash val="solid"/>
          </a:ln>
        </p:spPr>
      </p:sp>
      <p:sp>
        <p:nvSpPr>
          <p:cNvPr id="7" name="Text 5"/>
          <p:cNvSpPr txBox="1"/>
          <p:nvPr/>
        </p:nvSpPr>
        <p:spPr>
          <a:xfrm>
            <a:off x="795528" y="2203704"/>
            <a:ext cx="740664" cy="237744"/>
          </a:xfrm>
          <a:prstGeom prst="rect">
            <a:avLst/>
          </a:prstGeom>
          <a:noFill/>
          <a:ln/>
        </p:spPr>
        <p:txBody>
          <a:bodyPr wrap="square" lIns="0" tIns="0" rIns="0" bIns="0" rtlCol="0" anchor="t"/>
          <a:lstStyle/>
          <a:p>
            <a:pPr indent="0" marL="0">
              <a:buNone/>
            </a:pPr>
            <a:r>
              <a:rPr lang="en-US" sz="1100" b="1" dirty="0">
                <a:solidFill>
                  <a:srgbClr val="F3F2F8"/>
                </a:solidFill>
                <a:latin typeface="JetBrains Mono" pitchFamily="34" charset="0"/>
                <a:ea typeface="JetBrains Mono" pitchFamily="34" charset="-122"/>
                <a:cs typeface="JetBrains Mono" pitchFamily="34" charset="-120"/>
              </a:rPr>
              <a:t>Browser</a:t>
            </a:r>
            <a:endParaRPr lang="en-US" sz="1100" dirty="0"/>
          </a:p>
        </p:txBody>
      </p:sp>
      <p:sp>
        <p:nvSpPr>
          <p:cNvPr id="8" name="Text 6"/>
          <p:cNvSpPr txBox="1"/>
          <p:nvPr/>
        </p:nvSpPr>
        <p:spPr>
          <a:xfrm>
            <a:off x="795528" y="2450592"/>
            <a:ext cx="740664" cy="484632"/>
          </a:xfrm>
          <a:prstGeom prst="rect">
            <a:avLst/>
          </a:prstGeom>
          <a:noFill/>
          <a:ln/>
        </p:spPr>
        <p:txBody>
          <a:bodyPr wrap="square" lIns="0" tIns="0" rIns="0" bIns="0" rtlCol="0" anchor="t"/>
          <a:lstStyle/>
          <a:p>
            <a:pPr indent="0" marL="0">
              <a:lnSpc>
                <a:spcPct val="110000"/>
              </a:lnSpc>
              <a:buNone/>
            </a:pPr>
            <a:r>
              <a:rPr lang="en-US" sz="1050" dirty="0">
                <a:solidFill>
                  <a:srgbClr val="B3A6DC"/>
                </a:solidFill>
                <a:latin typeface="Inter" pitchFamily="34" charset="0"/>
                <a:ea typeface="Inter" pitchFamily="34" charset="-122"/>
                <a:cs typeface="Inter" pitchFamily="34" charset="-120"/>
              </a:rPr>
              <a:t>Kit Room page</a:t>
            </a:r>
            <a:endParaRPr lang="en-US" sz="1050" dirty="0"/>
          </a:p>
        </p:txBody>
      </p:sp>
      <p:sp>
        <p:nvSpPr>
          <p:cNvPr id="9" name="Shape 7"/>
          <p:cNvSpPr/>
          <p:nvPr/>
        </p:nvSpPr>
        <p:spPr>
          <a:xfrm>
            <a:off x="1645920" y="2560320"/>
            <a:ext cx="502920" cy="0"/>
          </a:xfrm>
          <a:prstGeom prst="line">
            <a:avLst/>
          </a:prstGeom>
          <a:noFill/>
          <a:ln w="15875">
            <a:solidFill>
              <a:srgbClr val="AE99F0"/>
            </a:solidFill>
            <a:prstDash val="solid"/>
            <a:tailEnd type="triangle"/>
          </a:ln>
        </p:spPr>
      </p:sp>
      <p:sp>
        <p:nvSpPr>
          <p:cNvPr id="10" name="Shape 8"/>
          <p:cNvSpPr/>
          <p:nvPr/>
        </p:nvSpPr>
        <p:spPr>
          <a:xfrm>
            <a:off x="2148840" y="2011680"/>
            <a:ext cx="1645920" cy="1097280"/>
          </a:xfrm>
          <a:prstGeom prst="rect">
            <a:avLst/>
          </a:prstGeom>
          <a:solidFill>
            <a:srgbClr val="1F1346"/>
          </a:solidFill>
          <a:ln w="9525">
            <a:solidFill>
              <a:srgbClr val="7A6CB4"/>
            </a:solidFill>
            <a:prstDash val="solid"/>
          </a:ln>
        </p:spPr>
      </p:sp>
      <p:sp>
        <p:nvSpPr>
          <p:cNvPr id="11" name="Text 9"/>
          <p:cNvSpPr txBox="1"/>
          <p:nvPr/>
        </p:nvSpPr>
        <p:spPr>
          <a:xfrm>
            <a:off x="2258568" y="2093976"/>
            <a:ext cx="1426464" cy="237744"/>
          </a:xfrm>
          <a:prstGeom prst="rect">
            <a:avLst/>
          </a:prstGeom>
          <a:noFill/>
          <a:ln/>
        </p:spPr>
        <p:txBody>
          <a:bodyPr wrap="square" lIns="0" tIns="0" rIns="0" bIns="0" rtlCol="0" anchor="t"/>
          <a:lstStyle/>
          <a:p>
            <a:pPr indent="0" marL="0">
              <a:buNone/>
            </a:pPr>
            <a:r>
              <a:rPr lang="en-US" sz="1100" b="1" dirty="0">
                <a:solidFill>
                  <a:srgbClr val="F3F2F8"/>
                </a:solidFill>
                <a:latin typeface="JetBrains Mono" pitchFamily="34" charset="0"/>
                <a:ea typeface="JetBrains Mono" pitchFamily="34" charset="-122"/>
                <a:cs typeface="JetBrains Mono" pitchFamily="34" charset="-120"/>
              </a:rPr>
              <a:t>Edge</a:t>
            </a:r>
            <a:endParaRPr lang="en-US" sz="1100" dirty="0"/>
          </a:p>
        </p:txBody>
      </p:sp>
      <p:sp>
        <p:nvSpPr>
          <p:cNvPr id="12" name="Text 10"/>
          <p:cNvSpPr txBox="1"/>
          <p:nvPr/>
        </p:nvSpPr>
        <p:spPr>
          <a:xfrm>
            <a:off x="2258568" y="2340864"/>
            <a:ext cx="1426464" cy="713232"/>
          </a:xfrm>
          <a:prstGeom prst="rect">
            <a:avLst/>
          </a:prstGeom>
          <a:noFill/>
          <a:ln/>
        </p:spPr>
        <p:txBody>
          <a:bodyPr wrap="square" lIns="0" tIns="0" rIns="0" bIns="0" rtlCol="0" anchor="t"/>
          <a:lstStyle/>
          <a:p>
            <a:pPr indent="0" marL="0">
              <a:lnSpc>
                <a:spcPct val="110000"/>
              </a:lnSpc>
              <a:buNone/>
            </a:pPr>
            <a:r>
              <a:rPr lang="en-US" sz="1050" dirty="0">
                <a:solidFill>
                  <a:srgbClr val="B3A6DC"/>
                </a:solidFill>
                <a:latin typeface="Inter" pitchFamily="34" charset="0"/>
                <a:ea typeface="Inter" pitchFamily="34" charset="-122"/>
                <a:cs typeface="Inter" pitchFamily="34" charset="-120"/>
              </a:rPr>
              <a:t>Route 53, NLB, Traefik. TLS from cert-manager and Let's Encrypt.</a:t>
            </a:r>
            <a:endParaRPr lang="en-US" sz="1050" dirty="0"/>
          </a:p>
        </p:txBody>
      </p:sp>
      <p:sp>
        <p:nvSpPr>
          <p:cNvPr id="13" name="Shape 11"/>
          <p:cNvSpPr/>
          <p:nvPr/>
        </p:nvSpPr>
        <p:spPr>
          <a:xfrm>
            <a:off x="3794760" y="2560320"/>
            <a:ext cx="274320" cy="0"/>
          </a:xfrm>
          <a:prstGeom prst="line">
            <a:avLst/>
          </a:prstGeom>
          <a:noFill/>
          <a:ln w="15875">
            <a:solidFill>
              <a:srgbClr val="AE99F0"/>
            </a:solidFill>
            <a:prstDash val="solid"/>
            <a:tailEnd type="triangle"/>
          </a:ln>
        </p:spPr>
      </p:sp>
      <p:sp>
        <p:nvSpPr>
          <p:cNvPr id="14" name="Shape 12"/>
          <p:cNvSpPr/>
          <p:nvPr/>
        </p:nvSpPr>
        <p:spPr>
          <a:xfrm>
            <a:off x="4069080" y="2011680"/>
            <a:ext cx="1600200" cy="1097280"/>
          </a:xfrm>
          <a:prstGeom prst="rect">
            <a:avLst/>
          </a:prstGeom>
          <a:solidFill>
            <a:srgbClr val="1F1346"/>
          </a:solidFill>
          <a:ln w="9525">
            <a:solidFill>
              <a:srgbClr val="AE99F0"/>
            </a:solidFill>
            <a:prstDash val="solid"/>
          </a:ln>
        </p:spPr>
      </p:sp>
      <p:sp>
        <p:nvSpPr>
          <p:cNvPr id="15" name="Text 13"/>
          <p:cNvSpPr txBox="1"/>
          <p:nvPr/>
        </p:nvSpPr>
        <p:spPr>
          <a:xfrm>
            <a:off x="4178808" y="2093976"/>
            <a:ext cx="1380744" cy="237744"/>
          </a:xfrm>
          <a:prstGeom prst="rect">
            <a:avLst/>
          </a:prstGeom>
          <a:noFill/>
          <a:ln/>
        </p:spPr>
        <p:txBody>
          <a:bodyPr wrap="square" lIns="0" tIns="0" rIns="0" bIns="0" rtlCol="0" anchor="t"/>
          <a:lstStyle/>
          <a:p>
            <a:pPr indent="0" marL="0">
              <a:buNone/>
            </a:pPr>
            <a:r>
              <a:rPr lang="en-US" sz="1100" b="1" dirty="0">
                <a:solidFill>
                  <a:srgbClr val="F3F2F8"/>
                </a:solidFill>
                <a:latin typeface="JetBrains Mono" pitchFamily="34" charset="0"/>
                <a:ea typeface="JetBrains Mono" pitchFamily="34" charset="-122"/>
                <a:cs typeface="JetBrains Mono" pitchFamily="34" charset="-120"/>
              </a:rPr>
              <a:t>api-gateway</a:t>
            </a:r>
            <a:endParaRPr lang="en-US" sz="1100" dirty="0"/>
          </a:p>
        </p:txBody>
      </p:sp>
      <p:sp>
        <p:nvSpPr>
          <p:cNvPr id="16" name="Text 14"/>
          <p:cNvSpPr txBox="1"/>
          <p:nvPr/>
        </p:nvSpPr>
        <p:spPr>
          <a:xfrm>
            <a:off x="4178808" y="2340864"/>
            <a:ext cx="1380744" cy="713232"/>
          </a:xfrm>
          <a:prstGeom prst="rect">
            <a:avLst/>
          </a:prstGeom>
          <a:noFill/>
          <a:ln/>
        </p:spPr>
        <p:txBody>
          <a:bodyPr wrap="square" lIns="0" tIns="0" rIns="0" bIns="0" rtlCol="0" anchor="t"/>
          <a:lstStyle/>
          <a:p>
            <a:pPr indent="0" marL="0">
              <a:lnSpc>
                <a:spcPct val="110000"/>
              </a:lnSpc>
              <a:buNone/>
            </a:pPr>
            <a:r>
              <a:rPr lang="en-US" sz="1050" dirty="0">
                <a:solidFill>
                  <a:srgbClr val="B3A6DC"/>
                </a:solidFill>
                <a:latin typeface="Inter" pitchFamily="34" charset="0"/>
                <a:ea typeface="Inter" pitchFamily="34" charset="-122"/>
                <a:cs typeface="Inter" pitchFamily="34" charset="-120"/>
              </a:rPr>
              <a:t>The only public service. JWT, rate limits, route allow-list.</a:t>
            </a:r>
            <a:endParaRPr lang="en-US" sz="1050" dirty="0"/>
          </a:p>
        </p:txBody>
      </p:sp>
      <p:sp>
        <p:nvSpPr>
          <p:cNvPr id="17" name="Shape 15"/>
          <p:cNvSpPr/>
          <p:nvPr/>
        </p:nvSpPr>
        <p:spPr>
          <a:xfrm>
            <a:off x="4069080" y="3429000"/>
            <a:ext cx="1600200" cy="749808"/>
          </a:xfrm>
          <a:prstGeom prst="rect">
            <a:avLst/>
          </a:prstGeom>
          <a:solidFill>
            <a:srgbClr val="1F1346"/>
          </a:solidFill>
          <a:ln w="9525">
            <a:solidFill>
              <a:srgbClr val="7A6CB4"/>
            </a:solidFill>
            <a:prstDash val="solid"/>
          </a:ln>
        </p:spPr>
      </p:sp>
      <p:sp>
        <p:nvSpPr>
          <p:cNvPr id="18" name="Text 16"/>
          <p:cNvSpPr txBox="1"/>
          <p:nvPr/>
        </p:nvSpPr>
        <p:spPr>
          <a:xfrm>
            <a:off x="4178808" y="3511296"/>
            <a:ext cx="1380744" cy="237744"/>
          </a:xfrm>
          <a:prstGeom prst="rect">
            <a:avLst/>
          </a:prstGeom>
          <a:noFill/>
          <a:ln/>
        </p:spPr>
        <p:txBody>
          <a:bodyPr wrap="square" lIns="0" tIns="0" rIns="0" bIns="0" rtlCol="0" anchor="t"/>
          <a:lstStyle/>
          <a:p>
            <a:pPr indent="0" marL="0">
              <a:buNone/>
            </a:pPr>
            <a:r>
              <a:rPr lang="en-US" sz="1100" b="1" dirty="0">
                <a:solidFill>
                  <a:srgbClr val="F3F2F8"/>
                </a:solidFill>
                <a:latin typeface="JetBrains Mono" pitchFamily="34" charset="0"/>
                <a:ea typeface="JetBrains Mono" pitchFamily="34" charset="-122"/>
                <a:cs typeface="JetBrains Mono" pitchFamily="34" charset="-120"/>
              </a:rPr>
              <a:t>Redis</a:t>
            </a:r>
            <a:endParaRPr lang="en-US" sz="1100" dirty="0"/>
          </a:p>
        </p:txBody>
      </p:sp>
      <p:sp>
        <p:nvSpPr>
          <p:cNvPr id="19" name="Text 17"/>
          <p:cNvSpPr txBox="1"/>
          <p:nvPr/>
        </p:nvSpPr>
        <p:spPr>
          <a:xfrm>
            <a:off x="4178808" y="3758184"/>
            <a:ext cx="1380744" cy="365760"/>
          </a:xfrm>
          <a:prstGeom prst="rect">
            <a:avLst/>
          </a:prstGeom>
          <a:noFill/>
          <a:ln/>
        </p:spPr>
        <p:txBody>
          <a:bodyPr wrap="square" lIns="0" tIns="0" rIns="0" bIns="0" rtlCol="0" anchor="t"/>
          <a:lstStyle/>
          <a:p>
            <a:pPr indent="0" marL="0">
              <a:lnSpc>
                <a:spcPct val="110000"/>
              </a:lnSpc>
              <a:buNone/>
            </a:pPr>
            <a:r>
              <a:rPr lang="en-US" sz="1050" dirty="0">
                <a:solidFill>
                  <a:srgbClr val="B3A6DC"/>
                </a:solidFill>
                <a:latin typeface="Inter" pitchFamily="34" charset="0"/>
                <a:ea typeface="Inter" pitchFamily="34" charset="-122"/>
                <a:cs typeface="Inter" pitchFamily="34" charset="-120"/>
              </a:rPr>
              <a:t>rate-limit counters, StatefulSet with AOF</a:t>
            </a:r>
            <a:endParaRPr lang="en-US" sz="1050" dirty="0"/>
          </a:p>
        </p:txBody>
      </p:sp>
      <p:sp>
        <p:nvSpPr>
          <p:cNvPr id="20" name="Shape 18"/>
          <p:cNvSpPr/>
          <p:nvPr/>
        </p:nvSpPr>
        <p:spPr>
          <a:xfrm>
            <a:off x="4864608" y="3108960"/>
            <a:ext cx="0" cy="320040"/>
          </a:xfrm>
          <a:prstGeom prst="line">
            <a:avLst/>
          </a:prstGeom>
          <a:noFill/>
          <a:ln w="15875">
            <a:solidFill>
              <a:srgbClr val="7A6CB4"/>
            </a:solidFill>
            <a:prstDash val="dash"/>
          </a:ln>
        </p:spPr>
      </p:sp>
      <p:sp>
        <p:nvSpPr>
          <p:cNvPr id="21" name="Shape 19"/>
          <p:cNvSpPr/>
          <p:nvPr/>
        </p:nvSpPr>
        <p:spPr>
          <a:xfrm>
            <a:off x="5669280" y="2560320"/>
            <a:ext cx="118872" cy="0"/>
          </a:xfrm>
          <a:prstGeom prst="line">
            <a:avLst/>
          </a:prstGeom>
          <a:noFill/>
          <a:ln w="15875">
            <a:solidFill>
              <a:srgbClr val="AE99F0"/>
            </a:solidFill>
            <a:prstDash val="solid"/>
          </a:ln>
        </p:spPr>
      </p:sp>
      <p:sp>
        <p:nvSpPr>
          <p:cNvPr id="22" name="Shape 20"/>
          <p:cNvSpPr/>
          <p:nvPr/>
        </p:nvSpPr>
        <p:spPr>
          <a:xfrm>
            <a:off x="5788152" y="2194560"/>
            <a:ext cx="0" cy="2103120"/>
          </a:xfrm>
          <a:prstGeom prst="line">
            <a:avLst/>
          </a:prstGeom>
          <a:noFill/>
          <a:ln w="15875">
            <a:solidFill>
              <a:srgbClr val="AE99F0"/>
            </a:solidFill>
            <a:prstDash val="solid"/>
          </a:ln>
        </p:spPr>
      </p:sp>
      <p:sp>
        <p:nvSpPr>
          <p:cNvPr id="23" name="Shape 21"/>
          <p:cNvSpPr/>
          <p:nvPr/>
        </p:nvSpPr>
        <p:spPr>
          <a:xfrm>
            <a:off x="5788152" y="2194560"/>
            <a:ext cx="155448" cy="0"/>
          </a:xfrm>
          <a:prstGeom prst="line">
            <a:avLst/>
          </a:prstGeom>
          <a:noFill/>
          <a:ln w="12700">
            <a:solidFill>
              <a:srgbClr val="AE99F0"/>
            </a:solidFill>
            <a:prstDash val="solid"/>
            <a:tailEnd type="triangle"/>
          </a:ln>
        </p:spPr>
      </p:sp>
      <p:sp>
        <p:nvSpPr>
          <p:cNvPr id="24" name="Shape 22"/>
          <p:cNvSpPr/>
          <p:nvPr/>
        </p:nvSpPr>
        <p:spPr>
          <a:xfrm>
            <a:off x="5788152" y="2615184"/>
            <a:ext cx="155448" cy="0"/>
          </a:xfrm>
          <a:prstGeom prst="line">
            <a:avLst/>
          </a:prstGeom>
          <a:noFill/>
          <a:ln w="12700">
            <a:solidFill>
              <a:srgbClr val="AE99F0"/>
            </a:solidFill>
            <a:prstDash val="solid"/>
            <a:tailEnd type="triangle"/>
          </a:ln>
        </p:spPr>
      </p:sp>
      <p:sp>
        <p:nvSpPr>
          <p:cNvPr id="25" name="Shape 23"/>
          <p:cNvSpPr/>
          <p:nvPr/>
        </p:nvSpPr>
        <p:spPr>
          <a:xfrm>
            <a:off x="5788152" y="3035808"/>
            <a:ext cx="155448" cy="0"/>
          </a:xfrm>
          <a:prstGeom prst="line">
            <a:avLst/>
          </a:prstGeom>
          <a:noFill/>
          <a:ln w="12700">
            <a:solidFill>
              <a:srgbClr val="AE99F0"/>
            </a:solidFill>
            <a:prstDash val="solid"/>
            <a:tailEnd type="triangle"/>
          </a:ln>
        </p:spPr>
      </p:sp>
      <p:sp>
        <p:nvSpPr>
          <p:cNvPr id="26" name="Shape 24"/>
          <p:cNvSpPr/>
          <p:nvPr/>
        </p:nvSpPr>
        <p:spPr>
          <a:xfrm>
            <a:off x="5788152" y="3456432"/>
            <a:ext cx="155448" cy="0"/>
          </a:xfrm>
          <a:prstGeom prst="line">
            <a:avLst/>
          </a:prstGeom>
          <a:noFill/>
          <a:ln w="12700">
            <a:solidFill>
              <a:srgbClr val="AE99F0"/>
            </a:solidFill>
            <a:prstDash val="solid"/>
            <a:tailEnd type="triangle"/>
          </a:ln>
        </p:spPr>
      </p:sp>
      <p:sp>
        <p:nvSpPr>
          <p:cNvPr id="27" name="Shape 25"/>
          <p:cNvSpPr/>
          <p:nvPr/>
        </p:nvSpPr>
        <p:spPr>
          <a:xfrm>
            <a:off x="5788152" y="3877056"/>
            <a:ext cx="155448" cy="0"/>
          </a:xfrm>
          <a:prstGeom prst="line">
            <a:avLst/>
          </a:prstGeom>
          <a:noFill/>
          <a:ln w="12700">
            <a:solidFill>
              <a:srgbClr val="AE99F0"/>
            </a:solidFill>
            <a:prstDash val="solid"/>
            <a:tailEnd type="triangle"/>
          </a:ln>
        </p:spPr>
      </p:sp>
      <p:sp>
        <p:nvSpPr>
          <p:cNvPr id="28" name="Shape 26"/>
          <p:cNvSpPr/>
          <p:nvPr/>
        </p:nvSpPr>
        <p:spPr>
          <a:xfrm>
            <a:off x="5788152" y="4297680"/>
            <a:ext cx="155448" cy="0"/>
          </a:xfrm>
          <a:prstGeom prst="line">
            <a:avLst/>
          </a:prstGeom>
          <a:noFill/>
          <a:ln w="12700">
            <a:solidFill>
              <a:srgbClr val="AE99F0"/>
            </a:solidFill>
            <a:prstDash val="solid"/>
            <a:tailEnd type="triangle"/>
          </a:ln>
        </p:spPr>
      </p:sp>
      <p:sp>
        <p:nvSpPr>
          <p:cNvPr id="29" name="Shape 27"/>
          <p:cNvSpPr/>
          <p:nvPr/>
        </p:nvSpPr>
        <p:spPr>
          <a:xfrm>
            <a:off x="5943600" y="2011680"/>
            <a:ext cx="2103120" cy="365760"/>
          </a:xfrm>
          <a:prstGeom prst="rect">
            <a:avLst/>
          </a:prstGeom>
          <a:solidFill>
            <a:srgbClr val="1F1346"/>
          </a:solidFill>
          <a:ln w="15875">
            <a:solidFill>
              <a:srgbClr val="AE99F0"/>
            </a:solidFill>
            <a:prstDash val="solid"/>
          </a:ln>
        </p:spPr>
      </p:sp>
      <p:sp>
        <p:nvSpPr>
          <p:cNvPr id="30" name="Text 28"/>
          <p:cNvSpPr txBox="1"/>
          <p:nvPr/>
        </p:nvSpPr>
        <p:spPr>
          <a:xfrm>
            <a:off x="6053328" y="2011680"/>
            <a:ext cx="1920240" cy="365760"/>
          </a:xfrm>
          <a:prstGeom prst="rect">
            <a:avLst/>
          </a:prstGeom>
          <a:noFill/>
          <a:ln/>
        </p:spPr>
        <p:txBody>
          <a:bodyPr wrap="square" lIns="0" tIns="0" rIns="0" bIns="0" rtlCol="0" anchor="ctr"/>
          <a:lstStyle/>
          <a:p>
            <a:pPr indent="0" marL="0">
              <a:buNone/>
            </a:pPr>
            <a:r>
              <a:rPr lang="en-US" sz="1050" b="1" dirty="0">
                <a:solidFill>
                  <a:srgbClr val="F3F2F8"/>
                </a:solidFill>
                <a:latin typeface="JetBrains Mono" pitchFamily="34" charset="0"/>
                <a:ea typeface="JetBrains Mono" pitchFamily="34" charset="-122"/>
                <a:cs typeface="JetBrains Mono" pitchFamily="34" charset="-120"/>
              </a:rPr>
              <a:t>order-service</a:t>
            </a:r>
            <a:endParaRPr lang="en-US" sz="1050" dirty="0"/>
          </a:p>
        </p:txBody>
      </p:sp>
      <p:sp>
        <p:nvSpPr>
          <p:cNvPr id="31" name="Shape 29"/>
          <p:cNvSpPr/>
          <p:nvPr/>
        </p:nvSpPr>
        <p:spPr>
          <a:xfrm>
            <a:off x="5943600" y="2432304"/>
            <a:ext cx="2103120" cy="365760"/>
          </a:xfrm>
          <a:prstGeom prst="rect">
            <a:avLst/>
          </a:prstGeom>
          <a:solidFill>
            <a:srgbClr val="1F1346"/>
          </a:solidFill>
          <a:ln w="9525">
            <a:solidFill>
              <a:srgbClr val="7A6CB4"/>
            </a:solidFill>
            <a:prstDash val="solid"/>
          </a:ln>
        </p:spPr>
      </p:sp>
      <p:sp>
        <p:nvSpPr>
          <p:cNvPr id="32" name="Text 30"/>
          <p:cNvSpPr txBox="1"/>
          <p:nvPr/>
        </p:nvSpPr>
        <p:spPr>
          <a:xfrm>
            <a:off x="6053328" y="2432304"/>
            <a:ext cx="1920240" cy="365760"/>
          </a:xfrm>
          <a:prstGeom prst="rect">
            <a:avLst/>
          </a:prstGeom>
          <a:noFill/>
          <a:ln/>
        </p:spPr>
        <p:txBody>
          <a:bodyPr wrap="square" lIns="0" tIns="0" rIns="0" bIns="0" rtlCol="0" anchor="ctr"/>
          <a:lstStyle/>
          <a:p>
            <a:pPr indent="0" marL="0">
              <a:buNone/>
            </a:pPr>
            <a:r>
              <a:rPr lang="en-US" sz="1050" dirty="0">
                <a:solidFill>
                  <a:srgbClr val="B3A6DC"/>
                </a:solidFill>
                <a:latin typeface="JetBrains Mono" pitchFamily="34" charset="0"/>
                <a:ea typeface="JetBrains Mono" pitchFamily="34" charset="-122"/>
                <a:cs typeface="JetBrains Mono" pitchFamily="34" charset="-120"/>
              </a:rPr>
              <a:t>inventory-service</a:t>
            </a:r>
            <a:endParaRPr lang="en-US" sz="1050" dirty="0"/>
          </a:p>
        </p:txBody>
      </p:sp>
      <p:sp>
        <p:nvSpPr>
          <p:cNvPr id="33" name="Shape 31"/>
          <p:cNvSpPr/>
          <p:nvPr/>
        </p:nvSpPr>
        <p:spPr>
          <a:xfrm>
            <a:off x="5943600" y="2852928"/>
            <a:ext cx="2103120" cy="365760"/>
          </a:xfrm>
          <a:prstGeom prst="rect">
            <a:avLst/>
          </a:prstGeom>
          <a:solidFill>
            <a:srgbClr val="1F1346"/>
          </a:solidFill>
          <a:ln w="9525">
            <a:solidFill>
              <a:srgbClr val="7A6CB4"/>
            </a:solidFill>
            <a:prstDash val="solid"/>
          </a:ln>
        </p:spPr>
      </p:sp>
      <p:sp>
        <p:nvSpPr>
          <p:cNvPr id="34" name="Text 32"/>
          <p:cNvSpPr txBox="1"/>
          <p:nvPr/>
        </p:nvSpPr>
        <p:spPr>
          <a:xfrm>
            <a:off x="6053328" y="2852928"/>
            <a:ext cx="1920240" cy="365760"/>
          </a:xfrm>
          <a:prstGeom prst="rect">
            <a:avLst/>
          </a:prstGeom>
          <a:noFill/>
          <a:ln/>
        </p:spPr>
        <p:txBody>
          <a:bodyPr wrap="square" lIns="0" tIns="0" rIns="0" bIns="0" rtlCol="0" anchor="ctr"/>
          <a:lstStyle/>
          <a:p>
            <a:pPr indent="0" marL="0">
              <a:buNone/>
            </a:pPr>
            <a:r>
              <a:rPr lang="en-US" sz="1050" dirty="0">
                <a:solidFill>
                  <a:srgbClr val="B3A6DC"/>
                </a:solidFill>
                <a:latin typeface="JetBrains Mono" pitchFamily="34" charset="0"/>
                <a:ea typeface="JetBrains Mono" pitchFamily="34" charset="-122"/>
                <a:cs typeface="JetBrains Mono" pitchFamily="34" charset="-120"/>
              </a:rPr>
              <a:t>payment-service</a:t>
            </a:r>
            <a:endParaRPr lang="en-US" sz="1050" dirty="0"/>
          </a:p>
        </p:txBody>
      </p:sp>
      <p:sp>
        <p:nvSpPr>
          <p:cNvPr id="35" name="Shape 33"/>
          <p:cNvSpPr/>
          <p:nvPr/>
        </p:nvSpPr>
        <p:spPr>
          <a:xfrm>
            <a:off x="5943600" y="3273552"/>
            <a:ext cx="2103120" cy="365760"/>
          </a:xfrm>
          <a:prstGeom prst="rect">
            <a:avLst/>
          </a:prstGeom>
          <a:solidFill>
            <a:srgbClr val="1F1346"/>
          </a:solidFill>
          <a:ln w="9525">
            <a:solidFill>
              <a:srgbClr val="7A6CB4"/>
            </a:solidFill>
            <a:prstDash val="solid"/>
          </a:ln>
        </p:spPr>
      </p:sp>
      <p:sp>
        <p:nvSpPr>
          <p:cNvPr id="36" name="Text 34"/>
          <p:cNvSpPr txBox="1"/>
          <p:nvPr/>
        </p:nvSpPr>
        <p:spPr>
          <a:xfrm>
            <a:off x="6053328" y="3273552"/>
            <a:ext cx="1920240" cy="365760"/>
          </a:xfrm>
          <a:prstGeom prst="rect">
            <a:avLst/>
          </a:prstGeom>
          <a:noFill/>
          <a:ln/>
        </p:spPr>
        <p:txBody>
          <a:bodyPr wrap="square" lIns="0" tIns="0" rIns="0" bIns="0" rtlCol="0" anchor="ctr"/>
          <a:lstStyle/>
          <a:p>
            <a:pPr indent="0" marL="0">
              <a:buNone/>
            </a:pPr>
            <a:r>
              <a:rPr lang="en-US" sz="1050" dirty="0">
                <a:solidFill>
                  <a:srgbClr val="B3A6DC"/>
                </a:solidFill>
                <a:latin typeface="JetBrains Mono" pitchFamily="34" charset="0"/>
                <a:ea typeface="JetBrains Mono" pitchFamily="34" charset="-122"/>
                <a:cs typeface="JetBrains Mono" pitchFamily="34" charset="-120"/>
              </a:rPr>
              <a:t>shipping-service</a:t>
            </a:r>
            <a:endParaRPr lang="en-US" sz="1050" dirty="0"/>
          </a:p>
        </p:txBody>
      </p:sp>
      <p:sp>
        <p:nvSpPr>
          <p:cNvPr id="37" name="Shape 35"/>
          <p:cNvSpPr/>
          <p:nvPr/>
        </p:nvSpPr>
        <p:spPr>
          <a:xfrm>
            <a:off x="5943600" y="3694176"/>
            <a:ext cx="2103120" cy="365760"/>
          </a:xfrm>
          <a:prstGeom prst="rect">
            <a:avLst/>
          </a:prstGeom>
          <a:solidFill>
            <a:srgbClr val="1F1346"/>
          </a:solidFill>
          <a:ln w="9525">
            <a:solidFill>
              <a:srgbClr val="7A6CB4"/>
            </a:solidFill>
            <a:prstDash val="solid"/>
          </a:ln>
        </p:spPr>
      </p:sp>
      <p:sp>
        <p:nvSpPr>
          <p:cNvPr id="38" name="Text 36"/>
          <p:cNvSpPr txBox="1"/>
          <p:nvPr/>
        </p:nvSpPr>
        <p:spPr>
          <a:xfrm>
            <a:off x="6053328" y="3694176"/>
            <a:ext cx="1920240" cy="365760"/>
          </a:xfrm>
          <a:prstGeom prst="rect">
            <a:avLst/>
          </a:prstGeom>
          <a:noFill/>
          <a:ln/>
        </p:spPr>
        <p:txBody>
          <a:bodyPr wrap="square" lIns="0" tIns="0" rIns="0" bIns="0" rtlCol="0" anchor="ctr"/>
          <a:lstStyle/>
          <a:p>
            <a:pPr indent="0" marL="0">
              <a:buNone/>
            </a:pPr>
            <a:r>
              <a:rPr lang="en-US" sz="1050" dirty="0">
                <a:solidFill>
                  <a:srgbClr val="B3A6DC"/>
                </a:solidFill>
                <a:latin typeface="JetBrains Mono" pitchFamily="34" charset="0"/>
                <a:ea typeface="JetBrains Mono" pitchFamily="34" charset="-122"/>
                <a:cs typeface="JetBrains Mono" pitchFamily="34" charset="-120"/>
              </a:rPr>
              <a:t>notification-service</a:t>
            </a:r>
            <a:endParaRPr lang="en-US" sz="1050" dirty="0"/>
          </a:p>
        </p:txBody>
      </p:sp>
      <p:sp>
        <p:nvSpPr>
          <p:cNvPr id="39" name="Shape 37"/>
          <p:cNvSpPr/>
          <p:nvPr/>
        </p:nvSpPr>
        <p:spPr>
          <a:xfrm>
            <a:off x="5943600" y="4114800"/>
            <a:ext cx="2103120" cy="365760"/>
          </a:xfrm>
          <a:prstGeom prst="rect">
            <a:avLst/>
          </a:prstGeom>
          <a:solidFill>
            <a:srgbClr val="1F1346"/>
          </a:solidFill>
          <a:ln w="9525">
            <a:solidFill>
              <a:srgbClr val="7A6CB4"/>
            </a:solidFill>
            <a:prstDash val="solid"/>
          </a:ln>
        </p:spPr>
      </p:sp>
      <p:sp>
        <p:nvSpPr>
          <p:cNvPr id="40" name="Text 38"/>
          <p:cNvSpPr txBox="1"/>
          <p:nvPr/>
        </p:nvSpPr>
        <p:spPr>
          <a:xfrm>
            <a:off x="6053328" y="4114800"/>
            <a:ext cx="1920240" cy="365760"/>
          </a:xfrm>
          <a:prstGeom prst="rect">
            <a:avLst/>
          </a:prstGeom>
          <a:noFill/>
          <a:ln/>
        </p:spPr>
        <p:txBody>
          <a:bodyPr wrap="square" lIns="0" tIns="0" rIns="0" bIns="0" rtlCol="0" anchor="ctr"/>
          <a:lstStyle/>
          <a:p>
            <a:pPr indent="0" marL="0">
              <a:buNone/>
            </a:pPr>
            <a:r>
              <a:rPr lang="en-US" sz="1050" dirty="0">
                <a:solidFill>
                  <a:srgbClr val="B3A6DC"/>
                </a:solidFill>
                <a:latin typeface="JetBrains Mono" pitchFamily="34" charset="0"/>
                <a:ea typeface="JetBrains Mono" pitchFamily="34" charset="-122"/>
                <a:cs typeface="JetBrains Mono" pitchFamily="34" charset="-120"/>
              </a:rPr>
              <a:t>dashboard-api</a:t>
            </a:r>
            <a:endParaRPr lang="en-US" sz="1050" dirty="0"/>
          </a:p>
        </p:txBody>
      </p:sp>
      <p:sp>
        <p:nvSpPr>
          <p:cNvPr id="41" name="Shape 39"/>
          <p:cNvSpPr/>
          <p:nvPr/>
        </p:nvSpPr>
        <p:spPr>
          <a:xfrm>
            <a:off x="6995160" y="4480560"/>
            <a:ext cx="0" cy="256032"/>
          </a:xfrm>
          <a:prstGeom prst="line">
            <a:avLst/>
          </a:prstGeom>
          <a:noFill/>
          <a:ln w="15875">
            <a:solidFill>
              <a:srgbClr val="AE99F0"/>
            </a:solidFill>
            <a:prstDash val="solid"/>
            <a:headEnd type="triangle"/>
            <a:tailEnd type="triangle"/>
          </a:ln>
        </p:spPr>
      </p:sp>
      <p:sp>
        <p:nvSpPr>
          <p:cNvPr id="42" name="Text 40"/>
          <p:cNvSpPr txBox="1"/>
          <p:nvPr/>
        </p:nvSpPr>
        <p:spPr>
          <a:xfrm>
            <a:off x="7086600" y="4517136"/>
            <a:ext cx="1097280" cy="201168"/>
          </a:xfrm>
          <a:prstGeom prst="rect">
            <a:avLst/>
          </a:prstGeom>
          <a:noFill/>
          <a:ln/>
        </p:spPr>
        <p:txBody>
          <a:bodyPr wrap="square" lIns="0" tIns="0" rIns="0" bIns="0" rtlCol="0" anchor="t"/>
          <a:lstStyle/>
          <a:p>
            <a:pPr indent="0" marL="0">
              <a:buNone/>
            </a:pPr>
            <a:r>
              <a:rPr lang="en-US" sz="900" dirty="0">
                <a:solidFill>
                  <a:srgbClr val="B3A6DC"/>
                </a:solidFill>
                <a:latin typeface="JetBrains Mono" pitchFamily="34" charset="0"/>
                <a:ea typeface="JetBrains Mono" pitchFamily="34" charset="-122"/>
                <a:cs typeface="JetBrains Mono" pitchFamily="34" charset="-120"/>
              </a:rPr>
              <a:t>seven services</a:t>
            </a:r>
            <a:endParaRPr lang="en-US" sz="900" dirty="0"/>
          </a:p>
        </p:txBody>
      </p:sp>
      <p:sp>
        <p:nvSpPr>
          <p:cNvPr id="43" name="Shape 41"/>
          <p:cNvSpPr/>
          <p:nvPr/>
        </p:nvSpPr>
        <p:spPr>
          <a:xfrm>
            <a:off x="5943600" y="4736592"/>
            <a:ext cx="2103120" cy="841248"/>
          </a:xfrm>
          <a:prstGeom prst="rect">
            <a:avLst/>
          </a:prstGeom>
          <a:solidFill>
            <a:srgbClr val="1F1346"/>
          </a:solidFill>
          <a:ln w="9525">
            <a:solidFill>
              <a:srgbClr val="7A6CB4"/>
            </a:solidFill>
            <a:prstDash val="solid"/>
          </a:ln>
        </p:spPr>
      </p:sp>
      <p:sp>
        <p:nvSpPr>
          <p:cNvPr id="44" name="Text 42"/>
          <p:cNvSpPr txBox="1"/>
          <p:nvPr/>
        </p:nvSpPr>
        <p:spPr>
          <a:xfrm>
            <a:off x="6053328" y="4818888"/>
            <a:ext cx="1883664" cy="237744"/>
          </a:xfrm>
          <a:prstGeom prst="rect">
            <a:avLst/>
          </a:prstGeom>
          <a:noFill/>
          <a:ln/>
        </p:spPr>
        <p:txBody>
          <a:bodyPr wrap="square" lIns="0" tIns="0" rIns="0" bIns="0" rtlCol="0" anchor="t"/>
          <a:lstStyle/>
          <a:p>
            <a:pPr indent="0" marL="0">
              <a:buNone/>
            </a:pPr>
            <a:r>
              <a:rPr lang="en-US" sz="1100" b="1" dirty="0">
                <a:solidFill>
                  <a:srgbClr val="F3F2F8"/>
                </a:solidFill>
                <a:latin typeface="JetBrains Mono" pitchFamily="34" charset="0"/>
                <a:ea typeface="JetBrains Mono" pitchFamily="34" charset="-122"/>
                <a:cs typeface="JetBrains Mono" pitchFamily="34" charset="-120"/>
              </a:rPr>
              <a:t>Postgres, one DB</a:t>
            </a:r>
            <a:endParaRPr lang="en-US" sz="1100" dirty="0"/>
          </a:p>
        </p:txBody>
      </p:sp>
      <p:sp>
        <p:nvSpPr>
          <p:cNvPr id="45" name="Text 43"/>
          <p:cNvSpPr txBox="1"/>
          <p:nvPr/>
        </p:nvSpPr>
        <p:spPr>
          <a:xfrm>
            <a:off x="6053328" y="5065776"/>
            <a:ext cx="1883664" cy="457200"/>
          </a:xfrm>
          <a:prstGeom prst="rect">
            <a:avLst/>
          </a:prstGeom>
          <a:noFill/>
          <a:ln/>
        </p:spPr>
        <p:txBody>
          <a:bodyPr wrap="square" lIns="0" tIns="0" rIns="0" bIns="0" rtlCol="0" anchor="t"/>
          <a:lstStyle/>
          <a:p>
            <a:pPr indent="0" marL="0">
              <a:lnSpc>
                <a:spcPct val="110000"/>
              </a:lnSpc>
              <a:buNone/>
            </a:pPr>
            <a:r>
              <a:rPr lang="en-US" sz="1050" dirty="0">
                <a:solidFill>
                  <a:srgbClr val="B3A6DC"/>
                </a:solidFill>
                <a:latin typeface="Inter" pitchFamily="34" charset="0"/>
                <a:ea typeface="Inter" pitchFamily="34" charset="-122"/>
                <a:cs typeface="Inter" pitchFamily="34" charset="-120"/>
              </a:rPr>
              <a:t>dev: StatefulSet, 20 Gi gp3. staging and prod: RDS</a:t>
            </a:r>
            <a:endParaRPr lang="en-US" sz="1050" dirty="0"/>
          </a:p>
        </p:txBody>
      </p:sp>
      <p:sp>
        <p:nvSpPr>
          <p:cNvPr id="46" name="Shape 44"/>
          <p:cNvSpPr/>
          <p:nvPr/>
        </p:nvSpPr>
        <p:spPr>
          <a:xfrm>
            <a:off x="8046720" y="2103120"/>
            <a:ext cx="365760" cy="0"/>
          </a:xfrm>
          <a:prstGeom prst="line">
            <a:avLst/>
          </a:prstGeom>
          <a:noFill/>
          <a:ln w="15875">
            <a:solidFill>
              <a:srgbClr val="AE99F0"/>
            </a:solidFill>
            <a:prstDash val="solid"/>
            <a:tailEnd type="triangle"/>
          </a:ln>
        </p:spPr>
      </p:sp>
      <p:sp>
        <p:nvSpPr>
          <p:cNvPr id="47" name="Shape 45"/>
          <p:cNvSpPr/>
          <p:nvPr/>
        </p:nvSpPr>
        <p:spPr>
          <a:xfrm>
            <a:off x="8412480" y="2011680"/>
            <a:ext cx="1371600" cy="749808"/>
          </a:xfrm>
          <a:prstGeom prst="rect">
            <a:avLst/>
          </a:prstGeom>
          <a:solidFill>
            <a:srgbClr val="1F1346"/>
          </a:solidFill>
          <a:ln w="9525">
            <a:solidFill>
              <a:srgbClr val="7A6CB4"/>
            </a:solidFill>
            <a:prstDash val="solid"/>
          </a:ln>
        </p:spPr>
      </p:sp>
      <p:sp>
        <p:nvSpPr>
          <p:cNvPr id="48" name="Text 46"/>
          <p:cNvSpPr txBox="1"/>
          <p:nvPr/>
        </p:nvSpPr>
        <p:spPr>
          <a:xfrm>
            <a:off x="8522208" y="2093976"/>
            <a:ext cx="1152144" cy="237744"/>
          </a:xfrm>
          <a:prstGeom prst="rect">
            <a:avLst/>
          </a:prstGeom>
          <a:noFill/>
          <a:ln/>
        </p:spPr>
        <p:txBody>
          <a:bodyPr wrap="square" lIns="0" tIns="0" rIns="0" bIns="0" rtlCol="0" anchor="t"/>
          <a:lstStyle/>
          <a:p>
            <a:pPr indent="0" marL="0">
              <a:buNone/>
            </a:pPr>
            <a:r>
              <a:rPr lang="en-US" sz="1100" b="1" dirty="0">
                <a:solidFill>
                  <a:srgbClr val="F3F2F8"/>
                </a:solidFill>
                <a:latin typeface="JetBrains Mono" pitchFamily="34" charset="0"/>
                <a:ea typeface="JetBrains Mono" pitchFamily="34" charset="-122"/>
                <a:cs typeface="JetBrains Mono" pitchFamily="34" charset="-120"/>
              </a:rPr>
              <a:t>SQS</a:t>
            </a:r>
            <a:endParaRPr lang="en-US" sz="1100" dirty="0"/>
          </a:p>
        </p:txBody>
      </p:sp>
      <p:sp>
        <p:nvSpPr>
          <p:cNvPr id="49" name="Text 47"/>
          <p:cNvSpPr txBox="1"/>
          <p:nvPr/>
        </p:nvSpPr>
        <p:spPr>
          <a:xfrm>
            <a:off x="8522208" y="2340864"/>
            <a:ext cx="1152144" cy="365760"/>
          </a:xfrm>
          <a:prstGeom prst="rect">
            <a:avLst/>
          </a:prstGeom>
          <a:noFill/>
          <a:ln/>
        </p:spPr>
        <p:txBody>
          <a:bodyPr wrap="square" lIns="0" tIns="0" rIns="0" bIns="0" rtlCol="0" anchor="t"/>
          <a:lstStyle/>
          <a:p>
            <a:pPr indent="0" marL="0">
              <a:lnSpc>
                <a:spcPct val="110000"/>
              </a:lnSpc>
              <a:buNone/>
            </a:pPr>
            <a:r>
              <a:rPr lang="en-US" sz="1050" dirty="0">
                <a:solidFill>
                  <a:srgbClr val="B3A6DC"/>
                </a:solidFill>
                <a:latin typeface="Inter" pitchFamily="34" charset="0"/>
                <a:ea typeface="Inter" pitchFamily="34" charset="-122"/>
                <a:cs typeface="Inter" pitchFamily="34" charset="-120"/>
              </a:rPr>
              <a:t>order-events, fed by the outbox</a:t>
            </a:r>
            <a:endParaRPr lang="en-US" sz="1050" dirty="0"/>
          </a:p>
        </p:txBody>
      </p:sp>
      <p:sp>
        <p:nvSpPr>
          <p:cNvPr id="50" name="Shape 48"/>
          <p:cNvSpPr/>
          <p:nvPr/>
        </p:nvSpPr>
        <p:spPr>
          <a:xfrm>
            <a:off x="9098280" y="2761488"/>
            <a:ext cx="0" cy="164592"/>
          </a:xfrm>
          <a:prstGeom prst="line">
            <a:avLst/>
          </a:prstGeom>
          <a:noFill/>
          <a:ln w="15875">
            <a:solidFill>
              <a:srgbClr val="7A6CB4"/>
            </a:solidFill>
            <a:prstDash val="dash"/>
            <a:tailEnd type="triangle"/>
          </a:ln>
        </p:spPr>
      </p:sp>
      <p:sp>
        <p:nvSpPr>
          <p:cNvPr id="51" name="Shape 49"/>
          <p:cNvSpPr/>
          <p:nvPr/>
        </p:nvSpPr>
        <p:spPr>
          <a:xfrm>
            <a:off x="8412480" y="2926080"/>
            <a:ext cx="1371600" cy="530352"/>
          </a:xfrm>
          <a:prstGeom prst="rect">
            <a:avLst/>
          </a:prstGeom>
          <a:solidFill>
            <a:srgbClr val="1F1346"/>
          </a:solidFill>
          <a:ln w="9525">
            <a:solidFill>
              <a:srgbClr val="7A6CB4"/>
            </a:solidFill>
            <a:prstDash val="solid"/>
          </a:ln>
        </p:spPr>
      </p:sp>
      <p:sp>
        <p:nvSpPr>
          <p:cNvPr id="52" name="Text 50"/>
          <p:cNvSpPr txBox="1"/>
          <p:nvPr/>
        </p:nvSpPr>
        <p:spPr>
          <a:xfrm>
            <a:off x="8522208" y="3008376"/>
            <a:ext cx="1152144" cy="237744"/>
          </a:xfrm>
          <a:prstGeom prst="rect">
            <a:avLst/>
          </a:prstGeom>
          <a:noFill/>
          <a:ln/>
        </p:spPr>
        <p:txBody>
          <a:bodyPr wrap="square" lIns="0" tIns="0" rIns="0" bIns="0" rtlCol="0" anchor="t"/>
          <a:lstStyle/>
          <a:p>
            <a:pPr indent="0" marL="0">
              <a:buNone/>
            </a:pPr>
            <a:r>
              <a:rPr lang="en-US" sz="1100" b="1" dirty="0">
                <a:solidFill>
                  <a:srgbClr val="F3F2F8"/>
                </a:solidFill>
                <a:latin typeface="JetBrains Mono" pitchFamily="34" charset="0"/>
                <a:ea typeface="JetBrains Mono" pitchFamily="34" charset="-122"/>
                <a:cs typeface="JetBrains Mono" pitchFamily="34" charset="-120"/>
              </a:rPr>
              <a:t>DLQ</a:t>
            </a:r>
            <a:endParaRPr lang="en-US" sz="1100" dirty="0"/>
          </a:p>
        </p:txBody>
      </p:sp>
      <p:sp>
        <p:nvSpPr>
          <p:cNvPr id="53" name="Text 51"/>
          <p:cNvSpPr txBox="1"/>
          <p:nvPr/>
        </p:nvSpPr>
        <p:spPr>
          <a:xfrm>
            <a:off x="8522208" y="3209544"/>
            <a:ext cx="1152144" cy="192024"/>
          </a:xfrm>
          <a:prstGeom prst="rect">
            <a:avLst/>
          </a:prstGeom>
          <a:noFill/>
          <a:ln/>
        </p:spPr>
        <p:txBody>
          <a:bodyPr wrap="square" lIns="0" tIns="0" rIns="0" bIns="0" rtlCol="0" anchor="t"/>
          <a:lstStyle/>
          <a:p>
            <a:pPr indent="0" marL="0">
              <a:lnSpc>
                <a:spcPct val="110000"/>
              </a:lnSpc>
              <a:buNone/>
            </a:pPr>
            <a:r>
              <a:rPr lang="en-US" sz="1050" dirty="0">
                <a:solidFill>
                  <a:srgbClr val="B3A6DC"/>
                </a:solidFill>
                <a:latin typeface="Inter" pitchFamily="34" charset="0"/>
                <a:ea typeface="Inter" pitchFamily="34" charset="-122"/>
                <a:cs typeface="Inter" pitchFamily="34" charset="-120"/>
              </a:rPr>
              <a:t>after 3 failures</a:t>
            </a:r>
            <a:endParaRPr lang="en-US" sz="1050" dirty="0"/>
          </a:p>
        </p:txBody>
      </p:sp>
      <p:sp>
        <p:nvSpPr>
          <p:cNvPr id="54" name="Shape 52"/>
          <p:cNvSpPr/>
          <p:nvPr/>
        </p:nvSpPr>
        <p:spPr>
          <a:xfrm>
            <a:off x="9784080" y="2377440"/>
            <a:ext cx="228600" cy="0"/>
          </a:xfrm>
          <a:prstGeom prst="line">
            <a:avLst/>
          </a:prstGeom>
          <a:noFill/>
          <a:ln w="15875">
            <a:solidFill>
              <a:srgbClr val="AE99F0"/>
            </a:solidFill>
            <a:prstDash val="solid"/>
            <a:tailEnd type="triangle"/>
          </a:ln>
        </p:spPr>
      </p:sp>
      <p:sp>
        <p:nvSpPr>
          <p:cNvPr id="55" name="Shape 53"/>
          <p:cNvSpPr/>
          <p:nvPr/>
        </p:nvSpPr>
        <p:spPr>
          <a:xfrm>
            <a:off x="10012680" y="2011680"/>
            <a:ext cx="1325880" cy="749808"/>
          </a:xfrm>
          <a:prstGeom prst="rect">
            <a:avLst/>
          </a:prstGeom>
          <a:solidFill>
            <a:srgbClr val="1F1346"/>
          </a:solidFill>
          <a:ln w="9525">
            <a:solidFill>
              <a:srgbClr val="AE99F0"/>
            </a:solidFill>
            <a:prstDash val="solid"/>
          </a:ln>
        </p:spPr>
      </p:sp>
      <p:sp>
        <p:nvSpPr>
          <p:cNvPr id="56" name="Text 54"/>
          <p:cNvSpPr txBox="1"/>
          <p:nvPr/>
        </p:nvSpPr>
        <p:spPr>
          <a:xfrm>
            <a:off x="10122408" y="2093976"/>
            <a:ext cx="1106424" cy="237744"/>
          </a:xfrm>
          <a:prstGeom prst="rect">
            <a:avLst/>
          </a:prstGeom>
          <a:noFill/>
          <a:ln/>
        </p:spPr>
        <p:txBody>
          <a:bodyPr wrap="square" lIns="0" tIns="0" rIns="0" bIns="0" rtlCol="0" anchor="t"/>
          <a:lstStyle/>
          <a:p>
            <a:pPr indent="0" marL="0">
              <a:buNone/>
            </a:pPr>
            <a:r>
              <a:rPr lang="en-US" sz="1100" b="1" dirty="0">
                <a:solidFill>
                  <a:srgbClr val="F3F2F8"/>
                </a:solidFill>
                <a:latin typeface="JetBrains Mono" pitchFamily="34" charset="0"/>
                <a:ea typeface="JetBrains Mono" pitchFamily="34" charset="-122"/>
                <a:cs typeface="JetBrains Mono" pitchFamily="34" charset="-120"/>
              </a:rPr>
              <a:t>worker</a:t>
            </a:r>
            <a:endParaRPr lang="en-US" sz="1100" dirty="0"/>
          </a:p>
        </p:txBody>
      </p:sp>
      <p:sp>
        <p:nvSpPr>
          <p:cNvPr id="57" name="Text 55"/>
          <p:cNvSpPr txBox="1"/>
          <p:nvPr/>
        </p:nvSpPr>
        <p:spPr>
          <a:xfrm>
            <a:off x="10122408" y="2340864"/>
            <a:ext cx="1106424" cy="365760"/>
          </a:xfrm>
          <a:prstGeom prst="rect">
            <a:avLst/>
          </a:prstGeom>
          <a:noFill/>
          <a:ln/>
        </p:spPr>
        <p:txBody>
          <a:bodyPr wrap="square" lIns="0" tIns="0" rIns="0" bIns="0" rtlCol="0" anchor="t"/>
          <a:lstStyle/>
          <a:p>
            <a:pPr indent="0" marL="0">
              <a:lnSpc>
                <a:spcPct val="110000"/>
              </a:lnSpc>
              <a:buNone/>
            </a:pPr>
            <a:r>
              <a:rPr lang="en-US" sz="1050" dirty="0">
                <a:solidFill>
                  <a:srgbClr val="B3A6DC"/>
                </a:solidFill>
                <a:latin typeface="Inter" pitchFamily="34" charset="0"/>
                <a:ea typeface="Inter" pitchFamily="34" charset="-122"/>
                <a:cs typeface="Inter" pitchFamily="34" charset="-120"/>
              </a:rPr>
              <a:t>long-polls SQS, drives fulfilment</a:t>
            </a:r>
            <a:endParaRPr lang="en-US" sz="1050" dirty="0"/>
          </a:p>
        </p:txBody>
      </p:sp>
      <p:sp>
        <p:nvSpPr>
          <p:cNvPr id="58" name="Shape 56"/>
          <p:cNvSpPr/>
          <p:nvPr/>
        </p:nvSpPr>
        <p:spPr>
          <a:xfrm>
            <a:off x="10671048" y="2761488"/>
            <a:ext cx="0" cy="1005840"/>
          </a:xfrm>
          <a:prstGeom prst="line">
            <a:avLst/>
          </a:prstGeom>
          <a:noFill/>
          <a:ln w="15875">
            <a:solidFill>
              <a:srgbClr val="AE99F0"/>
            </a:solidFill>
            <a:prstDash val="solid"/>
          </a:ln>
        </p:spPr>
      </p:sp>
      <p:sp>
        <p:nvSpPr>
          <p:cNvPr id="59" name="Shape 57"/>
          <p:cNvSpPr/>
          <p:nvPr/>
        </p:nvSpPr>
        <p:spPr>
          <a:xfrm flipH="1">
            <a:off x="8229600" y="3767328"/>
            <a:ext cx="2441448" cy="0"/>
          </a:xfrm>
          <a:prstGeom prst="line">
            <a:avLst/>
          </a:prstGeom>
          <a:noFill/>
          <a:ln w="15875">
            <a:solidFill>
              <a:srgbClr val="AE99F0"/>
            </a:solidFill>
            <a:prstDash val="solid"/>
          </a:ln>
        </p:spPr>
      </p:sp>
      <p:sp>
        <p:nvSpPr>
          <p:cNvPr id="60" name="Shape 58"/>
          <p:cNvSpPr/>
          <p:nvPr/>
        </p:nvSpPr>
        <p:spPr>
          <a:xfrm>
            <a:off x="8229600" y="2286000"/>
            <a:ext cx="0" cy="1591056"/>
          </a:xfrm>
          <a:prstGeom prst="line">
            <a:avLst/>
          </a:prstGeom>
          <a:noFill/>
          <a:ln w="15875">
            <a:solidFill>
              <a:srgbClr val="AE99F0"/>
            </a:solidFill>
            <a:prstDash val="solid"/>
          </a:ln>
        </p:spPr>
      </p:sp>
      <p:sp>
        <p:nvSpPr>
          <p:cNvPr id="61" name="Shape 59"/>
          <p:cNvSpPr/>
          <p:nvPr/>
        </p:nvSpPr>
        <p:spPr>
          <a:xfrm flipH="1">
            <a:off x="8046720" y="2286000"/>
            <a:ext cx="182880" cy="0"/>
          </a:xfrm>
          <a:prstGeom prst="line">
            <a:avLst/>
          </a:prstGeom>
          <a:noFill/>
          <a:ln w="12700">
            <a:solidFill>
              <a:srgbClr val="AE99F0"/>
            </a:solidFill>
            <a:prstDash val="solid"/>
            <a:tailEnd type="triangle"/>
          </a:ln>
        </p:spPr>
      </p:sp>
      <p:sp>
        <p:nvSpPr>
          <p:cNvPr id="62" name="Shape 60"/>
          <p:cNvSpPr/>
          <p:nvPr/>
        </p:nvSpPr>
        <p:spPr>
          <a:xfrm flipH="1">
            <a:off x="8046720" y="2615184"/>
            <a:ext cx="182880" cy="0"/>
          </a:xfrm>
          <a:prstGeom prst="line">
            <a:avLst/>
          </a:prstGeom>
          <a:noFill/>
          <a:ln w="12700">
            <a:solidFill>
              <a:srgbClr val="AE99F0"/>
            </a:solidFill>
            <a:prstDash val="solid"/>
            <a:tailEnd type="triangle"/>
          </a:ln>
        </p:spPr>
      </p:sp>
      <p:sp>
        <p:nvSpPr>
          <p:cNvPr id="63" name="Shape 61"/>
          <p:cNvSpPr/>
          <p:nvPr/>
        </p:nvSpPr>
        <p:spPr>
          <a:xfrm flipH="1">
            <a:off x="8046720" y="3035808"/>
            <a:ext cx="182880" cy="0"/>
          </a:xfrm>
          <a:prstGeom prst="line">
            <a:avLst/>
          </a:prstGeom>
          <a:noFill/>
          <a:ln w="12700">
            <a:solidFill>
              <a:srgbClr val="AE99F0"/>
            </a:solidFill>
            <a:prstDash val="solid"/>
            <a:tailEnd type="triangle"/>
          </a:ln>
        </p:spPr>
      </p:sp>
      <p:sp>
        <p:nvSpPr>
          <p:cNvPr id="64" name="Shape 62"/>
          <p:cNvSpPr/>
          <p:nvPr/>
        </p:nvSpPr>
        <p:spPr>
          <a:xfrm flipH="1">
            <a:off x="8046720" y="3456432"/>
            <a:ext cx="182880" cy="0"/>
          </a:xfrm>
          <a:prstGeom prst="line">
            <a:avLst/>
          </a:prstGeom>
          <a:noFill/>
          <a:ln w="12700">
            <a:solidFill>
              <a:srgbClr val="AE99F0"/>
            </a:solidFill>
            <a:prstDash val="solid"/>
            <a:tailEnd type="triangle"/>
          </a:ln>
        </p:spPr>
      </p:sp>
      <p:sp>
        <p:nvSpPr>
          <p:cNvPr id="65" name="Shape 63"/>
          <p:cNvSpPr/>
          <p:nvPr/>
        </p:nvSpPr>
        <p:spPr>
          <a:xfrm flipH="1">
            <a:off x="8046720" y="3877056"/>
            <a:ext cx="182880" cy="0"/>
          </a:xfrm>
          <a:prstGeom prst="line">
            <a:avLst/>
          </a:prstGeom>
          <a:noFill/>
          <a:ln w="12700">
            <a:solidFill>
              <a:srgbClr val="AE99F0"/>
            </a:solidFill>
            <a:prstDash val="solid"/>
            <a:tailEnd type="triangle"/>
          </a:ln>
        </p:spPr>
      </p:sp>
      <p:sp>
        <p:nvSpPr>
          <p:cNvPr id="66" name="Text 64"/>
          <p:cNvSpPr txBox="1"/>
          <p:nvPr/>
        </p:nvSpPr>
        <p:spPr>
          <a:xfrm>
            <a:off x="8321040" y="3529584"/>
            <a:ext cx="2286000" cy="201168"/>
          </a:xfrm>
          <a:prstGeom prst="rect">
            <a:avLst/>
          </a:prstGeom>
          <a:noFill/>
          <a:ln/>
        </p:spPr>
        <p:txBody>
          <a:bodyPr wrap="square" lIns="0" tIns="0" rIns="0" bIns="0" rtlCol="0" anchor="t"/>
          <a:lstStyle/>
          <a:p>
            <a:pPr indent="0" marL="0">
              <a:buNone/>
            </a:pPr>
            <a:r>
              <a:rPr lang="en-US" sz="850" dirty="0">
                <a:solidFill>
                  <a:srgbClr val="B3A6DC"/>
                </a:solidFill>
                <a:latin typeface="JetBrains Mono" pitchFamily="34" charset="0"/>
                <a:ea typeface="JetBrains Mono" pitchFamily="34" charset="-122"/>
                <a:cs typeface="JetBrains Mono" pitchFamily="34" charset="-120"/>
              </a:rPr>
              <a:t>calls 5 services over HTTP</a:t>
            </a:r>
            <a:endParaRPr lang="en-US" sz="850" dirty="0"/>
          </a:p>
        </p:txBody>
      </p:sp>
      <p:sp>
        <p:nvSpPr>
          <p:cNvPr id="67" name="Shape 65"/>
          <p:cNvSpPr/>
          <p:nvPr/>
        </p:nvSpPr>
        <p:spPr>
          <a:xfrm>
            <a:off x="10012680" y="4160520"/>
            <a:ext cx="1325880" cy="1024128"/>
          </a:xfrm>
          <a:prstGeom prst="rect">
            <a:avLst/>
          </a:prstGeom>
          <a:solidFill>
            <a:srgbClr val="1F1346"/>
          </a:solidFill>
          <a:ln w="9525">
            <a:solidFill>
              <a:srgbClr val="7A6CB4"/>
            </a:solidFill>
            <a:prstDash val="solid"/>
          </a:ln>
        </p:spPr>
      </p:sp>
      <p:sp>
        <p:nvSpPr>
          <p:cNvPr id="68" name="Text 66"/>
          <p:cNvSpPr txBox="1"/>
          <p:nvPr/>
        </p:nvSpPr>
        <p:spPr>
          <a:xfrm>
            <a:off x="10122408" y="4242816"/>
            <a:ext cx="1106424" cy="237744"/>
          </a:xfrm>
          <a:prstGeom prst="rect">
            <a:avLst/>
          </a:prstGeom>
          <a:noFill/>
          <a:ln/>
        </p:spPr>
        <p:txBody>
          <a:bodyPr wrap="square" lIns="0" tIns="0" rIns="0" bIns="0" rtlCol="0" anchor="t"/>
          <a:lstStyle/>
          <a:p>
            <a:pPr indent="0" marL="0">
              <a:buNone/>
            </a:pPr>
            <a:r>
              <a:rPr lang="en-US" sz="1100" b="1" dirty="0">
                <a:solidFill>
                  <a:srgbClr val="F3F2F8"/>
                </a:solidFill>
                <a:latin typeface="JetBrains Mono" pitchFamily="34" charset="0"/>
                <a:ea typeface="JetBrains Mono" pitchFamily="34" charset="-122"/>
                <a:cs typeface="JetBrains Mono" pitchFamily="34" charset="-120"/>
              </a:rPr>
              <a:t>scheduler</a:t>
            </a:r>
            <a:endParaRPr lang="en-US" sz="1100" dirty="0"/>
          </a:p>
        </p:txBody>
      </p:sp>
      <p:sp>
        <p:nvSpPr>
          <p:cNvPr id="69" name="Text 67"/>
          <p:cNvSpPr txBox="1"/>
          <p:nvPr/>
        </p:nvSpPr>
        <p:spPr>
          <a:xfrm>
            <a:off x="10122408" y="4489704"/>
            <a:ext cx="1106424" cy="640080"/>
          </a:xfrm>
          <a:prstGeom prst="rect">
            <a:avLst/>
          </a:prstGeom>
          <a:noFill/>
          <a:ln/>
        </p:spPr>
        <p:txBody>
          <a:bodyPr wrap="square" lIns="0" tIns="0" rIns="0" bIns="0" rtlCol="0" anchor="t"/>
          <a:lstStyle/>
          <a:p>
            <a:pPr indent="0" marL="0">
              <a:lnSpc>
                <a:spcPct val="110000"/>
              </a:lnSpc>
              <a:buNone/>
            </a:pPr>
            <a:r>
              <a:rPr lang="en-US" sz="1050" dirty="0">
                <a:solidFill>
                  <a:srgbClr val="B3A6DC"/>
                </a:solidFill>
                <a:latin typeface="Inter" pitchFamily="34" charset="0"/>
                <a:ea typeface="Inter" pitchFamily="34" charset="-122"/>
                <a:cs typeface="Inter" pitchFamily="34" charset="-120"/>
              </a:rPr>
              <a:t>expires stock holds, cancels stale orders</a:t>
            </a:r>
            <a:endParaRPr lang="en-US" sz="1050" dirty="0"/>
          </a:p>
        </p:txBody>
      </p:sp>
      <p:sp>
        <p:nvSpPr>
          <p:cNvPr id="70" name="Shape 68"/>
          <p:cNvSpPr/>
          <p:nvPr/>
        </p:nvSpPr>
        <p:spPr>
          <a:xfrm flipH="1">
            <a:off x="8046720" y="5029200"/>
            <a:ext cx="1965960" cy="0"/>
          </a:xfrm>
          <a:prstGeom prst="line">
            <a:avLst/>
          </a:prstGeom>
          <a:noFill/>
          <a:ln w="15875">
            <a:solidFill>
              <a:srgbClr val="7A6CB4"/>
            </a:solidFill>
            <a:prstDash val="solid"/>
            <a:tailEnd type="triangle"/>
          </a:ln>
        </p:spPr>
      </p:sp>
      <p:sp>
        <p:nvSpPr>
          <p:cNvPr id="71" name="Text 69"/>
          <p:cNvSpPr txBox="1"/>
          <p:nvPr/>
        </p:nvSpPr>
        <p:spPr>
          <a:xfrm>
            <a:off x="8229600" y="4791456"/>
            <a:ext cx="1737360" cy="201168"/>
          </a:xfrm>
          <a:prstGeom prst="rect">
            <a:avLst/>
          </a:prstGeom>
          <a:noFill/>
          <a:ln/>
        </p:spPr>
        <p:txBody>
          <a:bodyPr wrap="square" lIns="0" tIns="0" rIns="0" bIns="0" rtlCol="0" anchor="t"/>
          <a:lstStyle/>
          <a:p>
            <a:pPr indent="0" marL="0">
              <a:buNone/>
            </a:pPr>
            <a:r>
              <a:rPr lang="en-US" sz="850" dirty="0">
                <a:solidFill>
                  <a:srgbClr val="B3A6DC"/>
                </a:solidFill>
                <a:latin typeface="JetBrains Mono" pitchFamily="34" charset="0"/>
                <a:ea typeface="JetBrains Mono" pitchFamily="34" charset="-122"/>
                <a:cs typeface="JetBrains Mono" pitchFamily="34" charset="-120"/>
              </a:rPr>
              <a:t>DB, and order-service API</a:t>
            </a:r>
            <a:endParaRPr lang="en-US" sz="850" dirty="0"/>
          </a:p>
        </p:txBody>
      </p:sp>
      <p:sp>
        <p:nvSpPr>
          <p:cNvPr id="72" name="Shape 70"/>
          <p:cNvSpPr/>
          <p:nvPr/>
        </p:nvSpPr>
        <p:spPr>
          <a:xfrm>
            <a:off x="2011680" y="5650992"/>
            <a:ext cx="9354312" cy="347472"/>
          </a:xfrm>
          <a:prstGeom prst="rect">
            <a:avLst/>
          </a:prstGeom>
          <a:solidFill>
            <a:srgbClr val="1F1346"/>
          </a:solidFill>
          <a:ln/>
        </p:spPr>
      </p:sp>
      <p:sp>
        <p:nvSpPr>
          <p:cNvPr id="73" name="Text 71"/>
          <p:cNvSpPr txBox="1"/>
          <p:nvPr/>
        </p:nvSpPr>
        <p:spPr>
          <a:xfrm>
            <a:off x="2148840" y="5650992"/>
            <a:ext cx="9144000" cy="347472"/>
          </a:xfrm>
          <a:prstGeom prst="rect">
            <a:avLst/>
          </a:prstGeom>
          <a:noFill/>
          <a:ln/>
        </p:spPr>
        <p:txBody>
          <a:bodyPr wrap="square" lIns="0" tIns="0" rIns="0" bIns="0" rtlCol="0" anchor="ctr"/>
          <a:lstStyle/>
          <a:p>
            <a:pPr indent="0" marL="0">
              <a:buNone/>
            </a:pPr>
            <a:r>
              <a:rPr lang="en-US" sz="950" b="1" dirty="0">
                <a:solidFill>
                  <a:srgbClr val="AE99F0"/>
                </a:solidFill>
                <a:latin typeface="JetBrains Mono" pitchFamily="34" charset="0"/>
                <a:ea typeface="JetBrains Mono" pitchFamily="34" charset="-122"/>
                <a:cs typeface="JetBrains Mono" pitchFamily="34" charset="-120"/>
              </a:rPr>
              <a:t>PLATFORM   </a:t>
            </a:r>
            <a:pPr indent="0" marL="0">
              <a:buNone/>
            </a:pPr>
            <a:r>
              <a:rPr lang="en-US" sz="950" dirty="0">
                <a:solidFill>
                  <a:srgbClr val="B3A6DC"/>
                </a:solidFill>
                <a:latin typeface="JetBrains Mono" pitchFamily="34" charset="0"/>
                <a:ea typeface="JetBrains Mono" pitchFamily="34" charset="-122"/>
                <a:cs typeface="JetBrains Mono" pitchFamily="34" charset="-120"/>
              </a:rPr>
              <a:t>ArgoCD from Git  ·  Karpenter  ·  External Secrets  ·  Pod Identity  ·  Prometheus, Grafana</a:t>
            </a:r>
            <a:endParaRPr lang="en-US" sz="9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F3F2F8"/>
                </a:solidFill>
                <a:latin typeface="JetBrains Mono"/>
                <a:ea typeface="JetBrains Mono"/>
                <a:cs typeface="JetBrains Mono"/>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III  ·  END TO END, PART 1: ACCEPT</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Accepting an order: all or nothing</a:t>
            </a:r>
            <a:endParaRPr lang="en-US" sz="3000" dirty="0"/>
          </a:p>
        </p:txBody>
      </p:sp>
      <p:sp>
        <p:nvSpPr>
          <p:cNvPr id="4" name="Shape 2"/>
          <p:cNvSpPr/>
          <p:nvPr/>
        </p:nvSpPr>
        <p:spPr>
          <a:xfrm>
            <a:off x="685800" y="1874520"/>
            <a:ext cx="1572768" cy="1325880"/>
          </a:xfrm>
          <a:prstGeom prst="rect">
            <a:avLst/>
          </a:prstGeom>
          <a:solidFill>
            <a:srgbClr val="FBFAF7"/>
          </a:solidFill>
          <a:ln w="9525">
            <a:solidFill>
              <a:srgbClr val="C2C3C5"/>
            </a:solidFill>
            <a:prstDash val="solid"/>
          </a:ln>
        </p:spPr>
      </p:sp>
      <p:sp>
        <p:nvSpPr>
          <p:cNvPr id="5" name="Text 3"/>
          <p:cNvSpPr txBox="1"/>
          <p:nvPr/>
        </p:nvSpPr>
        <p:spPr>
          <a:xfrm>
            <a:off x="795528" y="1956816"/>
            <a:ext cx="1353312"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1  Browser</a:t>
            </a:r>
            <a:endParaRPr lang="en-US" sz="1100" dirty="0"/>
          </a:p>
        </p:txBody>
      </p:sp>
      <p:sp>
        <p:nvSpPr>
          <p:cNvPr id="6" name="Text 4"/>
          <p:cNvSpPr txBox="1"/>
          <p:nvPr/>
        </p:nvSpPr>
        <p:spPr>
          <a:xfrm>
            <a:off x="795528" y="2203704"/>
            <a:ext cx="1353312" cy="941832"/>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Inter" pitchFamily="34" charset="0"/>
                <a:ea typeface="Inter" pitchFamily="34" charset="-122"/>
                <a:cs typeface="Inter" pitchFamily="34" charset="-120"/>
              </a:rPr>
              <a:t>POST /api/orders with an Idempotency-Key; a retry reuses the same key.</a:t>
            </a:r>
            <a:endParaRPr lang="en-US" sz="1100" dirty="0"/>
          </a:p>
        </p:txBody>
      </p:sp>
      <p:sp>
        <p:nvSpPr>
          <p:cNvPr id="7" name="Shape 5"/>
          <p:cNvSpPr/>
          <p:nvPr/>
        </p:nvSpPr>
        <p:spPr>
          <a:xfrm>
            <a:off x="2258568" y="2537460"/>
            <a:ext cx="256032" cy="0"/>
          </a:xfrm>
          <a:prstGeom prst="line">
            <a:avLst/>
          </a:prstGeom>
          <a:noFill/>
          <a:ln w="15875">
            <a:solidFill>
              <a:srgbClr val="4A5470"/>
            </a:solidFill>
            <a:prstDash val="solid"/>
            <a:tailEnd type="triangle"/>
          </a:ln>
        </p:spPr>
      </p:sp>
      <p:sp>
        <p:nvSpPr>
          <p:cNvPr id="8" name="Shape 6"/>
          <p:cNvSpPr/>
          <p:nvPr/>
        </p:nvSpPr>
        <p:spPr>
          <a:xfrm>
            <a:off x="2514600" y="1874520"/>
            <a:ext cx="1572768" cy="1325880"/>
          </a:xfrm>
          <a:prstGeom prst="rect">
            <a:avLst/>
          </a:prstGeom>
          <a:solidFill>
            <a:srgbClr val="FBFAF7"/>
          </a:solidFill>
          <a:ln w="9525">
            <a:solidFill>
              <a:srgbClr val="C2C3C5"/>
            </a:solidFill>
            <a:prstDash val="solid"/>
          </a:ln>
        </p:spPr>
      </p:sp>
      <p:sp>
        <p:nvSpPr>
          <p:cNvPr id="9" name="Text 7"/>
          <p:cNvSpPr txBox="1"/>
          <p:nvPr/>
        </p:nvSpPr>
        <p:spPr>
          <a:xfrm>
            <a:off x="2624328" y="1956816"/>
            <a:ext cx="1353312"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2  api-gateway</a:t>
            </a:r>
            <a:endParaRPr lang="en-US" sz="1100" dirty="0"/>
          </a:p>
        </p:txBody>
      </p:sp>
      <p:sp>
        <p:nvSpPr>
          <p:cNvPr id="10" name="Text 8"/>
          <p:cNvSpPr txBox="1"/>
          <p:nvPr/>
        </p:nvSpPr>
        <p:spPr>
          <a:xfrm>
            <a:off x="2624328" y="2203704"/>
            <a:ext cx="1353312" cy="941832"/>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Inter" pitchFamily="34" charset="0"/>
                <a:ea typeface="Inter" pitchFamily="34" charset="-122"/>
                <a:cs typeface="Inter" pitchFamily="34" charset="-120"/>
              </a:rPr>
              <a:t>Valid JWT? Under the rate limit? A route the outside may call?</a:t>
            </a:r>
            <a:endParaRPr lang="en-US" sz="1100" dirty="0"/>
          </a:p>
        </p:txBody>
      </p:sp>
      <p:sp>
        <p:nvSpPr>
          <p:cNvPr id="11" name="Shape 9"/>
          <p:cNvSpPr/>
          <p:nvPr/>
        </p:nvSpPr>
        <p:spPr>
          <a:xfrm>
            <a:off x="4087368" y="2537460"/>
            <a:ext cx="256032" cy="0"/>
          </a:xfrm>
          <a:prstGeom prst="line">
            <a:avLst/>
          </a:prstGeom>
          <a:noFill/>
          <a:ln w="15875">
            <a:solidFill>
              <a:srgbClr val="4A5470"/>
            </a:solidFill>
            <a:prstDash val="solid"/>
            <a:tailEnd type="triangle"/>
          </a:ln>
        </p:spPr>
      </p:sp>
      <p:sp>
        <p:nvSpPr>
          <p:cNvPr id="12" name="Shape 10"/>
          <p:cNvSpPr/>
          <p:nvPr/>
        </p:nvSpPr>
        <p:spPr>
          <a:xfrm>
            <a:off x="4343400" y="1874520"/>
            <a:ext cx="1600200" cy="1325880"/>
          </a:xfrm>
          <a:prstGeom prst="rect">
            <a:avLst/>
          </a:prstGeom>
          <a:solidFill>
            <a:srgbClr val="FBFAF7"/>
          </a:solidFill>
          <a:ln w="9525">
            <a:solidFill>
              <a:srgbClr val="C2C3C5"/>
            </a:solidFill>
            <a:prstDash val="solid"/>
          </a:ln>
        </p:spPr>
      </p:sp>
      <p:sp>
        <p:nvSpPr>
          <p:cNvPr id="13" name="Text 11"/>
          <p:cNvSpPr txBox="1"/>
          <p:nvPr/>
        </p:nvSpPr>
        <p:spPr>
          <a:xfrm>
            <a:off x="4453128" y="1956816"/>
            <a:ext cx="138074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3  order-service</a:t>
            </a:r>
            <a:endParaRPr lang="en-US" sz="1100" dirty="0"/>
          </a:p>
        </p:txBody>
      </p:sp>
      <p:sp>
        <p:nvSpPr>
          <p:cNvPr id="14" name="Text 12"/>
          <p:cNvSpPr txBox="1"/>
          <p:nvPr/>
        </p:nvSpPr>
        <p:spPr>
          <a:xfrm>
            <a:off x="4453128" y="2203704"/>
            <a:ext cx="1380744" cy="941832"/>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Seen this key? Replay the first answer. Otherwise price every line from inventory.</a:t>
            </a:r>
            <a:endParaRPr lang="en-US" sz="1050" dirty="0"/>
          </a:p>
        </p:txBody>
      </p:sp>
      <p:sp>
        <p:nvSpPr>
          <p:cNvPr id="15" name="Shape 13"/>
          <p:cNvSpPr/>
          <p:nvPr/>
        </p:nvSpPr>
        <p:spPr>
          <a:xfrm>
            <a:off x="5943600" y="2537460"/>
            <a:ext cx="411480" cy="0"/>
          </a:xfrm>
          <a:prstGeom prst="line">
            <a:avLst/>
          </a:prstGeom>
          <a:noFill/>
          <a:ln w="22225">
            <a:solidFill>
              <a:srgbClr val="5700D6"/>
            </a:solidFill>
            <a:prstDash val="solid"/>
            <a:tailEnd type="triangle"/>
          </a:ln>
        </p:spPr>
      </p:sp>
      <p:sp>
        <p:nvSpPr>
          <p:cNvPr id="16" name="Shape 14"/>
          <p:cNvSpPr/>
          <p:nvPr/>
        </p:nvSpPr>
        <p:spPr>
          <a:xfrm>
            <a:off x="6355080" y="1691640"/>
            <a:ext cx="3429000" cy="2834640"/>
          </a:xfrm>
          <a:prstGeom prst="rect">
            <a:avLst/>
          </a:prstGeom>
          <a:solidFill>
            <a:srgbClr val="FBFAF7"/>
          </a:solidFill>
          <a:ln w="22225">
            <a:solidFill>
              <a:srgbClr val="6C00FF"/>
            </a:solidFill>
            <a:prstDash val="solid"/>
          </a:ln>
        </p:spPr>
      </p:sp>
      <p:sp>
        <p:nvSpPr>
          <p:cNvPr id="17" name="Text 15"/>
          <p:cNvSpPr txBox="1"/>
          <p:nvPr/>
        </p:nvSpPr>
        <p:spPr>
          <a:xfrm>
            <a:off x="6537960" y="1810512"/>
            <a:ext cx="3063240" cy="228600"/>
          </a:xfrm>
          <a:prstGeom prst="rect">
            <a:avLst/>
          </a:prstGeom>
          <a:noFill/>
          <a:ln/>
        </p:spPr>
        <p:txBody>
          <a:bodyPr wrap="square" lIns="0" tIns="0" rIns="0" bIns="0" rtlCol="0" anchor="t"/>
          <a:lstStyle/>
          <a:p>
            <a:pPr indent="0" marL="0">
              <a:buNone/>
            </a:pPr>
            <a:r>
              <a:rPr lang="en-US" sz="1050" b="1" spc="120" kern="0" dirty="0">
                <a:solidFill>
                  <a:srgbClr val="5700D6"/>
                </a:solidFill>
                <a:latin typeface="JetBrains Mono" pitchFamily="34" charset="0"/>
                <a:ea typeface="JetBrains Mono" pitchFamily="34" charset="-122"/>
                <a:cs typeface="JetBrains Mono" pitchFamily="34" charset="-120"/>
              </a:rPr>
              <a:t>ONE POSTGRES TRANSACTION</a:t>
            </a:r>
            <a:endParaRPr lang="en-US" sz="1050" dirty="0"/>
          </a:p>
        </p:txBody>
      </p:sp>
      <p:sp>
        <p:nvSpPr>
          <p:cNvPr id="18" name="Shape 16"/>
          <p:cNvSpPr/>
          <p:nvPr/>
        </p:nvSpPr>
        <p:spPr>
          <a:xfrm>
            <a:off x="6537960" y="2148840"/>
            <a:ext cx="3063240" cy="402336"/>
          </a:xfrm>
          <a:prstGeom prst="rect">
            <a:avLst/>
          </a:prstGeom>
          <a:solidFill>
            <a:srgbClr val="F4F2EE"/>
          </a:solidFill>
          <a:ln w="9525">
            <a:solidFill>
              <a:srgbClr val="DBDADA"/>
            </a:solidFill>
            <a:prstDash val="solid"/>
          </a:ln>
        </p:spPr>
      </p:sp>
      <p:sp>
        <p:nvSpPr>
          <p:cNvPr id="19" name="Text 17"/>
          <p:cNvSpPr txBox="1"/>
          <p:nvPr/>
        </p:nvSpPr>
        <p:spPr>
          <a:xfrm>
            <a:off x="6647688" y="2176272"/>
            <a:ext cx="2880360" cy="182880"/>
          </a:xfrm>
          <a:prstGeom prst="rect">
            <a:avLst/>
          </a:prstGeom>
          <a:noFill/>
          <a:ln/>
        </p:spPr>
        <p:txBody>
          <a:bodyPr wrap="square" lIns="0" tIns="0" rIns="0" bIns="0" rtlCol="0" anchor="t"/>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INSERT </a:t>
            </a:r>
            <a:pPr indent="0" marL="0">
              <a:buNone/>
            </a:pPr>
            <a:r>
              <a:rPr lang="en-US" sz="950" b="1" dirty="0">
                <a:solidFill>
                  <a:srgbClr val="242E46"/>
                </a:solidFill>
                <a:latin typeface="JetBrains Mono" pitchFamily="34" charset="0"/>
                <a:ea typeface="JetBrains Mono" pitchFamily="34" charset="-122"/>
                <a:cs typeface="JetBrains Mono" pitchFamily="34" charset="-120"/>
              </a:rPr>
              <a:t>idempotency_keys</a:t>
            </a:r>
            <a:endParaRPr lang="en-US" sz="950" dirty="0"/>
          </a:p>
        </p:txBody>
      </p:sp>
      <p:sp>
        <p:nvSpPr>
          <p:cNvPr id="20" name="Text 18"/>
          <p:cNvSpPr txBox="1"/>
          <p:nvPr/>
        </p:nvSpPr>
        <p:spPr>
          <a:xfrm>
            <a:off x="6647688" y="2350008"/>
            <a:ext cx="2880360" cy="182880"/>
          </a:xfrm>
          <a:prstGeom prst="rect">
            <a:avLst/>
          </a:prstGeom>
          <a:noFill/>
          <a:ln/>
        </p:spPr>
        <p:txBody>
          <a:bodyPr wrap="square" lIns="0" tIns="0" rIns="0" bIns="0" rtlCol="0" anchor="t"/>
          <a:lstStyle/>
          <a:p>
            <a:pPr indent="0" marL="0">
              <a:buNone/>
            </a:pPr>
            <a:r>
              <a:rPr lang="en-US" sz="950" dirty="0">
                <a:solidFill>
                  <a:srgbClr val="4A5470"/>
                </a:solidFill>
                <a:latin typeface="Inter" pitchFamily="34" charset="0"/>
                <a:ea typeface="Inter" pitchFamily="34" charset="-122"/>
                <a:cs typeface="Inter" pitchFamily="34" charset="-120"/>
              </a:rPr>
              <a:t>claim (customer, key): the guard</a:t>
            </a:r>
            <a:endParaRPr lang="en-US" sz="950" dirty="0"/>
          </a:p>
        </p:txBody>
      </p:sp>
      <p:sp>
        <p:nvSpPr>
          <p:cNvPr id="21" name="Shape 19"/>
          <p:cNvSpPr/>
          <p:nvPr/>
        </p:nvSpPr>
        <p:spPr>
          <a:xfrm>
            <a:off x="6537960" y="2624328"/>
            <a:ext cx="3063240" cy="402336"/>
          </a:xfrm>
          <a:prstGeom prst="rect">
            <a:avLst/>
          </a:prstGeom>
          <a:solidFill>
            <a:srgbClr val="F4F2EE"/>
          </a:solidFill>
          <a:ln w="9525">
            <a:solidFill>
              <a:srgbClr val="DBDADA"/>
            </a:solidFill>
            <a:prstDash val="solid"/>
          </a:ln>
        </p:spPr>
      </p:sp>
      <p:sp>
        <p:nvSpPr>
          <p:cNvPr id="22" name="Text 20"/>
          <p:cNvSpPr txBox="1"/>
          <p:nvPr/>
        </p:nvSpPr>
        <p:spPr>
          <a:xfrm>
            <a:off x="6647688" y="2651760"/>
            <a:ext cx="2880360" cy="182880"/>
          </a:xfrm>
          <a:prstGeom prst="rect">
            <a:avLst/>
          </a:prstGeom>
          <a:noFill/>
          <a:ln/>
        </p:spPr>
        <p:txBody>
          <a:bodyPr wrap="square" lIns="0" tIns="0" rIns="0" bIns="0" rtlCol="0" anchor="t"/>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INSERT </a:t>
            </a:r>
            <a:pPr indent="0" marL="0">
              <a:buNone/>
            </a:pPr>
            <a:r>
              <a:rPr lang="en-US" sz="950" b="1" dirty="0">
                <a:solidFill>
                  <a:srgbClr val="242E46"/>
                </a:solidFill>
                <a:latin typeface="JetBrains Mono" pitchFamily="34" charset="0"/>
                <a:ea typeface="JetBrains Mono" pitchFamily="34" charset="-122"/>
                <a:cs typeface="JetBrains Mono" pitchFamily="34" charset="-120"/>
              </a:rPr>
              <a:t>orders</a:t>
            </a:r>
            <a:endParaRPr lang="en-US" sz="950" dirty="0"/>
          </a:p>
        </p:txBody>
      </p:sp>
      <p:sp>
        <p:nvSpPr>
          <p:cNvPr id="23" name="Text 21"/>
          <p:cNvSpPr txBox="1"/>
          <p:nvPr/>
        </p:nvSpPr>
        <p:spPr>
          <a:xfrm>
            <a:off x="6647688" y="2825496"/>
            <a:ext cx="2880360" cy="182880"/>
          </a:xfrm>
          <a:prstGeom prst="rect">
            <a:avLst/>
          </a:prstGeom>
          <a:noFill/>
          <a:ln/>
        </p:spPr>
        <p:txBody>
          <a:bodyPr wrap="square" lIns="0" tIns="0" rIns="0" bIns="0" rtlCol="0" anchor="t"/>
          <a:lstStyle/>
          <a:p>
            <a:pPr indent="0" marL="0">
              <a:buNone/>
            </a:pPr>
            <a:r>
              <a:rPr lang="en-US" sz="950" dirty="0">
                <a:solidFill>
                  <a:srgbClr val="4A5470"/>
                </a:solidFill>
                <a:latin typeface="Inter" pitchFamily="34" charset="0"/>
                <a:ea typeface="Inter" pitchFamily="34" charset="-122"/>
                <a:cs typeface="Inter" pitchFamily="34" charset="-120"/>
              </a:rPr>
              <a:t>order #3, status pending</a:t>
            </a:r>
            <a:endParaRPr lang="en-US" sz="950" dirty="0"/>
          </a:p>
        </p:txBody>
      </p:sp>
      <p:sp>
        <p:nvSpPr>
          <p:cNvPr id="24" name="Shape 22"/>
          <p:cNvSpPr/>
          <p:nvPr/>
        </p:nvSpPr>
        <p:spPr>
          <a:xfrm>
            <a:off x="6537960" y="3099816"/>
            <a:ext cx="3063240" cy="402336"/>
          </a:xfrm>
          <a:prstGeom prst="rect">
            <a:avLst/>
          </a:prstGeom>
          <a:solidFill>
            <a:srgbClr val="F4F2EE"/>
          </a:solidFill>
          <a:ln w="9525">
            <a:solidFill>
              <a:srgbClr val="DBDADA"/>
            </a:solidFill>
            <a:prstDash val="solid"/>
          </a:ln>
        </p:spPr>
      </p:sp>
      <p:sp>
        <p:nvSpPr>
          <p:cNvPr id="25" name="Text 23"/>
          <p:cNvSpPr txBox="1"/>
          <p:nvPr/>
        </p:nvSpPr>
        <p:spPr>
          <a:xfrm>
            <a:off x="6647688" y="3127248"/>
            <a:ext cx="2880360" cy="182880"/>
          </a:xfrm>
          <a:prstGeom prst="rect">
            <a:avLst/>
          </a:prstGeom>
          <a:noFill/>
          <a:ln/>
        </p:spPr>
        <p:txBody>
          <a:bodyPr wrap="square" lIns="0" tIns="0" rIns="0" bIns="0" rtlCol="0" anchor="t"/>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INSERT </a:t>
            </a:r>
            <a:pPr indent="0" marL="0">
              <a:buNone/>
            </a:pPr>
            <a:r>
              <a:rPr lang="en-US" sz="950" b="1" dirty="0">
                <a:solidFill>
                  <a:srgbClr val="242E46"/>
                </a:solidFill>
                <a:latin typeface="JetBrains Mono" pitchFamily="34" charset="0"/>
                <a:ea typeface="JetBrains Mono" pitchFamily="34" charset="-122"/>
                <a:cs typeface="JetBrains Mono" pitchFamily="34" charset="-120"/>
              </a:rPr>
              <a:t>order_events</a:t>
            </a:r>
            <a:endParaRPr lang="en-US" sz="950" dirty="0"/>
          </a:p>
        </p:txBody>
      </p:sp>
      <p:sp>
        <p:nvSpPr>
          <p:cNvPr id="26" name="Text 24"/>
          <p:cNvSpPr txBox="1"/>
          <p:nvPr/>
        </p:nvSpPr>
        <p:spPr>
          <a:xfrm>
            <a:off x="6647688" y="3300984"/>
            <a:ext cx="2880360" cy="182880"/>
          </a:xfrm>
          <a:prstGeom prst="rect">
            <a:avLst/>
          </a:prstGeom>
          <a:noFill/>
          <a:ln/>
        </p:spPr>
        <p:txBody>
          <a:bodyPr wrap="square" lIns="0" tIns="0" rIns="0" bIns="0" rtlCol="0" anchor="t"/>
          <a:lstStyle/>
          <a:p>
            <a:pPr indent="0" marL="0">
              <a:buNone/>
            </a:pPr>
            <a:r>
              <a:rPr lang="en-US" sz="950" dirty="0">
                <a:solidFill>
                  <a:srgbClr val="4A5470"/>
                </a:solidFill>
                <a:latin typeface="Inter" pitchFamily="34" charset="0"/>
                <a:ea typeface="Inter" pitchFamily="34" charset="-122"/>
                <a:cs typeface="Inter" pitchFamily="34" charset="-120"/>
              </a:rPr>
              <a:t>order_created, for history</a:t>
            </a:r>
            <a:endParaRPr lang="en-US" sz="950" dirty="0"/>
          </a:p>
        </p:txBody>
      </p:sp>
      <p:sp>
        <p:nvSpPr>
          <p:cNvPr id="27" name="Shape 25"/>
          <p:cNvSpPr/>
          <p:nvPr/>
        </p:nvSpPr>
        <p:spPr>
          <a:xfrm>
            <a:off x="6537960" y="3575304"/>
            <a:ext cx="3063240" cy="402336"/>
          </a:xfrm>
          <a:prstGeom prst="rect">
            <a:avLst/>
          </a:prstGeom>
          <a:solidFill>
            <a:srgbClr val="F4F2EE"/>
          </a:solidFill>
          <a:ln w="9525">
            <a:solidFill>
              <a:srgbClr val="DBDADA"/>
            </a:solidFill>
            <a:prstDash val="solid"/>
          </a:ln>
        </p:spPr>
      </p:sp>
      <p:sp>
        <p:nvSpPr>
          <p:cNvPr id="28" name="Text 26"/>
          <p:cNvSpPr txBox="1"/>
          <p:nvPr/>
        </p:nvSpPr>
        <p:spPr>
          <a:xfrm>
            <a:off x="6647688" y="3602736"/>
            <a:ext cx="2880360" cy="182880"/>
          </a:xfrm>
          <a:prstGeom prst="rect">
            <a:avLst/>
          </a:prstGeom>
          <a:noFill/>
          <a:ln/>
        </p:spPr>
        <p:txBody>
          <a:bodyPr wrap="square" lIns="0" tIns="0" rIns="0" bIns="0" rtlCol="0" anchor="t"/>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INSERT </a:t>
            </a:r>
            <a:pPr indent="0" marL="0">
              <a:buNone/>
            </a:pPr>
            <a:r>
              <a:rPr lang="en-US" sz="950" b="1" dirty="0">
                <a:solidFill>
                  <a:srgbClr val="242E46"/>
                </a:solidFill>
                <a:latin typeface="JetBrains Mono" pitchFamily="34" charset="0"/>
                <a:ea typeface="JetBrains Mono" pitchFamily="34" charset="-122"/>
                <a:cs typeface="JetBrains Mono" pitchFamily="34" charset="-120"/>
              </a:rPr>
              <a:t>order_outbox</a:t>
            </a:r>
            <a:endParaRPr lang="en-US" sz="950" dirty="0"/>
          </a:p>
        </p:txBody>
      </p:sp>
      <p:sp>
        <p:nvSpPr>
          <p:cNvPr id="29" name="Text 27"/>
          <p:cNvSpPr txBox="1"/>
          <p:nvPr/>
        </p:nvSpPr>
        <p:spPr>
          <a:xfrm>
            <a:off x="6647688" y="3776472"/>
            <a:ext cx="2880360" cy="182880"/>
          </a:xfrm>
          <a:prstGeom prst="rect">
            <a:avLst/>
          </a:prstGeom>
          <a:noFill/>
          <a:ln/>
        </p:spPr>
        <p:txBody>
          <a:bodyPr wrap="square" lIns="0" tIns="0" rIns="0" bIns="0" rtlCol="0" anchor="t"/>
          <a:lstStyle/>
          <a:p>
            <a:pPr indent="0" marL="0">
              <a:buNone/>
            </a:pPr>
            <a:r>
              <a:rPr lang="en-US" sz="950" dirty="0">
                <a:solidFill>
                  <a:srgbClr val="4A5470"/>
                </a:solidFill>
                <a:latin typeface="Inter" pitchFamily="34" charset="0"/>
                <a:ea typeface="Inter" pitchFamily="34" charset="-122"/>
                <a:cs typeface="Inter" pitchFamily="34" charset="-120"/>
              </a:rPr>
              <a:t>order.created, waiting to send</a:t>
            </a:r>
            <a:endParaRPr lang="en-US" sz="950" dirty="0"/>
          </a:p>
        </p:txBody>
      </p:sp>
      <p:sp>
        <p:nvSpPr>
          <p:cNvPr id="30" name="Text 28"/>
          <p:cNvSpPr txBox="1"/>
          <p:nvPr/>
        </p:nvSpPr>
        <p:spPr>
          <a:xfrm>
            <a:off x="6537960" y="4069080"/>
            <a:ext cx="3063240" cy="274320"/>
          </a:xfrm>
          <a:prstGeom prst="rect">
            <a:avLst/>
          </a:prstGeom>
          <a:noFill/>
          <a:ln/>
        </p:spPr>
        <p:txBody>
          <a:bodyPr wrap="square" lIns="0" tIns="0" rIns="0" bIns="0" rtlCol="0" anchor="t"/>
          <a:lstStyle/>
          <a:p>
            <a:pPr indent="0" marL="0">
              <a:buNone/>
            </a:pPr>
            <a:r>
              <a:rPr lang="en-US" sz="1000" b="1" dirty="0">
                <a:solidFill>
                  <a:srgbClr val="242E46"/>
                </a:solidFill>
                <a:latin typeface="JetBrains Mono" pitchFamily="34" charset="0"/>
                <a:ea typeface="JetBrains Mono" pitchFamily="34" charset="-122"/>
                <a:cs typeface="JetBrains Mono" pitchFamily="34" charset="-120"/>
              </a:rPr>
              <a:t>COMMIT. All four rows exist, or none do.</a:t>
            </a:r>
            <a:endParaRPr lang="en-US" sz="1000" dirty="0"/>
          </a:p>
        </p:txBody>
      </p:sp>
      <p:sp>
        <p:nvSpPr>
          <p:cNvPr id="31" name="Shape 29"/>
          <p:cNvSpPr/>
          <p:nvPr/>
        </p:nvSpPr>
        <p:spPr>
          <a:xfrm>
            <a:off x="9784080" y="2537460"/>
            <a:ext cx="274320" cy="0"/>
          </a:xfrm>
          <a:prstGeom prst="line">
            <a:avLst/>
          </a:prstGeom>
          <a:noFill/>
          <a:ln w="22225">
            <a:solidFill>
              <a:srgbClr val="5700D6"/>
            </a:solidFill>
            <a:prstDash val="solid"/>
            <a:tailEnd type="triangle"/>
          </a:ln>
        </p:spPr>
      </p:sp>
      <p:sp>
        <p:nvSpPr>
          <p:cNvPr id="32" name="Shape 30"/>
          <p:cNvSpPr/>
          <p:nvPr/>
        </p:nvSpPr>
        <p:spPr>
          <a:xfrm>
            <a:off x="10058400" y="1874520"/>
            <a:ext cx="1444752" cy="1325880"/>
          </a:xfrm>
          <a:prstGeom prst="rect">
            <a:avLst/>
          </a:prstGeom>
          <a:solidFill>
            <a:srgbClr val="FBFAF7"/>
          </a:solidFill>
          <a:ln w="9525">
            <a:solidFill>
              <a:srgbClr val="6C00FF"/>
            </a:solidFill>
            <a:prstDash val="solid"/>
          </a:ln>
        </p:spPr>
      </p:sp>
      <p:sp>
        <p:nvSpPr>
          <p:cNvPr id="33" name="Text 31"/>
          <p:cNvSpPr txBox="1"/>
          <p:nvPr/>
        </p:nvSpPr>
        <p:spPr>
          <a:xfrm>
            <a:off x="10168128" y="1956816"/>
            <a:ext cx="1225296"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4  Reply</a:t>
            </a:r>
            <a:endParaRPr lang="en-US" sz="1100" dirty="0"/>
          </a:p>
        </p:txBody>
      </p:sp>
      <p:sp>
        <p:nvSpPr>
          <p:cNvPr id="34" name="Text 32"/>
          <p:cNvSpPr txBox="1"/>
          <p:nvPr/>
        </p:nvSpPr>
        <p:spPr>
          <a:xfrm>
            <a:off x="10168128" y="2203704"/>
            <a:ext cx="1225296" cy="941832"/>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Inter" pitchFamily="34" charset="0"/>
                <a:ea typeface="Inter" pitchFamily="34" charset="-122"/>
                <a:cs typeface="Inter" pitchFamily="34" charset="-120"/>
              </a:rPr>
              <a:t>201 Created. Order #3, pending. The customer has an order number.</a:t>
            </a:r>
            <a:endParaRPr lang="en-US" sz="1100" dirty="0"/>
          </a:p>
        </p:txBody>
      </p:sp>
      <p:sp>
        <p:nvSpPr>
          <p:cNvPr id="35" name="Shape 33"/>
          <p:cNvSpPr/>
          <p:nvPr/>
        </p:nvSpPr>
        <p:spPr>
          <a:xfrm>
            <a:off x="685800" y="4800600"/>
            <a:ext cx="10820095" cy="1188720"/>
          </a:xfrm>
          <a:prstGeom prst="rect">
            <a:avLst/>
          </a:prstGeom>
          <a:solidFill>
            <a:srgbClr val="160B35"/>
          </a:solidFill>
          <a:ln/>
        </p:spPr>
      </p:sp>
      <p:sp>
        <p:nvSpPr>
          <p:cNvPr id="36" name="Text 34"/>
          <p:cNvSpPr txBox="1"/>
          <p:nvPr/>
        </p:nvSpPr>
        <p:spPr>
          <a:xfrm>
            <a:off x="960120" y="4965192"/>
            <a:ext cx="2926080" cy="219456"/>
          </a:xfrm>
          <a:prstGeom prst="rect">
            <a:avLst/>
          </a:prstGeom>
          <a:noFill/>
          <a:ln/>
        </p:spPr>
        <p:txBody>
          <a:bodyPr wrap="square" lIns="0" tIns="0" rIns="0" bIns="0" rtlCol="0" anchor="t"/>
          <a:lstStyle/>
          <a:p>
            <a:pPr indent="0" marL="0">
              <a:buNone/>
            </a:pPr>
            <a:r>
              <a:rPr lang="en-US" sz="1050" b="1" spc="120" kern="0" dirty="0">
                <a:solidFill>
                  <a:srgbClr val="AE99F0"/>
                </a:solidFill>
                <a:latin typeface="JetBrains Mono" pitchFamily="34" charset="0"/>
                <a:ea typeface="JetBrains Mono" pitchFamily="34" charset="-122"/>
                <a:cs typeface="JetBrains Mono" pitchFamily="34" charset="-120"/>
              </a:rPr>
              <a:t>THEN, EVERY SECOND</a:t>
            </a:r>
            <a:endParaRPr lang="en-US" sz="1050" dirty="0"/>
          </a:p>
        </p:txBody>
      </p:sp>
      <p:sp>
        <p:nvSpPr>
          <p:cNvPr id="37" name="Text 35"/>
          <p:cNvSpPr txBox="1"/>
          <p:nvPr/>
        </p:nvSpPr>
        <p:spPr>
          <a:xfrm>
            <a:off x="960120" y="5239512"/>
            <a:ext cx="3520440" cy="685800"/>
          </a:xfrm>
          <a:prstGeom prst="rect">
            <a:avLst/>
          </a:prstGeom>
          <a:noFill/>
          <a:ln/>
        </p:spPr>
        <p:txBody>
          <a:bodyPr wrap="square" lIns="0" tIns="0" rIns="0" bIns="0" rtlCol="0" anchor="t"/>
          <a:lstStyle/>
          <a:p>
            <a:pPr indent="0" marL="0">
              <a:lnSpc>
                <a:spcPct val="115000"/>
              </a:lnSpc>
              <a:buNone/>
            </a:pPr>
            <a:r>
              <a:rPr lang="en-US" sz="1150" dirty="0">
                <a:solidFill>
                  <a:srgbClr val="F3F2F8"/>
                </a:solidFill>
                <a:latin typeface="Inter" pitchFamily="34" charset="0"/>
                <a:ea typeface="Inter" pitchFamily="34" charset="-122"/>
                <a:cs typeface="Inter" pitchFamily="34" charset="-120"/>
              </a:rPr>
              <a:t>The outbox relay claims unsent rows (FOR UPDATE SKIP LOCKED, so replicas never collide), sends each to SQS and marks it sent.</a:t>
            </a:r>
            <a:endParaRPr lang="en-US" sz="1150" dirty="0"/>
          </a:p>
        </p:txBody>
      </p:sp>
      <p:sp>
        <p:nvSpPr>
          <p:cNvPr id="38" name="Text 36"/>
          <p:cNvSpPr txBox="1"/>
          <p:nvPr/>
        </p:nvSpPr>
        <p:spPr>
          <a:xfrm>
            <a:off x="4754880" y="4965192"/>
            <a:ext cx="3108960" cy="219456"/>
          </a:xfrm>
          <a:prstGeom prst="rect">
            <a:avLst/>
          </a:prstGeom>
          <a:noFill/>
          <a:ln/>
        </p:spPr>
        <p:txBody>
          <a:bodyPr wrap="square" lIns="0" tIns="0" rIns="0" bIns="0" rtlCol="0" anchor="t"/>
          <a:lstStyle/>
          <a:p>
            <a:pPr indent="0" marL="0">
              <a:buNone/>
            </a:pPr>
            <a:r>
              <a:rPr lang="en-US" sz="1050" b="1" spc="120" kern="0" dirty="0">
                <a:solidFill>
                  <a:srgbClr val="AE99F0"/>
                </a:solidFill>
                <a:latin typeface="JetBrains Mono" pitchFamily="34" charset="0"/>
                <a:ea typeface="JetBrains Mono" pitchFamily="34" charset="-122"/>
                <a:cs typeface="JetBrains Mono" pitchFamily="34" charset="-120"/>
              </a:rPr>
              <a:t>IF SQS IS UNREACHABLE</a:t>
            </a:r>
            <a:endParaRPr lang="en-US" sz="1050" dirty="0"/>
          </a:p>
        </p:txBody>
      </p:sp>
      <p:sp>
        <p:nvSpPr>
          <p:cNvPr id="39" name="Text 37"/>
          <p:cNvSpPr txBox="1"/>
          <p:nvPr/>
        </p:nvSpPr>
        <p:spPr>
          <a:xfrm>
            <a:off x="4754880" y="5239512"/>
            <a:ext cx="3154680" cy="685800"/>
          </a:xfrm>
          <a:prstGeom prst="rect">
            <a:avLst/>
          </a:prstGeom>
          <a:noFill/>
          <a:ln/>
        </p:spPr>
        <p:txBody>
          <a:bodyPr wrap="square" lIns="0" tIns="0" rIns="0" bIns="0" rtlCol="0" anchor="t"/>
          <a:lstStyle/>
          <a:p>
            <a:pPr indent="0" marL="0">
              <a:lnSpc>
                <a:spcPct val="115000"/>
              </a:lnSpc>
              <a:buNone/>
            </a:pPr>
            <a:r>
              <a:rPr lang="en-US" sz="1150" dirty="0">
                <a:solidFill>
                  <a:srgbClr val="F3F2F8"/>
                </a:solidFill>
                <a:latin typeface="Inter" pitchFamily="34" charset="0"/>
                <a:ea typeface="Inter" pitchFamily="34" charset="-122"/>
                <a:cs typeface="Inter" pitchFamily="34" charset="-120"/>
              </a:rPr>
              <a:t>The row stays unsent, attempts + 1, and is retried next tick. New orders are still accepted.</a:t>
            </a:r>
            <a:endParaRPr lang="en-US" sz="1150" dirty="0"/>
          </a:p>
        </p:txBody>
      </p:sp>
      <p:sp>
        <p:nvSpPr>
          <p:cNvPr id="40" name="Text 38"/>
          <p:cNvSpPr txBox="1"/>
          <p:nvPr/>
        </p:nvSpPr>
        <p:spPr>
          <a:xfrm>
            <a:off x="8229600" y="4965192"/>
            <a:ext cx="3017520" cy="219456"/>
          </a:xfrm>
          <a:prstGeom prst="rect">
            <a:avLst/>
          </a:prstGeom>
          <a:noFill/>
          <a:ln/>
        </p:spPr>
        <p:txBody>
          <a:bodyPr wrap="square" lIns="0" tIns="0" rIns="0" bIns="0" rtlCol="0" anchor="t"/>
          <a:lstStyle/>
          <a:p>
            <a:pPr indent="0" marL="0">
              <a:buNone/>
            </a:pPr>
            <a:r>
              <a:rPr lang="en-US" sz="1050" b="1" spc="120" kern="0" dirty="0">
                <a:solidFill>
                  <a:srgbClr val="AE99F0"/>
                </a:solidFill>
                <a:latin typeface="JetBrains Mono" pitchFamily="34" charset="0"/>
                <a:ea typeface="JetBrains Mono" pitchFamily="34" charset="-122"/>
                <a:cs typeface="JetBrains Mono" pitchFamily="34" charset="-120"/>
              </a:rPr>
              <a:t>THE PRICE WE PAY</a:t>
            </a:r>
            <a:endParaRPr lang="en-US" sz="1050" dirty="0"/>
          </a:p>
        </p:txBody>
      </p:sp>
      <p:sp>
        <p:nvSpPr>
          <p:cNvPr id="41" name="Text 39"/>
          <p:cNvSpPr txBox="1"/>
          <p:nvPr/>
        </p:nvSpPr>
        <p:spPr>
          <a:xfrm>
            <a:off x="8229600" y="5239512"/>
            <a:ext cx="3063240" cy="685800"/>
          </a:xfrm>
          <a:prstGeom prst="rect">
            <a:avLst/>
          </a:prstGeom>
          <a:noFill/>
          <a:ln/>
        </p:spPr>
        <p:txBody>
          <a:bodyPr wrap="square" lIns="0" tIns="0" rIns="0" bIns="0" rtlCol="0" anchor="t"/>
          <a:lstStyle/>
          <a:p>
            <a:pPr indent="0" marL="0">
              <a:lnSpc>
                <a:spcPct val="115000"/>
              </a:lnSpc>
              <a:buNone/>
            </a:pPr>
            <a:r>
              <a:rPr lang="en-US" sz="1150" dirty="0">
                <a:solidFill>
                  <a:srgbClr val="F3F2F8"/>
                </a:solidFill>
                <a:latin typeface="Inter" pitchFamily="34" charset="0"/>
                <a:ea typeface="Inter" pitchFamily="34" charset="-122"/>
                <a:cs typeface="Inter" pitchFamily="34" charset="-120"/>
              </a:rPr>
              <a:t>A crash after SQS accepts but before "sent" is saved sends the event twice, so consumers must be idempotent.</a:t>
            </a:r>
            <a:endParaRPr lang="en-US" sz="11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III  ·  END TO END, PART 2: PROCESS</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Processing: a worker that can safely run twice</a:t>
            </a:r>
            <a:endParaRPr lang="en-US" sz="3000" dirty="0"/>
          </a:p>
        </p:txBody>
      </p:sp>
      <p:sp>
        <p:nvSpPr>
          <p:cNvPr id="4" name="Shape 2"/>
          <p:cNvSpPr/>
          <p:nvPr/>
        </p:nvSpPr>
        <p:spPr>
          <a:xfrm>
            <a:off x="685800" y="1828800"/>
            <a:ext cx="1920240" cy="1234440"/>
          </a:xfrm>
          <a:prstGeom prst="rect">
            <a:avLst/>
          </a:prstGeom>
          <a:solidFill>
            <a:srgbClr val="FBFAF7"/>
          </a:solidFill>
          <a:ln w="9525">
            <a:solidFill>
              <a:srgbClr val="C2C3C5"/>
            </a:solidFill>
            <a:prstDash val="solid"/>
          </a:ln>
        </p:spPr>
      </p:sp>
      <p:sp>
        <p:nvSpPr>
          <p:cNvPr id="5" name="Text 3"/>
          <p:cNvSpPr txBox="1"/>
          <p:nvPr/>
        </p:nvSpPr>
        <p:spPr>
          <a:xfrm>
            <a:off x="795528" y="1911096"/>
            <a:ext cx="170078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SQS order-events</a:t>
            </a:r>
            <a:endParaRPr lang="en-US" sz="1100" dirty="0"/>
          </a:p>
        </p:txBody>
      </p:sp>
      <p:sp>
        <p:nvSpPr>
          <p:cNvPr id="6" name="Text 4"/>
          <p:cNvSpPr txBox="1"/>
          <p:nvPr/>
        </p:nvSpPr>
        <p:spPr>
          <a:xfrm>
            <a:off x="795528" y="2157984"/>
            <a:ext cx="1700784" cy="850392"/>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Long poll 20 s, up to 10 messages. A message is hidden for 60 s while it is worked on.</a:t>
            </a:r>
            <a:endParaRPr lang="en-US" sz="1050" dirty="0"/>
          </a:p>
        </p:txBody>
      </p:sp>
      <p:sp>
        <p:nvSpPr>
          <p:cNvPr id="7" name="Shape 5"/>
          <p:cNvSpPr/>
          <p:nvPr/>
        </p:nvSpPr>
        <p:spPr>
          <a:xfrm>
            <a:off x="685800" y="4160520"/>
            <a:ext cx="1920240" cy="1508760"/>
          </a:xfrm>
          <a:prstGeom prst="rect">
            <a:avLst/>
          </a:prstGeom>
          <a:solidFill>
            <a:srgbClr val="FBFAF7"/>
          </a:solidFill>
          <a:ln w="9525">
            <a:solidFill>
              <a:srgbClr val="B42318"/>
            </a:solidFill>
            <a:prstDash val="solid"/>
          </a:ln>
        </p:spPr>
      </p:sp>
      <p:sp>
        <p:nvSpPr>
          <p:cNvPr id="8" name="Text 6"/>
          <p:cNvSpPr txBox="1"/>
          <p:nvPr/>
        </p:nvSpPr>
        <p:spPr>
          <a:xfrm>
            <a:off x="795528" y="4242816"/>
            <a:ext cx="170078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order-events-dlq</a:t>
            </a:r>
            <a:endParaRPr lang="en-US" sz="1100" dirty="0"/>
          </a:p>
        </p:txBody>
      </p:sp>
      <p:sp>
        <p:nvSpPr>
          <p:cNvPr id="9" name="Text 7"/>
          <p:cNvSpPr txBox="1"/>
          <p:nvPr/>
        </p:nvSpPr>
        <p:spPr>
          <a:xfrm>
            <a:off x="795528" y="4489704"/>
            <a:ext cx="1700784" cy="1124712"/>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The third failed receive lands here. Kept 14 days. Redrive once the cause is fixed.</a:t>
            </a:r>
            <a:endParaRPr lang="en-US" sz="1050" dirty="0"/>
          </a:p>
        </p:txBody>
      </p:sp>
      <p:sp>
        <p:nvSpPr>
          <p:cNvPr id="10" name="Shape 8"/>
          <p:cNvSpPr/>
          <p:nvPr/>
        </p:nvSpPr>
        <p:spPr>
          <a:xfrm>
            <a:off x="2606040" y="2450592"/>
            <a:ext cx="320040" cy="0"/>
          </a:xfrm>
          <a:prstGeom prst="line">
            <a:avLst/>
          </a:prstGeom>
          <a:noFill/>
          <a:ln w="15875">
            <a:solidFill>
              <a:srgbClr val="4A5470"/>
            </a:solidFill>
            <a:prstDash val="solid"/>
            <a:tailEnd type="triangle"/>
          </a:ln>
        </p:spPr>
      </p:sp>
      <p:sp>
        <p:nvSpPr>
          <p:cNvPr id="11" name="Shape 9"/>
          <p:cNvSpPr/>
          <p:nvPr/>
        </p:nvSpPr>
        <p:spPr>
          <a:xfrm>
            <a:off x="2926080" y="1737360"/>
            <a:ext cx="4297680" cy="3931920"/>
          </a:xfrm>
          <a:prstGeom prst="rect">
            <a:avLst/>
          </a:prstGeom>
          <a:solidFill>
            <a:srgbClr val="FBFAF7"/>
          </a:solidFill>
          <a:ln w="15875">
            <a:solidFill>
              <a:srgbClr val="6C00FF"/>
            </a:solidFill>
            <a:prstDash val="solid"/>
          </a:ln>
        </p:spPr>
      </p:sp>
      <p:sp>
        <p:nvSpPr>
          <p:cNvPr id="12" name="Text 10"/>
          <p:cNvSpPr txBox="1"/>
          <p:nvPr/>
        </p:nvSpPr>
        <p:spPr>
          <a:xfrm>
            <a:off x="3154680" y="1847088"/>
            <a:ext cx="2743200" cy="219456"/>
          </a:xfrm>
          <a:prstGeom prst="rect">
            <a:avLst/>
          </a:prstGeom>
          <a:noFill/>
          <a:ln/>
        </p:spPr>
        <p:txBody>
          <a:bodyPr wrap="square" lIns="0" tIns="0" rIns="0" bIns="0" rtlCol="0" anchor="t"/>
          <a:lstStyle/>
          <a:p>
            <a:pPr indent="0" marL="0">
              <a:buNone/>
            </a:pPr>
            <a:r>
              <a:rPr lang="en-US" sz="1050" b="1" spc="120" kern="0" dirty="0">
                <a:solidFill>
                  <a:srgbClr val="5700D6"/>
                </a:solidFill>
                <a:latin typeface="JetBrains Mono" pitchFamily="34" charset="0"/>
                <a:ea typeface="JetBrains Mono" pitchFamily="34" charset="-122"/>
                <a:cs typeface="JetBrains Mono" pitchFamily="34" charset="-120"/>
              </a:rPr>
              <a:t>WORKER, FOR ORDER #3</a:t>
            </a:r>
            <a:endParaRPr lang="en-US" sz="1050" dirty="0"/>
          </a:p>
        </p:txBody>
      </p:sp>
      <p:sp>
        <p:nvSpPr>
          <p:cNvPr id="13" name="Shape 11"/>
          <p:cNvSpPr/>
          <p:nvPr/>
        </p:nvSpPr>
        <p:spPr>
          <a:xfrm>
            <a:off x="3154680" y="2212848"/>
            <a:ext cx="274320" cy="274320"/>
          </a:xfrm>
          <a:prstGeom prst="ellipse">
            <a:avLst/>
          </a:prstGeom>
          <a:solidFill>
            <a:srgbClr val="242E46"/>
          </a:solidFill>
          <a:ln/>
        </p:spPr>
      </p:sp>
      <p:sp>
        <p:nvSpPr>
          <p:cNvPr id="14" name="Text 12"/>
          <p:cNvSpPr txBox="1"/>
          <p:nvPr/>
        </p:nvSpPr>
        <p:spPr>
          <a:xfrm>
            <a:off x="315468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0</a:t>
            </a:r>
            <a:endParaRPr lang="en-US" sz="1000" dirty="0"/>
          </a:p>
        </p:txBody>
      </p:sp>
      <p:sp>
        <p:nvSpPr>
          <p:cNvPr id="15" name="Text 13"/>
          <p:cNvSpPr txBox="1"/>
          <p:nvPr/>
        </p:nvSpPr>
        <p:spPr>
          <a:xfrm>
            <a:off x="3566160" y="2194560"/>
            <a:ext cx="3474720" cy="246888"/>
          </a:xfrm>
          <a:prstGeom prst="rect">
            <a:avLst/>
          </a:prstGeom>
          <a:noFill/>
          <a:ln/>
        </p:spPr>
        <p:txBody>
          <a:bodyPr wrap="square" lIns="0" tIns="0" rIns="0" bIns="0" rtlCol="0" anchor="t"/>
          <a:lstStyle/>
          <a:p>
            <a:pPr indent="0" marL="0">
              <a:buNone/>
            </a:pPr>
            <a:r>
              <a:rPr lang="en-US" sz="1250" b="1" dirty="0">
                <a:solidFill>
                  <a:srgbClr val="242E46"/>
                </a:solidFill>
                <a:latin typeface="Inter" pitchFamily="34" charset="0"/>
                <a:ea typeface="Inter" pitchFamily="34" charset="-122"/>
                <a:cs typeface="Inter" pitchFamily="34" charset="-120"/>
              </a:rPr>
              <a:t>Check the order first</a:t>
            </a:r>
            <a:endParaRPr lang="en-US" sz="1250" dirty="0"/>
          </a:p>
        </p:txBody>
      </p:sp>
      <p:sp>
        <p:nvSpPr>
          <p:cNvPr id="16" name="Text 14"/>
          <p:cNvSpPr txBox="1"/>
          <p:nvPr/>
        </p:nvSpPr>
        <p:spPr>
          <a:xfrm>
            <a:off x="3566160" y="2450592"/>
            <a:ext cx="3474720" cy="365760"/>
          </a:xfrm>
          <a:prstGeom prst="rect">
            <a:avLst/>
          </a:prstGeom>
          <a:noFill/>
          <a:ln/>
        </p:spPr>
        <p:txBody>
          <a:bodyPr wrap="square" lIns="0" tIns="0" rIns="0" bIns="0" rtlCol="0" anchor="t"/>
          <a:lstStyle/>
          <a:p>
            <a:pPr indent="0" marL="0">
              <a:buNone/>
            </a:pPr>
            <a:r>
              <a:rPr lang="en-US" sz="1050" dirty="0">
                <a:solidFill>
                  <a:srgbClr val="4A5470"/>
                </a:solidFill>
                <a:latin typeface="Inter" pitchFamily="34" charset="0"/>
                <a:ea typeface="Inter" pitchFamily="34" charset="-122"/>
                <a:cs typeface="Inter" pitchFamily="34" charset="-120"/>
              </a:rPr>
              <a:t>pending: run below. confirmed: only commit stock. cancelled: undo.</a:t>
            </a:r>
            <a:endParaRPr lang="en-US" sz="1050" dirty="0"/>
          </a:p>
        </p:txBody>
      </p:sp>
      <p:sp>
        <p:nvSpPr>
          <p:cNvPr id="17" name="Shape 15"/>
          <p:cNvSpPr/>
          <p:nvPr/>
        </p:nvSpPr>
        <p:spPr>
          <a:xfrm>
            <a:off x="3291840" y="2523744"/>
            <a:ext cx="0" cy="347472"/>
          </a:xfrm>
          <a:prstGeom prst="line">
            <a:avLst/>
          </a:prstGeom>
          <a:noFill/>
          <a:ln w="12700">
            <a:solidFill>
              <a:srgbClr val="C2C3C5"/>
            </a:solidFill>
            <a:prstDash val="solid"/>
          </a:ln>
        </p:spPr>
      </p:sp>
      <p:sp>
        <p:nvSpPr>
          <p:cNvPr id="18" name="Shape 16"/>
          <p:cNvSpPr/>
          <p:nvPr/>
        </p:nvSpPr>
        <p:spPr>
          <a:xfrm>
            <a:off x="3154680" y="2889504"/>
            <a:ext cx="274320" cy="274320"/>
          </a:xfrm>
          <a:prstGeom prst="ellipse">
            <a:avLst/>
          </a:prstGeom>
          <a:solidFill>
            <a:srgbClr val="6C00FF"/>
          </a:solidFill>
          <a:ln/>
        </p:spPr>
      </p:sp>
      <p:sp>
        <p:nvSpPr>
          <p:cNvPr id="19" name="Text 17"/>
          <p:cNvSpPr txBox="1"/>
          <p:nvPr/>
        </p:nvSpPr>
        <p:spPr>
          <a:xfrm>
            <a:off x="3154680" y="28895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1</a:t>
            </a:r>
            <a:endParaRPr lang="en-US" sz="1000" dirty="0"/>
          </a:p>
        </p:txBody>
      </p:sp>
      <p:sp>
        <p:nvSpPr>
          <p:cNvPr id="20" name="Text 18"/>
          <p:cNvSpPr txBox="1"/>
          <p:nvPr/>
        </p:nvSpPr>
        <p:spPr>
          <a:xfrm>
            <a:off x="3566160" y="2871216"/>
            <a:ext cx="3474720" cy="246888"/>
          </a:xfrm>
          <a:prstGeom prst="rect">
            <a:avLst/>
          </a:prstGeom>
          <a:noFill/>
          <a:ln/>
        </p:spPr>
        <p:txBody>
          <a:bodyPr wrap="square" lIns="0" tIns="0" rIns="0" bIns="0" rtlCol="0" anchor="t"/>
          <a:lstStyle/>
          <a:p>
            <a:pPr indent="0" marL="0">
              <a:buNone/>
            </a:pPr>
            <a:r>
              <a:rPr lang="en-US" sz="1250" b="1" dirty="0">
                <a:solidFill>
                  <a:srgbClr val="242E46"/>
                </a:solidFill>
                <a:latin typeface="Inter" pitchFamily="34" charset="0"/>
                <a:ea typeface="Inter" pitchFamily="34" charset="-122"/>
                <a:cs typeface="Inter" pitchFamily="34" charset="-120"/>
              </a:rPr>
              <a:t>Reserve stock</a:t>
            </a:r>
            <a:endParaRPr lang="en-US" sz="1250" dirty="0"/>
          </a:p>
        </p:txBody>
      </p:sp>
      <p:sp>
        <p:nvSpPr>
          <p:cNvPr id="21" name="Text 19"/>
          <p:cNvSpPr txBox="1"/>
          <p:nvPr/>
        </p:nvSpPr>
        <p:spPr>
          <a:xfrm>
            <a:off x="3566160" y="3127248"/>
            <a:ext cx="3474720" cy="365760"/>
          </a:xfrm>
          <a:prstGeom prst="rect">
            <a:avLst/>
          </a:prstGeom>
          <a:noFill/>
          <a:ln/>
        </p:spPr>
        <p:txBody>
          <a:bodyPr wrap="square" lIns="0" tIns="0" rIns="0" bIns="0" rtlCol="0" anchor="t"/>
          <a:lstStyle/>
          <a:p>
            <a:pPr indent="0" marL="0">
              <a:buNone/>
            </a:pPr>
            <a:r>
              <a:rPr lang="en-US" sz="1050" dirty="0">
                <a:solidFill>
                  <a:srgbClr val="4A5470"/>
                </a:solidFill>
                <a:latin typeface="Inter" pitchFamily="34" charset="0"/>
                <a:ea typeface="Inter" pitchFamily="34" charset="-122"/>
                <a:cs typeface="Inter" pitchFamily="34" charset="-120"/>
              </a:rPr>
              <a:t>inventory /reserve. A repeat returns the same hold.</a:t>
            </a:r>
            <a:endParaRPr lang="en-US" sz="1050" dirty="0"/>
          </a:p>
        </p:txBody>
      </p:sp>
      <p:sp>
        <p:nvSpPr>
          <p:cNvPr id="22" name="Shape 20"/>
          <p:cNvSpPr/>
          <p:nvPr/>
        </p:nvSpPr>
        <p:spPr>
          <a:xfrm>
            <a:off x="3291840" y="3200400"/>
            <a:ext cx="0" cy="347472"/>
          </a:xfrm>
          <a:prstGeom prst="line">
            <a:avLst/>
          </a:prstGeom>
          <a:noFill/>
          <a:ln w="12700">
            <a:solidFill>
              <a:srgbClr val="C2C3C5"/>
            </a:solidFill>
            <a:prstDash val="solid"/>
          </a:ln>
        </p:spPr>
      </p:sp>
      <p:sp>
        <p:nvSpPr>
          <p:cNvPr id="23" name="Shape 21"/>
          <p:cNvSpPr/>
          <p:nvPr/>
        </p:nvSpPr>
        <p:spPr>
          <a:xfrm>
            <a:off x="3154680" y="3566160"/>
            <a:ext cx="274320" cy="274320"/>
          </a:xfrm>
          <a:prstGeom prst="ellipse">
            <a:avLst/>
          </a:prstGeom>
          <a:solidFill>
            <a:srgbClr val="6C00FF"/>
          </a:solidFill>
          <a:ln/>
        </p:spPr>
      </p:sp>
      <p:sp>
        <p:nvSpPr>
          <p:cNvPr id="24" name="Text 22"/>
          <p:cNvSpPr txBox="1"/>
          <p:nvPr/>
        </p:nvSpPr>
        <p:spPr>
          <a:xfrm>
            <a:off x="3154680" y="35661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2</a:t>
            </a:r>
            <a:endParaRPr lang="en-US" sz="1000" dirty="0"/>
          </a:p>
        </p:txBody>
      </p:sp>
      <p:sp>
        <p:nvSpPr>
          <p:cNvPr id="25" name="Text 23"/>
          <p:cNvSpPr txBox="1"/>
          <p:nvPr/>
        </p:nvSpPr>
        <p:spPr>
          <a:xfrm>
            <a:off x="3566160" y="3547872"/>
            <a:ext cx="3474720" cy="246888"/>
          </a:xfrm>
          <a:prstGeom prst="rect">
            <a:avLst/>
          </a:prstGeom>
          <a:noFill/>
          <a:ln/>
        </p:spPr>
        <p:txBody>
          <a:bodyPr wrap="square" lIns="0" tIns="0" rIns="0" bIns="0" rtlCol="0" anchor="t"/>
          <a:lstStyle/>
          <a:p>
            <a:pPr indent="0" marL="0">
              <a:buNone/>
            </a:pPr>
            <a:r>
              <a:rPr lang="en-US" sz="1250" b="1" dirty="0">
                <a:solidFill>
                  <a:srgbClr val="242E46"/>
                </a:solidFill>
                <a:latin typeface="Inter" pitchFamily="34" charset="0"/>
                <a:ea typeface="Inter" pitchFamily="34" charset="-122"/>
                <a:cs typeface="Inter" pitchFamily="34" charset="-120"/>
              </a:rPr>
              <a:t>Charge</a:t>
            </a:r>
            <a:endParaRPr lang="en-US" sz="1250" dirty="0"/>
          </a:p>
        </p:txBody>
      </p:sp>
      <p:sp>
        <p:nvSpPr>
          <p:cNvPr id="26" name="Text 24"/>
          <p:cNvSpPr txBox="1"/>
          <p:nvPr/>
        </p:nvSpPr>
        <p:spPr>
          <a:xfrm>
            <a:off x="3566160" y="3803904"/>
            <a:ext cx="3474720" cy="365760"/>
          </a:xfrm>
          <a:prstGeom prst="rect">
            <a:avLst/>
          </a:prstGeom>
          <a:noFill/>
          <a:ln/>
        </p:spPr>
        <p:txBody>
          <a:bodyPr wrap="square" lIns="0" tIns="0" rIns="0" bIns="0" rtlCol="0" anchor="t"/>
          <a:lstStyle/>
          <a:p>
            <a:pPr indent="0" marL="0">
              <a:buNone/>
            </a:pPr>
            <a:r>
              <a:rPr lang="en-US" sz="1050" dirty="0">
                <a:solidFill>
                  <a:srgbClr val="4A5470"/>
                </a:solidFill>
                <a:latin typeface="Inter" pitchFamily="34" charset="0"/>
                <a:ea typeface="Inter" pitchFamily="34" charset="-122"/>
                <a:cs typeface="Inter" pitchFamily="34" charset="-120"/>
              </a:rPr>
              <a:t>payment /charge, key charge-order-3. A repeat replays the first answer.</a:t>
            </a:r>
            <a:endParaRPr lang="en-US" sz="1050" dirty="0"/>
          </a:p>
        </p:txBody>
      </p:sp>
      <p:sp>
        <p:nvSpPr>
          <p:cNvPr id="27" name="Shape 25"/>
          <p:cNvSpPr/>
          <p:nvPr/>
        </p:nvSpPr>
        <p:spPr>
          <a:xfrm>
            <a:off x="3291840" y="3877056"/>
            <a:ext cx="0" cy="347472"/>
          </a:xfrm>
          <a:prstGeom prst="line">
            <a:avLst/>
          </a:prstGeom>
          <a:noFill/>
          <a:ln w="12700">
            <a:solidFill>
              <a:srgbClr val="C2C3C5"/>
            </a:solidFill>
            <a:prstDash val="solid"/>
          </a:ln>
        </p:spPr>
      </p:sp>
      <p:sp>
        <p:nvSpPr>
          <p:cNvPr id="28" name="Shape 26"/>
          <p:cNvSpPr/>
          <p:nvPr/>
        </p:nvSpPr>
        <p:spPr>
          <a:xfrm>
            <a:off x="3154680" y="4242816"/>
            <a:ext cx="274320" cy="274320"/>
          </a:xfrm>
          <a:prstGeom prst="ellipse">
            <a:avLst/>
          </a:prstGeom>
          <a:solidFill>
            <a:srgbClr val="6C00FF"/>
          </a:solidFill>
          <a:ln/>
        </p:spPr>
      </p:sp>
      <p:sp>
        <p:nvSpPr>
          <p:cNvPr id="29" name="Text 27"/>
          <p:cNvSpPr txBox="1"/>
          <p:nvPr/>
        </p:nvSpPr>
        <p:spPr>
          <a:xfrm>
            <a:off x="3154680" y="42428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3</a:t>
            </a:r>
            <a:endParaRPr lang="en-US" sz="1000" dirty="0"/>
          </a:p>
        </p:txBody>
      </p:sp>
      <p:sp>
        <p:nvSpPr>
          <p:cNvPr id="30" name="Text 28"/>
          <p:cNvSpPr txBox="1"/>
          <p:nvPr/>
        </p:nvSpPr>
        <p:spPr>
          <a:xfrm>
            <a:off x="3566160" y="4224528"/>
            <a:ext cx="3474720" cy="246888"/>
          </a:xfrm>
          <a:prstGeom prst="rect">
            <a:avLst/>
          </a:prstGeom>
          <a:noFill/>
          <a:ln/>
        </p:spPr>
        <p:txBody>
          <a:bodyPr wrap="square" lIns="0" tIns="0" rIns="0" bIns="0" rtlCol="0" anchor="t"/>
          <a:lstStyle/>
          <a:p>
            <a:pPr indent="0" marL="0">
              <a:buNone/>
            </a:pPr>
            <a:r>
              <a:rPr lang="en-US" sz="1250" b="1" dirty="0">
                <a:solidFill>
                  <a:srgbClr val="242E46"/>
                </a:solidFill>
                <a:latin typeface="Inter" pitchFamily="34" charset="0"/>
                <a:ea typeface="Inter" pitchFamily="34" charset="-122"/>
                <a:cs typeface="Inter" pitchFamily="34" charset="-120"/>
              </a:rPr>
              <a:t>Confirm</a:t>
            </a:r>
            <a:endParaRPr lang="en-US" sz="1250" dirty="0"/>
          </a:p>
        </p:txBody>
      </p:sp>
      <p:sp>
        <p:nvSpPr>
          <p:cNvPr id="31" name="Text 29"/>
          <p:cNvSpPr txBox="1"/>
          <p:nvPr/>
        </p:nvSpPr>
        <p:spPr>
          <a:xfrm>
            <a:off x="3566160" y="4480560"/>
            <a:ext cx="3474720" cy="365760"/>
          </a:xfrm>
          <a:prstGeom prst="rect">
            <a:avLst/>
          </a:prstGeom>
          <a:noFill/>
          <a:ln/>
        </p:spPr>
        <p:txBody>
          <a:bodyPr wrap="square" lIns="0" tIns="0" rIns="0" bIns="0" rtlCol="0" anchor="t"/>
          <a:lstStyle/>
          <a:p>
            <a:pPr indent="0" marL="0">
              <a:buNone/>
            </a:pPr>
            <a:r>
              <a:rPr lang="en-US" sz="1050" dirty="0">
                <a:solidFill>
                  <a:srgbClr val="4A5470"/>
                </a:solidFill>
                <a:latin typeface="Inter" pitchFamily="34" charset="0"/>
                <a:ea typeface="Inter" pitchFamily="34" charset="-122"/>
                <a:cs typeface="Inter" pitchFamily="34" charset="-120"/>
              </a:rPr>
              <a:t>order /status, compare-and-set: only if still pending.</a:t>
            </a:r>
            <a:endParaRPr lang="en-US" sz="1050" dirty="0"/>
          </a:p>
        </p:txBody>
      </p:sp>
      <p:sp>
        <p:nvSpPr>
          <p:cNvPr id="32" name="Shape 30"/>
          <p:cNvSpPr/>
          <p:nvPr/>
        </p:nvSpPr>
        <p:spPr>
          <a:xfrm>
            <a:off x="3291840" y="4553712"/>
            <a:ext cx="0" cy="347472"/>
          </a:xfrm>
          <a:prstGeom prst="line">
            <a:avLst/>
          </a:prstGeom>
          <a:noFill/>
          <a:ln w="12700">
            <a:solidFill>
              <a:srgbClr val="C2C3C5"/>
            </a:solidFill>
            <a:prstDash val="solid"/>
          </a:ln>
        </p:spPr>
      </p:sp>
      <p:sp>
        <p:nvSpPr>
          <p:cNvPr id="33" name="Shape 31"/>
          <p:cNvSpPr/>
          <p:nvPr/>
        </p:nvSpPr>
        <p:spPr>
          <a:xfrm>
            <a:off x="3154680" y="4919472"/>
            <a:ext cx="274320" cy="274320"/>
          </a:xfrm>
          <a:prstGeom prst="ellipse">
            <a:avLst/>
          </a:prstGeom>
          <a:solidFill>
            <a:srgbClr val="6C00FF"/>
          </a:solidFill>
          <a:ln/>
        </p:spPr>
      </p:sp>
      <p:sp>
        <p:nvSpPr>
          <p:cNvPr id="34" name="Text 32"/>
          <p:cNvSpPr txBox="1"/>
          <p:nvPr/>
        </p:nvSpPr>
        <p:spPr>
          <a:xfrm>
            <a:off x="3154680" y="491947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4</a:t>
            </a:r>
            <a:endParaRPr lang="en-US" sz="1000" dirty="0"/>
          </a:p>
        </p:txBody>
      </p:sp>
      <p:sp>
        <p:nvSpPr>
          <p:cNvPr id="35" name="Text 33"/>
          <p:cNvSpPr txBox="1"/>
          <p:nvPr/>
        </p:nvSpPr>
        <p:spPr>
          <a:xfrm>
            <a:off x="3566160" y="4901184"/>
            <a:ext cx="3474720" cy="246888"/>
          </a:xfrm>
          <a:prstGeom prst="rect">
            <a:avLst/>
          </a:prstGeom>
          <a:noFill/>
          <a:ln/>
        </p:spPr>
        <p:txBody>
          <a:bodyPr wrap="square" lIns="0" tIns="0" rIns="0" bIns="0" rtlCol="0" anchor="t"/>
          <a:lstStyle/>
          <a:p>
            <a:pPr indent="0" marL="0">
              <a:buNone/>
            </a:pPr>
            <a:r>
              <a:rPr lang="en-US" sz="1250" b="1" dirty="0">
                <a:solidFill>
                  <a:srgbClr val="242E46"/>
                </a:solidFill>
                <a:latin typeface="Inter" pitchFamily="34" charset="0"/>
                <a:ea typeface="Inter" pitchFamily="34" charset="-122"/>
                <a:cs typeface="Inter" pitchFamily="34" charset="-120"/>
              </a:rPr>
              <a:t>Commit stock, delete message</a:t>
            </a:r>
            <a:endParaRPr lang="en-US" sz="1250" dirty="0"/>
          </a:p>
        </p:txBody>
      </p:sp>
      <p:sp>
        <p:nvSpPr>
          <p:cNvPr id="36" name="Text 34"/>
          <p:cNvSpPr txBox="1"/>
          <p:nvPr/>
        </p:nvSpPr>
        <p:spPr>
          <a:xfrm>
            <a:off x="3566160" y="5157216"/>
            <a:ext cx="3474720" cy="365760"/>
          </a:xfrm>
          <a:prstGeom prst="rect">
            <a:avLst/>
          </a:prstGeom>
          <a:noFill/>
          <a:ln/>
        </p:spPr>
        <p:txBody>
          <a:bodyPr wrap="square" lIns="0" tIns="0" rIns="0" bIns="0" rtlCol="0" anchor="t"/>
          <a:lstStyle/>
          <a:p>
            <a:pPr indent="0" marL="0">
              <a:buNone/>
            </a:pPr>
            <a:r>
              <a:rPr lang="en-US" sz="1050" dirty="0">
                <a:solidFill>
                  <a:srgbClr val="4A5470"/>
                </a:solidFill>
                <a:latin typeface="Inter" pitchFamily="34" charset="0"/>
                <a:ea typeface="Inter" pitchFamily="34" charset="-122"/>
                <a:cs typeface="Inter" pitchFamily="34" charset="-120"/>
              </a:rPr>
              <a:t>Stock leaves the shelf only now.</a:t>
            </a:r>
            <a:endParaRPr lang="en-US" sz="1050" dirty="0"/>
          </a:p>
        </p:txBody>
      </p:sp>
      <p:sp>
        <p:nvSpPr>
          <p:cNvPr id="37" name="Text 35"/>
          <p:cNvSpPr txBox="1"/>
          <p:nvPr/>
        </p:nvSpPr>
        <p:spPr>
          <a:xfrm>
            <a:off x="7543800" y="1783080"/>
            <a:ext cx="3962095"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THREE POSSIBLE ENDINGS</a:t>
            </a:r>
            <a:endParaRPr lang="en-US" sz="1000" dirty="0"/>
          </a:p>
        </p:txBody>
      </p:sp>
      <p:sp>
        <p:nvSpPr>
          <p:cNvPr id="38" name="Shape 36"/>
          <p:cNvSpPr/>
          <p:nvPr/>
        </p:nvSpPr>
        <p:spPr>
          <a:xfrm>
            <a:off x="7543800" y="2057400"/>
            <a:ext cx="3962095" cy="1078992"/>
          </a:xfrm>
          <a:prstGeom prst="rect">
            <a:avLst/>
          </a:prstGeom>
          <a:solidFill>
            <a:srgbClr val="E1ECE4"/>
          </a:solidFill>
          <a:ln/>
        </p:spPr>
      </p:sp>
      <p:sp>
        <p:nvSpPr>
          <p:cNvPr id="39" name="Text 37"/>
          <p:cNvSpPr txBox="1"/>
          <p:nvPr/>
        </p:nvSpPr>
        <p:spPr>
          <a:xfrm>
            <a:off x="7744968" y="2167128"/>
            <a:ext cx="3596335" cy="274320"/>
          </a:xfrm>
          <a:prstGeom prst="rect">
            <a:avLst/>
          </a:prstGeom>
          <a:noFill/>
          <a:ln/>
        </p:spPr>
        <p:txBody>
          <a:bodyPr wrap="square" lIns="0" tIns="0" rIns="0" bIns="0" rtlCol="0" anchor="t"/>
          <a:lstStyle/>
          <a:p>
            <a:pPr indent="0" marL="0">
              <a:buNone/>
            </a:pPr>
            <a:r>
              <a:rPr lang="en-US" sz="1300" b="1" dirty="0">
                <a:solidFill>
                  <a:srgbClr val="2A7152"/>
                </a:solidFill>
                <a:latin typeface="Inter" pitchFamily="34" charset="0"/>
                <a:ea typeface="Inter" pitchFamily="34" charset="-122"/>
                <a:cs typeface="Inter" pitchFamily="34" charset="-120"/>
              </a:rPr>
              <a:t>Success</a:t>
            </a:r>
            <a:endParaRPr lang="en-US" sz="1300" dirty="0"/>
          </a:p>
        </p:txBody>
      </p:sp>
      <p:sp>
        <p:nvSpPr>
          <p:cNvPr id="40" name="Text 38"/>
          <p:cNvSpPr txBox="1"/>
          <p:nvPr/>
        </p:nvSpPr>
        <p:spPr>
          <a:xfrm>
            <a:off x="7744968" y="2441448"/>
            <a:ext cx="3596335" cy="658368"/>
          </a:xfrm>
          <a:prstGeom prst="rect">
            <a:avLst/>
          </a:prstGeom>
          <a:noFill/>
          <a:ln/>
        </p:spPr>
        <p:txBody>
          <a:bodyPr wrap="square" lIns="0" tIns="0" rIns="0" bIns="0" rtlCol="0" anchor="t"/>
          <a:lstStyle/>
          <a:p>
            <a:pPr indent="0" marL="0">
              <a:lnSpc>
                <a:spcPct val="112000"/>
              </a:lnSpc>
              <a:buNone/>
            </a:pPr>
            <a:r>
              <a:rPr lang="en-US" sz="1100" dirty="0">
                <a:solidFill>
                  <a:srgbClr val="242E46"/>
                </a:solidFill>
                <a:latin typeface="Inter" pitchFamily="34" charset="0"/>
                <a:ea typeface="Inter" pitchFamily="34" charset="-122"/>
                <a:cs typeface="Inter" pitchFamily="34" charset="-120"/>
              </a:rPr>
              <a:t>Message deleted. Status events follow: confirmation email, then shipment and tracking as the order moves on.</a:t>
            </a:r>
            <a:endParaRPr lang="en-US" sz="1100" dirty="0"/>
          </a:p>
        </p:txBody>
      </p:sp>
      <p:sp>
        <p:nvSpPr>
          <p:cNvPr id="41" name="Shape 39"/>
          <p:cNvSpPr/>
          <p:nvPr/>
        </p:nvSpPr>
        <p:spPr>
          <a:xfrm>
            <a:off x="7543800" y="3273552"/>
            <a:ext cx="3962095" cy="1078992"/>
          </a:xfrm>
          <a:prstGeom prst="rect">
            <a:avLst/>
          </a:prstGeom>
          <a:solidFill>
            <a:srgbClr val="F4EAD3"/>
          </a:solidFill>
          <a:ln/>
        </p:spPr>
      </p:sp>
      <p:sp>
        <p:nvSpPr>
          <p:cNvPr id="42" name="Text 40"/>
          <p:cNvSpPr txBox="1"/>
          <p:nvPr/>
        </p:nvSpPr>
        <p:spPr>
          <a:xfrm>
            <a:off x="7744968" y="3383280"/>
            <a:ext cx="3596335" cy="274320"/>
          </a:xfrm>
          <a:prstGeom prst="rect">
            <a:avLst/>
          </a:prstGeom>
          <a:noFill/>
          <a:ln/>
        </p:spPr>
        <p:txBody>
          <a:bodyPr wrap="square" lIns="0" tIns="0" rIns="0" bIns="0" rtlCol="0" anchor="t"/>
          <a:lstStyle/>
          <a:p>
            <a:pPr indent="0" marL="0">
              <a:buNone/>
            </a:pPr>
            <a:r>
              <a:rPr lang="en-US" sz="1300" b="1" dirty="0">
                <a:solidFill>
                  <a:srgbClr val="8A5A00"/>
                </a:solidFill>
                <a:latin typeface="Inter" pitchFamily="34" charset="0"/>
                <a:ea typeface="Inter" pitchFamily="34" charset="-122"/>
                <a:cs typeface="Inter" pitchFamily="34" charset="-120"/>
              </a:rPr>
              <a:t>A final "no"</a:t>
            </a:r>
            <a:endParaRPr lang="en-US" sz="1300" dirty="0"/>
          </a:p>
        </p:txBody>
      </p:sp>
      <p:sp>
        <p:nvSpPr>
          <p:cNvPr id="43" name="Text 41"/>
          <p:cNvSpPr txBox="1"/>
          <p:nvPr/>
        </p:nvSpPr>
        <p:spPr>
          <a:xfrm>
            <a:off x="7744968" y="3657600"/>
            <a:ext cx="3596335" cy="658368"/>
          </a:xfrm>
          <a:prstGeom prst="rect">
            <a:avLst/>
          </a:prstGeom>
          <a:noFill/>
          <a:ln/>
        </p:spPr>
        <p:txBody>
          <a:bodyPr wrap="square" lIns="0" tIns="0" rIns="0" bIns="0" rtlCol="0" anchor="t"/>
          <a:lstStyle/>
          <a:p>
            <a:pPr indent="0" marL="0">
              <a:lnSpc>
                <a:spcPct val="112000"/>
              </a:lnSpc>
              <a:buNone/>
            </a:pPr>
            <a:r>
              <a:rPr lang="en-US" sz="1100" dirty="0">
                <a:solidFill>
                  <a:srgbClr val="242E46"/>
                </a:solidFill>
                <a:latin typeface="Inter" pitchFamily="34" charset="0"/>
                <a:ea typeface="Inter" pitchFamily="34" charset="-122"/>
                <a:cs typeface="Inter" pitchFamily="34" charset="-120"/>
              </a:rPr>
              <a:t>Out of stock or card declined: release stock, cancel, tell the customer, delete. Retrying would not change the answer.</a:t>
            </a:r>
            <a:endParaRPr lang="en-US" sz="1100" dirty="0"/>
          </a:p>
        </p:txBody>
      </p:sp>
      <p:sp>
        <p:nvSpPr>
          <p:cNvPr id="44" name="Shape 42"/>
          <p:cNvSpPr/>
          <p:nvPr/>
        </p:nvSpPr>
        <p:spPr>
          <a:xfrm>
            <a:off x="7543800" y="4489704"/>
            <a:ext cx="3962095" cy="1078992"/>
          </a:xfrm>
          <a:prstGeom prst="rect">
            <a:avLst/>
          </a:prstGeom>
          <a:solidFill>
            <a:srgbClr val="F8E3DF"/>
          </a:solidFill>
          <a:ln/>
        </p:spPr>
      </p:sp>
      <p:sp>
        <p:nvSpPr>
          <p:cNvPr id="45" name="Text 43"/>
          <p:cNvSpPr txBox="1"/>
          <p:nvPr/>
        </p:nvSpPr>
        <p:spPr>
          <a:xfrm>
            <a:off x="7744968" y="4599432"/>
            <a:ext cx="3596335" cy="274320"/>
          </a:xfrm>
          <a:prstGeom prst="rect">
            <a:avLst/>
          </a:prstGeom>
          <a:noFill/>
          <a:ln/>
        </p:spPr>
        <p:txBody>
          <a:bodyPr wrap="square" lIns="0" tIns="0" rIns="0" bIns="0" rtlCol="0" anchor="t"/>
          <a:lstStyle/>
          <a:p>
            <a:pPr indent="0" marL="0">
              <a:buNone/>
            </a:pPr>
            <a:r>
              <a:rPr lang="en-US" sz="1300" b="1" dirty="0">
                <a:solidFill>
                  <a:srgbClr val="B42318"/>
                </a:solidFill>
                <a:latin typeface="Inter" pitchFamily="34" charset="0"/>
                <a:ea typeface="Inter" pitchFamily="34" charset="-122"/>
                <a:cs typeface="Inter" pitchFamily="34" charset="-120"/>
              </a:rPr>
              <a:t>An error or timeout</a:t>
            </a:r>
            <a:endParaRPr lang="en-US" sz="1300" dirty="0"/>
          </a:p>
        </p:txBody>
      </p:sp>
      <p:sp>
        <p:nvSpPr>
          <p:cNvPr id="46" name="Text 44"/>
          <p:cNvSpPr txBox="1"/>
          <p:nvPr/>
        </p:nvSpPr>
        <p:spPr>
          <a:xfrm>
            <a:off x="7744968" y="4873752"/>
            <a:ext cx="3596335" cy="658368"/>
          </a:xfrm>
          <a:prstGeom prst="rect">
            <a:avLst/>
          </a:prstGeom>
          <a:noFill/>
          <a:ln/>
        </p:spPr>
        <p:txBody>
          <a:bodyPr wrap="square" lIns="0" tIns="0" rIns="0" bIns="0" rtlCol="0" anchor="t"/>
          <a:lstStyle/>
          <a:p>
            <a:pPr indent="0" marL="0">
              <a:lnSpc>
                <a:spcPct val="112000"/>
              </a:lnSpc>
              <a:buNone/>
            </a:pPr>
            <a:r>
              <a:rPr lang="en-US" sz="1100" dirty="0">
                <a:solidFill>
                  <a:srgbClr val="242E46"/>
                </a:solidFill>
                <a:latin typeface="Inter" pitchFamily="34" charset="0"/>
                <a:ea typeface="Inter" pitchFamily="34" charset="-122"/>
                <a:cs typeface="Inter" pitchFamily="34" charset="-120"/>
              </a:rPr>
              <a:t>Not deleted. SQS hands it out again after 60 s. On the third failure it moves to the DLQ.</a:t>
            </a:r>
            <a:endParaRPr lang="en-US" sz="1100" dirty="0"/>
          </a:p>
        </p:txBody>
      </p:sp>
      <p:sp>
        <p:nvSpPr>
          <p:cNvPr id="47" name="Shape 45"/>
          <p:cNvSpPr/>
          <p:nvPr/>
        </p:nvSpPr>
        <p:spPr>
          <a:xfrm>
            <a:off x="7223760" y="3813048"/>
            <a:ext cx="210312" cy="0"/>
          </a:xfrm>
          <a:prstGeom prst="line">
            <a:avLst/>
          </a:prstGeom>
          <a:noFill/>
          <a:ln w="12700">
            <a:solidFill>
              <a:srgbClr val="C2C3C5"/>
            </a:solidFill>
            <a:prstDash val="solid"/>
          </a:ln>
        </p:spPr>
      </p:sp>
      <p:sp>
        <p:nvSpPr>
          <p:cNvPr id="48" name="Shape 46"/>
          <p:cNvSpPr/>
          <p:nvPr/>
        </p:nvSpPr>
        <p:spPr>
          <a:xfrm>
            <a:off x="7434072" y="2596896"/>
            <a:ext cx="0" cy="2432304"/>
          </a:xfrm>
          <a:prstGeom prst="line">
            <a:avLst/>
          </a:prstGeom>
          <a:noFill/>
          <a:ln w="12700">
            <a:solidFill>
              <a:srgbClr val="C2C3C5"/>
            </a:solidFill>
            <a:prstDash val="solid"/>
          </a:ln>
        </p:spPr>
      </p:sp>
      <p:sp>
        <p:nvSpPr>
          <p:cNvPr id="49" name="Shape 47"/>
          <p:cNvSpPr/>
          <p:nvPr/>
        </p:nvSpPr>
        <p:spPr>
          <a:xfrm>
            <a:off x="7434072" y="2596896"/>
            <a:ext cx="109728" cy="0"/>
          </a:xfrm>
          <a:prstGeom prst="line">
            <a:avLst/>
          </a:prstGeom>
          <a:noFill/>
          <a:ln w="12700">
            <a:solidFill>
              <a:srgbClr val="C2C3C5"/>
            </a:solidFill>
            <a:prstDash val="solid"/>
          </a:ln>
        </p:spPr>
      </p:sp>
      <p:sp>
        <p:nvSpPr>
          <p:cNvPr id="50" name="Shape 48"/>
          <p:cNvSpPr/>
          <p:nvPr/>
        </p:nvSpPr>
        <p:spPr>
          <a:xfrm>
            <a:off x="7434072" y="3813048"/>
            <a:ext cx="109728" cy="0"/>
          </a:xfrm>
          <a:prstGeom prst="line">
            <a:avLst/>
          </a:prstGeom>
          <a:noFill/>
          <a:ln w="12700">
            <a:solidFill>
              <a:srgbClr val="C2C3C5"/>
            </a:solidFill>
            <a:prstDash val="solid"/>
          </a:ln>
        </p:spPr>
      </p:sp>
      <p:sp>
        <p:nvSpPr>
          <p:cNvPr id="51" name="Shape 49"/>
          <p:cNvSpPr/>
          <p:nvPr/>
        </p:nvSpPr>
        <p:spPr>
          <a:xfrm>
            <a:off x="7434072" y="5029200"/>
            <a:ext cx="109728" cy="0"/>
          </a:xfrm>
          <a:prstGeom prst="line">
            <a:avLst/>
          </a:prstGeom>
          <a:noFill/>
          <a:ln w="12700">
            <a:solidFill>
              <a:srgbClr val="C2C3C5"/>
            </a:solidFill>
            <a:prstDash val="solid"/>
          </a:ln>
        </p:spPr>
      </p:sp>
      <p:sp>
        <p:nvSpPr>
          <p:cNvPr id="52" name="Shape 50"/>
          <p:cNvSpPr/>
          <p:nvPr/>
        </p:nvSpPr>
        <p:spPr>
          <a:xfrm>
            <a:off x="1645920" y="3063240"/>
            <a:ext cx="0" cy="1097280"/>
          </a:xfrm>
          <a:prstGeom prst="line">
            <a:avLst/>
          </a:prstGeom>
          <a:noFill/>
          <a:ln w="15875">
            <a:solidFill>
              <a:srgbClr val="B42318"/>
            </a:solidFill>
            <a:prstDash val="dash"/>
            <a:tailEnd type="triangle"/>
          </a:ln>
        </p:spPr>
      </p:sp>
      <p:sp>
        <p:nvSpPr>
          <p:cNvPr id="53" name="Text 51"/>
          <p:cNvSpPr txBox="1"/>
          <p:nvPr/>
        </p:nvSpPr>
        <p:spPr>
          <a:xfrm>
            <a:off x="1737360" y="3337560"/>
            <a:ext cx="822960" cy="457200"/>
          </a:xfrm>
          <a:prstGeom prst="rect">
            <a:avLst/>
          </a:prstGeom>
          <a:noFill/>
          <a:ln/>
        </p:spPr>
        <p:txBody>
          <a:bodyPr wrap="square" lIns="0" tIns="0" rIns="0" bIns="0" rtlCol="0" anchor="t"/>
          <a:lstStyle/>
          <a:p>
            <a:pPr indent="0" marL="0">
              <a:buNone/>
            </a:pPr>
            <a:r>
              <a:rPr lang="en-US" sz="950" dirty="0">
                <a:solidFill>
                  <a:srgbClr val="B42318"/>
                </a:solidFill>
                <a:latin typeface="JetBrains Mono" pitchFamily="34" charset="0"/>
                <a:ea typeface="JetBrains Mono" pitchFamily="34" charset="-122"/>
                <a:cs typeface="JetBrains Mono" pitchFamily="34" charset="-120"/>
              </a:rPr>
              <a:t>third</a:t>
            </a:r>
            <a:endParaRPr lang="en-US" sz="950" dirty="0"/>
          </a:p>
          <a:p>
            <a:pPr indent="0" marL="0">
              <a:buNone/>
            </a:pPr>
            <a:r>
              <a:rPr lang="en-US" sz="950" dirty="0">
                <a:solidFill>
                  <a:srgbClr val="B42318"/>
                </a:solidFill>
                <a:latin typeface="JetBrains Mono" pitchFamily="34" charset="0"/>
                <a:ea typeface="JetBrains Mono" pitchFamily="34" charset="-122"/>
                <a:cs typeface="JetBrains Mono" pitchFamily="34" charset="-120"/>
              </a:rPr>
              <a:t>failure</a:t>
            </a:r>
            <a:endParaRPr lang="en-US" sz="9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III  ·  WHY RETRIES ARE SAFE</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We broke it first, then made retries safe</a:t>
            </a:r>
            <a:endParaRPr lang="en-US" sz="3000" dirty="0"/>
          </a:p>
        </p:txBody>
      </p:sp>
      <p:sp>
        <p:nvSpPr>
          <p:cNvPr id="4" name="Text 2"/>
          <p:cNvSpPr txBox="1"/>
          <p:nvPr/>
        </p:nvSpPr>
        <p:spPr>
          <a:xfrm>
            <a:off x="685800" y="1783080"/>
            <a:ext cx="6172200" cy="219456"/>
          </a:xfrm>
          <a:prstGeom prst="rect">
            <a:avLst/>
          </a:prstGeom>
          <a:noFill/>
          <a:ln/>
        </p:spPr>
        <p:txBody>
          <a:bodyPr wrap="square" lIns="0" tIns="0" rIns="0" bIns="0" rtlCol="0" anchor="t"/>
          <a:lstStyle/>
          <a:p>
            <a:pPr indent="0" marL="0">
              <a:buNone/>
            </a:pPr>
            <a:r>
              <a:rPr lang="en-US" sz="1000" spc="120" kern="0" dirty="0">
                <a:solidFill>
                  <a:srgbClr val="5700D6"/>
                </a:solidFill>
                <a:latin typeface="JetBrains Mono" pitchFamily="34" charset="0"/>
                <a:ea typeface="JetBrains Mono" pitchFamily="34" charset="-122"/>
                <a:cs typeface="JetBrains Mono" pitchFamily="34" charset="-120"/>
              </a:rPr>
              <a:t>WHERE A REPEAT IS ABSORBED</a:t>
            </a:r>
            <a:endParaRPr lang="en-US" sz="1000" dirty="0"/>
          </a:p>
        </p:txBody>
      </p:sp>
      <p:sp>
        <p:nvSpPr>
          <p:cNvPr id="5" name="Text 3"/>
          <p:cNvSpPr txBox="1"/>
          <p:nvPr/>
        </p:nvSpPr>
        <p:spPr>
          <a:xfrm>
            <a:off x="685800" y="2103120"/>
            <a:ext cx="1005840" cy="201168"/>
          </a:xfrm>
          <a:prstGeom prst="rect">
            <a:avLst/>
          </a:prstGeom>
          <a:noFill/>
          <a:ln/>
        </p:spPr>
        <p:txBody>
          <a:bodyPr wrap="square" lIns="0" tIns="0" rIns="0" bIns="0" rtlCol="0" anchor="t"/>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LAYER</a:t>
            </a:r>
            <a:endParaRPr lang="en-US" sz="950" dirty="0"/>
          </a:p>
        </p:txBody>
      </p:sp>
      <p:sp>
        <p:nvSpPr>
          <p:cNvPr id="6" name="Text 4"/>
          <p:cNvSpPr txBox="1"/>
          <p:nvPr/>
        </p:nvSpPr>
        <p:spPr>
          <a:xfrm>
            <a:off x="1737360" y="2103120"/>
            <a:ext cx="1737360" cy="201168"/>
          </a:xfrm>
          <a:prstGeom prst="rect">
            <a:avLst/>
          </a:prstGeom>
          <a:noFill/>
          <a:ln/>
        </p:spPr>
        <p:txBody>
          <a:bodyPr wrap="square" lIns="0" tIns="0" rIns="0" bIns="0" rtlCol="0" anchor="t"/>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A REPEAT LOOKS LIKE</a:t>
            </a:r>
            <a:endParaRPr lang="en-US" sz="950" dirty="0"/>
          </a:p>
        </p:txBody>
      </p:sp>
      <p:sp>
        <p:nvSpPr>
          <p:cNvPr id="7" name="Text 5"/>
          <p:cNvSpPr txBox="1"/>
          <p:nvPr/>
        </p:nvSpPr>
        <p:spPr>
          <a:xfrm>
            <a:off x="3520440" y="2103120"/>
            <a:ext cx="3291840" cy="201168"/>
          </a:xfrm>
          <a:prstGeom prst="rect">
            <a:avLst/>
          </a:prstGeom>
          <a:noFill/>
          <a:ln/>
        </p:spPr>
        <p:txBody>
          <a:bodyPr wrap="square" lIns="0" tIns="0" rIns="0" bIns="0" rtlCol="0" anchor="t"/>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WHAT ABSORBS IT</a:t>
            </a:r>
            <a:endParaRPr lang="en-US" sz="950" dirty="0"/>
          </a:p>
        </p:txBody>
      </p:sp>
      <p:sp>
        <p:nvSpPr>
          <p:cNvPr id="8" name="Shape 6"/>
          <p:cNvSpPr/>
          <p:nvPr/>
        </p:nvSpPr>
        <p:spPr>
          <a:xfrm>
            <a:off x="685800" y="2359152"/>
            <a:ext cx="6172200" cy="0"/>
          </a:xfrm>
          <a:prstGeom prst="line">
            <a:avLst/>
          </a:prstGeom>
          <a:noFill/>
          <a:ln w="12700">
            <a:solidFill>
              <a:srgbClr val="242E46"/>
            </a:solidFill>
            <a:prstDash val="solid"/>
          </a:ln>
        </p:spPr>
      </p:sp>
      <p:sp>
        <p:nvSpPr>
          <p:cNvPr id="9" name="Text 7"/>
          <p:cNvSpPr txBox="1"/>
          <p:nvPr/>
        </p:nvSpPr>
        <p:spPr>
          <a:xfrm>
            <a:off x="685800" y="2450592"/>
            <a:ext cx="1005840"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Request</a:t>
            </a:r>
            <a:endParaRPr lang="en-US" sz="1300" dirty="0"/>
          </a:p>
        </p:txBody>
      </p:sp>
      <p:sp>
        <p:nvSpPr>
          <p:cNvPr id="10" name="Text 8"/>
          <p:cNvSpPr txBox="1"/>
          <p:nvPr/>
        </p:nvSpPr>
        <p:spPr>
          <a:xfrm>
            <a:off x="1737360" y="2450592"/>
            <a:ext cx="1691640" cy="594360"/>
          </a:xfrm>
          <a:prstGeom prst="rect">
            <a:avLst/>
          </a:prstGeom>
          <a:noFill/>
          <a:ln/>
        </p:spPr>
        <p:txBody>
          <a:bodyPr wrap="square" lIns="0" tIns="0" rIns="0" bIns="0" rtlCol="0" anchor="t"/>
          <a:lstStyle/>
          <a:p>
            <a:pPr indent="0" marL="0">
              <a:buNone/>
            </a:pPr>
            <a:r>
              <a:rPr lang="en-US" sz="1200" dirty="0">
                <a:solidFill>
                  <a:srgbClr val="4A5470"/>
                </a:solidFill>
                <a:latin typeface="Inter" pitchFamily="34" charset="0"/>
                <a:ea typeface="Inter" pitchFamily="34" charset="-122"/>
                <a:cs typeface="Inter" pitchFamily="34" charset="-120"/>
              </a:rPr>
              <a:t>double click, client retry</a:t>
            </a:r>
            <a:endParaRPr lang="en-US" sz="1200" dirty="0"/>
          </a:p>
        </p:txBody>
      </p:sp>
      <p:sp>
        <p:nvSpPr>
          <p:cNvPr id="11" name="Text 9"/>
          <p:cNvSpPr txBox="1"/>
          <p:nvPr/>
        </p:nvSpPr>
        <p:spPr>
          <a:xfrm>
            <a:off x="3520440" y="2450592"/>
            <a:ext cx="3291840" cy="640080"/>
          </a:xfrm>
          <a:prstGeom prst="rect">
            <a:avLst/>
          </a:prstGeom>
          <a:noFill/>
          <a:ln/>
        </p:spPr>
        <p:txBody>
          <a:bodyPr wrap="square" lIns="0" tIns="0" rIns="0" bIns="0" rtlCol="0" anchor="t"/>
          <a:lstStyle/>
          <a:p>
            <a:pPr indent="0" marL="0">
              <a:lnSpc>
                <a:spcPct val="112000"/>
              </a:lnSpc>
              <a:buNone/>
            </a:pPr>
            <a:r>
              <a:rPr lang="en-US" sz="1200" dirty="0">
                <a:solidFill>
                  <a:srgbClr val="242E46"/>
                </a:solidFill>
                <a:latin typeface="Inter" pitchFamily="34" charset="0"/>
                <a:ea typeface="Inter" pitchFamily="34" charset="-122"/>
                <a:cs typeface="Inter" pitchFamily="34" charset="-120"/>
              </a:rPr>
              <a:t>Idempotency-Key. Primary key on (customer, key) lets one request win.</a:t>
            </a:r>
            <a:endParaRPr lang="en-US" sz="1200" dirty="0"/>
          </a:p>
        </p:txBody>
      </p:sp>
      <p:sp>
        <p:nvSpPr>
          <p:cNvPr id="12" name="Shape 10"/>
          <p:cNvSpPr/>
          <p:nvPr/>
        </p:nvSpPr>
        <p:spPr>
          <a:xfrm>
            <a:off x="685800" y="3136392"/>
            <a:ext cx="6172200" cy="0"/>
          </a:xfrm>
          <a:prstGeom prst="line">
            <a:avLst/>
          </a:prstGeom>
          <a:noFill/>
          <a:ln w="9525">
            <a:solidFill>
              <a:srgbClr val="DBDADA"/>
            </a:solidFill>
            <a:prstDash val="solid"/>
          </a:ln>
        </p:spPr>
      </p:sp>
      <p:sp>
        <p:nvSpPr>
          <p:cNvPr id="13" name="Text 11"/>
          <p:cNvSpPr txBox="1"/>
          <p:nvPr/>
        </p:nvSpPr>
        <p:spPr>
          <a:xfrm>
            <a:off x="685800" y="3200400"/>
            <a:ext cx="1005840"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Worker</a:t>
            </a:r>
            <a:endParaRPr lang="en-US" sz="1300" dirty="0"/>
          </a:p>
        </p:txBody>
      </p:sp>
      <p:sp>
        <p:nvSpPr>
          <p:cNvPr id="14" name="Text 12"/>
          <p:cNvSpPr txBox="1"/>
          <p:nvPr/>
        </p:nvSpPr>
        <p:spPr>
          <a:xfrm>
            <a:off x="1737360" y="3200400"/>
            <a:ext cx="1691640" cy="594360"/>
          </a:xfrm>
          <a:prstGeom prst="rect">
            <a:avLst/>
          </a:prstGeom>
          <a:noFill/>
          <a:ln/>
        </p:spPr>
        <p:txBody>
          <a:bodyPr wrap="square" lIns="0" tIns="0" rIns="0" bIns="0" rtlCol="0" anchor="t"/>
          <a:lstStyle/>
          <a:p>
            <a:pPr indent="0" marL="0">
              <a:buNone/>
            </a:pPr>
            <a:r>
              <a:rPr lang="en-US" sz="1200" dirty="0">
                <a:solidFill>
                  <a:srgbClr val="4A5470"/>
                </a:solidFill>
                <a:latin typeface="Inter" pitchFamily="34" charset="0"/>
                <a:ea typeface="Inter" pitchFamily="34" charset="-122"/>
                <a:cs typeface="Inter" pitchFamily="34" charset="-120"/>
              </a:rPr>
              <a:t>SQS redelivery</a:t>
            </a:r>
            <a:endParaRPr lang="en-US" sz="1200" dirty="0"/>
          </a:p>
        </p:txBody>
      </p:sp>
      <p:sp>
        <p:nvSpPr>
          <p:cNvPr id="15" name="Text 13"/>
          <p:cNvSpPr txBox="1"/>
          <p:nvPr/>
        </p:nvSpPr>
        <p:spPr>
          <a:xfrm>
            <a:off x="3520440" y="3200400"/>
            <a:ext cx="3291840" cy="640080"/>
          </a:xfrm>
          <a:prstGeom prst="rect">
            <a:avLst/>
          </a:prstGeom>
          <a:noFill/>
          <a:ln/>
        </p:spPr>
        <p:txBody>
          <a:bodyPr wrap="square" lIns="0" tIns="0" rIns="0" bIns="0" rtlCol="0" anchor="t"/>
          <a:lstStyle/>
          <a:p>
            <a:pPr indent="0" marL="0">
              <a:lnSpc>
                <a:spcPct val="112000"/>
              </a:lnSpc>
              <a:buNone/>
            </a:pPr>
            <a:r>
              <a:rPr lang="en-US" sz="1200" dirty="0">
                <a:solidFill>
                  <a:srgbClr val="242E46"/>
                </a:solidFill>
                <a:latin typeface="Inter" pitchFamily="34" charset="0"/>
                <a:ea typeface="Inter" pitchFamily="34" charset="-122"/>
                <a:cs typeface="Inter" pitchFamily="34" charset="-120"/>
              </a:rPr>
              <a:t>Check the order first. Status changes are compare-and-set.</a:t>
            </a:r>
            <a:endParaRPr lang="en-US" sz="1200" dirty="0"/>
          </a:p>
        </p:txBody>
      </p:sp>
      <p:sp>
        <p:nvSpPr>
          <p:cNvPr id="16" name="Shape 14"/>
          <p:cNvSpPr/>
          <p:nvPr/>
        </p:nvSpPr>
        <p:spPr>
          <a:xfrm>
            <a:off x="685800" y="3886200"/>
            <a:ext cx="6172200" cy="0"/>
          </a:xfrm>
          <a:prstGeom prst="line">
            <a:avLst/>
          </a:prstGeom>
          <a:noFill/>
          <a:ln w="9525">
            <a:solidFill>
              <a:srgbClr val="DBDADA"/>
            </a:solidFill>
            <a:prstDash val="solid"/>
          </a:ln>
        </p:spPr>
      </p:sp>
      <p:sp>
        <p:nvSpPr>
          <p:cNvPr id="17" name="Text 15"/>
          <p:cNvSpPr txBox="1"/>
          <p:nvPr/>
        </p:nvSpPr>
        <p:spPr>
          <a:xfrm>
            <a:off x="685800" y="3950208"/>
            <a:ext cx="1005840"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Payment</a:t>
            </a:r>
            <a:endParaRPr lang="en-US" sz="1300" dirty="0"/>
          </a:p>
        </p:txBody>
      </p:sp>
      <p:sp>
        <p:nvSpPr>
          <p:cNvPr id="18" name="Text 16"/>
          <p:cNvSpPr txBox="1"/>
          <p:nvPr/>
        </p:nvSpPr>
        <p:spPr>
          <a:xfrm>
            <a:off x="1737360" y="3950208"/>
            <a:ext cx="1691640" cy="594360"/>
          </a:xfrm>
          <a:prstGeom prst="rect">
            <a:avLst/>
          </a:prstGeom>
          <a:noFill/>
          <a:ln/>
        </p:spPr>
        <p:txBody>
          <a:bodyPr wrap="square" lIns="0" tIns="0" rIns="0" bIns="0" rtlCol="0" anchor="t"/>
          <a:lstStyle/>
          <a:p>
            <a:pPr indent="0" marL="0">
              <a:buNone/>
            </a:pPr>
            <a:r>
              <a:rPr lang="en-US" sz="1200" dirty="0">
                <a:solidFill>
                  <a:srgbClr val="4A5470"/>
                </a:solidFill>
                <a:latin typeface="Inter" pitchFamily="34" charset="0"/>
                <a:ea typeface="Inter" pitchFamily="34" charset="-122"/>
                <a:cs typeface="Inter" pitchFamily="34" charset="-120"/>
              </a:rPr>
              <a:t>charge retried</a:t>
            </a:r>
            <a:endParaRPr lang="en-US" sz="1200" dirty="0"/>
          </a:p>
        </p:txBody>
      </p:sp>
      <p:sp>
        <p:nvSpPr>
          <p:cNvPr id="19" name="Text 17"/>
          <p:cNvSpPr txBox="1"/>
          <p:nvPr/>
        </p:nvSpPr>
        <p:spPr>
          <a:xfrm>
            <a:off x="3520440" y="3950208"/>
            <a:ext cx="3291840" cy="640080"/>
          </a:xfrm>
          <a:prstGeom prst="rect">
            <a:avLst/>
          </a:prstGeom>
          <a:noFill/>
          <a:ln/>
        </p:spPr>
        <p:txBody>
          <a:bodyPr wrap="square" lIns="0" tIns="0" rIns="0" bIns="0" rtlCol="0" anchor="t"/>
          <a:lstStyle/>
          <a:p>
            <a:pPr indent="0" marL="0">
              <a:lnSpc>
                <a:spcPct val="112000"/>
              </a:lnSpc>
              <a:buNone/>
            </a:pPr>
            <a:r>
              <a:rPr lang="en-US" sz="1200" dirty="0">
                <a:solidFill>
                  <a:srgbClr val="242E46"/>
                </a:solidFill>
                <a:latin typeface="Inter" pitchFamily="34" charset="0"/>
                <a:ea typeface="Inter" pitchFamily="34" charset="-122"/>
                <a:cs typeface="Inter" pitchFamily="34" charset="-120"/>
              </a:rPr>
              <a:t>Key charge-order-N, and a unique index: one completed charge per order.</a:t>
            </a:r>
            <a:endParaRPr lang="en-US" sz="1200" dirty="0"/>
          </a:p>
        </p:txBody>
      </p:sp>
      <p:sp>
        <p:nvSpPr>
          <p:cNvPr id="20" name="Shape 18"/>
          <p:cNvSpPr/>
          <p:nvPr/>
        </p:nvSpPr>
        <p:spPr>
          <a:xfrm>
            <a:off x="685800" y="4636008"/>
            <a:ext cx="6172200" cy="0"/>
          </a:xfrm>
          <a:prstGeom prst="line">
            <a:avLst/>
          </a:prstGeom>
          <a:noFill/>
          <a:ln w="9525">
            <a:solidFill>
              <a:srgbClr val="DBDADA"/>
            </a:solidFill>
            <a:prstDash val="solid"/>
          </a:ln>
        </p:spPr>
      </p:sp>
      <p:sp>
        <p:nvSpPr>
          <p:cNvPr id="21" name="Text 19"/>
          <p:cNvSpPr txBox="1"/>
          <p:nvPr/>
        </p:nvSpPr>
        <p:spPr>
          <a:xfrm>
            <a:off x="685800" y="4700016"/>
            <a:ext cx="1005840"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Email</a:t>
            </a:r>
            <a:endParaRPr lang="en-US" sz="1300" dirty="0"/>
          </a:p>
        </p:txBody>
      </p:sp>
      <p:sp>
        <p:nvSpPr>
          <p:cNvPr id="22" name="Text 20"/>
          <p:cNvSpPr txBox="1"/>
          <p:nvPr/>
        </p:nvSpPr>
        <p:spPr>
          <a:xfrm>
            <a:off x="1737360" y="4700016"/>
            <a:ext cx="1691640" cy="594360"/>
          </a:xfrm>
          <a:prstGeom prst="rect">
            <a:avLst/>
          </a:prstGeom>
          <a:noFill/>
          <a:ln/>
        </p:spPr>
        <p:txBody>
          <a:bodyPr wrap="square" lIns="0" tIns="0" rIns="0" bIns="0" rtlCol="0" anchor="t"/>
          <a:lstStyle/>
          <a:p>
            <a:pPr indent="0" marL="0">
              <a:buNone/>
            </a:pPr>
            <a:r>
              <a:rPr lang="en-US" sz="1200" dirty="0">
                <a:solidFill>
                  <a:srgbClr val="4A5470"/>
                </a:solidFill>
                <a:latin typeface="Inter" pitchFamily="34" charset="0"/>
                <a:ea typeface="Inter" pitchFamily="34" charset="-122"/>
                <a:cs typeface="Inter" pitchFamily="34" charset="-120"/>
              </a:rPr>
              <a:t>event replayed</a:t>
            </a:r>
            <a:endParaRPr lang="en-US" sz="1200" dirty="0"/>
          </a:p>
        </p:txBody>
      </p:sp>
      <p:sp>
        <p:nvSpPr>
          <p:cNvPr id="23" name="Text 21"/>
          <p:cNvSpPr txBox="1"/>
          <p:nvPr/>
        </p:nvSpPr>
        <p:spPr>
          <a:xfrm>
            <a:off x="3520440" y="4700016"/>
            <a:ext cx="3291840" cy="640080"/>
          </a:xfrm>
          <a:prstGeom prst="rect">
            <a:avLst/>
          </a:prstGeom>
          <a:noFill/>
          <a:ln/>
        </p:spPr>
        <p:txBody>
          <a:bodyPr wrap="square" lIns="0" tIns="0" rIns="0" bIns="0" rtlCol="0" anchor="t"/>
          <a:lstStyle/>
          <a:p>
            <a:pPr indent="0" marL="0">
              <a:lnSpc>
                <a:spcPct val="112000"/>
              </a:lnSpc>
              <a:buNone/>
            </a:pPr>
            <a:r>
              <a:rPr lang="en-US" sz="1200" dirty="0">
                <a:solidFill>
                  <a:srgbClr val="242E46"/>
                </a:solidFill>
                <a:latin typeface="Inter" pitchFamily="34" charset="0"/>
                <a:ea typeface="Inter" pitchFamily="34" charset="-122"/>
                <a:cs typeface="Inter" pitchFamily="34" charset="-120"/>
              </a:rPr>
              <a:t>Dedupe key template:order, held by a unique index.</a:t>
            </a:r>
            <a:endParaRPr lang="en-US" sz="1200" dirty="0"/>
          </a:p>
        </p:txBody>
      </p:sp>
      <p:sp>
        <p:nvSpPr>
          <p:cNvPr id="24" name="Shape 22"/>
          <p:cNvSpPr/>
          <p:nvPr/>
        </p:nvSpPr>
        <p:spPr>
          <a:xfrm>
            <a:off x="685800" y="5385816"/>
            <a:ext cx="6172200" cy="0"/>
          </a:xfrm>
          <a:prstGeom prst="line">
            <a:avLst/>
          </a:prstGeom>
          <a:noFill/>
          <a:ln w="9525">
            <a:solidFill>
              <a:srgbClr val="DBDADA"/>
            </a:solidFill>
            <a:prstDash val="solid"/>
          </a:ln>
        </p:spPr>
      </p:sp>
      <p:sp>
        <p:nvSpPr>
          <p:cNvPr id="25" name="Text 23"/>
          <p:cNvSpPr txBox="1"/>
          <p:nvPr/>
        </p:nvSpPr>
        <p:spPr>
          <a:xfrm>
            <a:off x="685800" y="5577840"/>
            <a:ext cx="6172200" cy="457200"/>
          </a:xfrm>
          <a:prstGeom prst="rect">
            <a:avLst/>
          </a:prstGeom>
          <a:noFill/>
          <a:ln/>
        </p:spPr>
        <p:txBody>
          <a:bodyPr wrap="square" lIns="0" tIns="0" rIns="0" bIns="0" rtlCol="0" anchor="t"/>
          <a:lstStyle/>
          <a:p>
            <a:pPr indent="0" marL="0">
              <a:buNone/>
            </a:pPr>
            <a:r>
              <a:rPr lang="en-US" sz="1200" dirty="0">
                <a:solidFill>
                  <a:srgbClr val="5B6480"/>
                </a:solidFill>
                <a:latin typeface="Inter" pitchFamily="34" charset="0"/>
                <a:ea typeface="Inter" pitchFamily="34" charset="-122"/>
                <a:cs typeface="Inter" pitchFamily="34" charset="-120"/>
              </a:rPr>
              <a:t>168 test functions pass with the race detector on, re-run against Postgres, Redis and a local SQS on 13 Oct.</a:t>
            </a:r>
            <a:endParaRPr lang="en-US" sz="1200" dirty="0"/>
          </a:p>
        </p:txBody>
      </p:sp>
      <p:sp>
        <p:nvSpPr>
          <p:cNvPr id="26" name="Shape 24"/>
          <p:cNvSpPr/>
          <p:nvPr/>
        </p:nvSpPr>
        <p:spPr>
          <a:xfrm>
            <a:off x="7269480" y="1783080"/>
            <a:ext cx="4236415" cy="4251960"/>
          </a:xfrm>
          <a:prstGeom prst="rect">
            <a:avLst/>
          </a:prstGeom>
          <a:solidFill>
            <a:srgbClr val="160B35"/>
          </a:solidFill>
          <a:ln/>
        </p:spPr>
      </p:sp>
      <p:sp>
        <p:nvSpPr>
          <p:cNvPr id="27" name="Text 25"/>
          <p:cNvSpPr txBox="1"/>
          <p:nvPr/>
        </p:nvSpPr>
        <p:spPr>
          <a:xfrm>
            <a:off x="7543800" y="1965960"/>
            <a:ext cx="3687775" cy="219456"/>
          </a:xfrm>
          <a:prstGeom prst="rect">
            <a:avLst/>
          </a:prstGeom>
          <a:noFill/>
          <a:ln/>
        </p:spPr>
        <p:txBody>
          <a:bodyPr wrap="square" lIns="0" tIns="0" rIns="0" bIns="0" rtlCol="0" anchor="t"/>
          <a:lstStyle/>
          <a:p>
            <a:pPr indent="0" marL="0">
              <a:buNone/>
            </a:pPr>
            <a:r>
              <a:rPr lang="en-US" sz="1050" b="1" spc="120" kern="0" dirty="0">
                <a:solidFill>
                  <a:srgbClr val="AE99F0"/>
                </a:solidFill>
                <a:latin typeface="JetBrains Mono" pitchFamily="34" charset="0"/>
                <a:ea typeface="JetBrains Mono" pitchFamily="34" charset="-122"/>
                <a:cs typeface="JetBrains Mono" pitchFamily="34" charset="-120"/>
              </a:rPr>
              <a:t>REPRODUCED BEFORE THE FIX</a:t>
            </a:r>
            <a:endParaRPr lang="en-US" sz="1050" dirty="0"/>
          </a:p>
        </p:txBody>
      </p:sp>
      <p:sp>
        <p:nvSpPr>
          <p:cNvPr id="28" name="Text 26"/>
          <p:cNvSpPr txBox="1"/>
          <p:nvPr/>
        </p:nvSpPr>
        <p:spPr>
          <a:xfrm>
            <a:off x="7543800" y="2331720"/>
            <a:ext cx="2560320" cy="502920"/>
          </a:xfrm>
          <a:prstGeom prst="rect">
            <a:avLst/>
          </a:prstGeom>
          <a:noFill/>
          <a:ln/>
        </p:spPr>
        <p:txBody>
          <a:bodyPr wrap="square" lIns="0" tIns="0" rIns="0" bIns="0" rtlCol="0" anchor="t"/>
          <a:lstStyle/>
          <a:p>
            <a:pPr indent="0" marL="0">
              <a:buNone/>
            </a:pPr>
            <a:r>
              <a:rPr lang="en-US" sz="3000" b="1" dirty="0">
                <a:solidFill>
                  <a:srgbClr val="F3F2F8"/>
                </a:solidFill>
                <a:latin typeface="Manrope" pitchFamily="34" charset="0"/>
                <a:ea typeface="Manrope" pitchFamily="34" charset="-122"/>
                <a:cs typeface="Manrope" pitchFamily="34" charset="-120"/>
              </a:rPr>
              <a:t>25 of 30</a:t>
            </a:r>
            <a:endParaRPr lang="en-US" sz="3000" dirty="0"/>
          </a:p>
        </p:txBody>
      </p:sp>
      <p:sp>
        <p:nvSpPr>
          <p:cNvPr id="29" name="Text 27"/>
          <p:cNvSpPr txBox="1"/>
          <p:nvPr/>
        </p:nvSpPr>
        <p:spPr>
          <a:xfrm>
            <a:off x="10317175" y="2441448"/>
            <a:ext cx="914400" cy="274320"/>
          </a:xfrm>
          <a:prstGeom prst="rect">
            <a:avLst/>
          </a:prstGeom>
          <a:noFill/>
          <a:ln/>
        </p:spPr>
        <p:txBody>
          <a:bodyPr wrap="square" lIns="0" tIns="0" rIns="0" bIns="0" rtlCol="0" anchor="t"/>
          <a:lstStyle/>
          <a:p>
            <a:pPr algn="r" indent="0" marL="0">
              <a:buNone/>
            </a:pPr>
            <a:r>
              <a:rPr lang="en-US" sz="1100" b="1" dirty="0">
                <a:solidFill>
                  <a:srgbClr val="AE99F0"/>
                </a:solidFill>
                <a:latin typeface="JetBrains Mono" pitchFamily="34" charset="0"/>
                <a:ea typeface="JetBrains Mono" pitchFamily="34" charset="-122"/>
                <a:cs typeface="JetBrains Mono" pitchFamily="34" charset="-120"/>
              </a:rPr>
              <a:t>NOW 0</a:t>
            </a:r>
            <a:endParaRPr lang="en-US" sz="1100" dirty="0"/>
          </a:p>
        </p:txBody>
      </p:sp>
      <p:sp>
        <p:nvSpPr>
          <p:cNvPr id="30" name="Text 28"/>
          <p:cNvSpPr txBox="1"/>
          <p:nvPr/>
        </p:nvSpPr>
        <p:spPr>
          <a:xfrm>
            <a:off x="7543800" y="2862072"/>
            <a:ext cx="3687775" cy="457200"/>
          </a:xfrm>
          <a:prstGeom prst="rect">
            <a:avLst/>
          </a:prstGeom>
          <a:noFill/>
          <a:ln/>
        </p:spPr>
        <p:txBody>
          <a:bodyPr wrap="square" lIns="0" tIns="0" rIns="0" bIns="0" rtlCol="0" anchor="t"/>
          <a:lstStyle/>
          <a:p>
            <a:pPr indent="0" marL="0">
              <a:lnSpc>
                <a:spcPct val="110000"/>
              </a:lnSpc>
              <a:buNone/>
            </a:pPr>
            <a:r>
              <a:rPr lang="en-US" sz="1150" dirty="0">
                <a:solidFill>
                  <a:srgbClr val="B3A6DC"/>
                </a:solidFill>
                <a:latin typeface="Inter" pitchFamily="34" charset="0"/>
                <a:ea typeface="Inter" pitchFamily="34" charset="-122"/>
                <a:cs typeface="Inter" pitchFamily="34" charset="-120"/>
              </a:rPr>
              <a:t>runs where a concurrent confirm and cancel both succeeded</a:t>
            </a:r>
            <a:endParaRPr lang="en-US" sz="1150" dirty="0"/>
          </a:p>
        </p:txBody>
      </p:sp>
      <p:sp>
        <p:nvSpPr>
          <p:cNvPr id="31" name="Text 29"/>
          <p:cNvSpPr txBox="1"/>
          <p:nvPr/>
        </p:nvSpPr>
        <p:spPr>
          <a:xfrm>
            <a:off x="7543800" y="3447288"/>
            <a:ext cx="2560320" cy="502920"/>
          </a:xfrm>
          <a:prstGeom prst="rect">
            <a:avLst/>
          </a:prstGeom>
          <a:noFill/>
          <a:ln/>
        </p:spPr>
        <p:txBody>
          <a:bodyPr wrap="square" lIns="0" tIns="0" rIns="0" bIns="0" rtlCol="0" anchor="t"/>
          <a:lstStyle/>
          <a:p>
            <a:pPr indent="0" marL="0">
              <a:buNone/>
            </a:pPr>
            <a:r>
              <a:rPr lang="en-US" sz="3000" b="1" dirty="0">
                <a:solidFill>
                  <a:srgbClr val="F3F2F8"/>
                </a:solidFill>
                <a:latin typeface="Manrope" pitchFamily="34" charset="0"/>
                <a:ea typeface="Manrope" pitchFamily="34" charset="-122"/>
                <a:cs typeface="Manrope" pitchFamily="34" charset="-120"/>
              </a:rPr>
              <a:t>−57</a:t>
            </a:r>
            <a:endParaRPr lang="en-US" sz="3000" dirty="0"/>
          </a:p>
        </p:txBody>
      </p:sp>
      <p:sp>
        <p:nvSpPr>
          <p:cNvPr id="32" name="Text 30"/>
          <p:cNvSpPr txBox="1"/>
          <p:nvPr/>
        </p:nvSpPr>
        <p:spPr>
          <a:xfrm>
            <a:off x="10317175" y="3557016"/>
            <a:ext cx="914400" cy="274320"/>
          </a:xfrm>
          <a:prstGeom prst="rect">
            <a:avLst/>
          </a:prstGeom>
          <a:noFill/>
          <a:ln/>
        </p:spPr>
        <p:txBody>
          <a:bodyPr wrap="square" lIns="0" tIns="0" rIns="0" bIns="0" rtlCol="0" anchor="t"/>
          <a:lstStyle/>
          <a:p>
            <a:pPr algn="r" indent="0" marL="0">
              <a:buNone/>
            </a:pPr>
            <a:r>
              <a:rPr lang="en-US" sz="1100" b="1" dirty="0">
                <a:solidFill>
                  <a:srgbClr val="AE99F0"/>
                </a:solidFill>
                <a:latin typeface="JetBrains Mono" pitchFamily="34" charset="0"/>
                <a:ea typeface="JetBrains Mono" pitchFamily="34" charset="-122"/>
                <a:cs typeface="JetBrains Mono" pitchFamily="34" charset="-120"/>
              </a:rPr>
              <a:t>NOW 0</a:t>
            </a:r>
            <a:endParaRPr lang="en-US" sz="1100" dirty="0"/>
          </a:p>
        </p:txBody>
      </p:sp>
      <p:sp>
        <p:nvSpPr>
          <p:cNvPr id="33" name="Text 31"/>
          <p:cNvSpPr txBox="1"/>
          <p:nvPr/>
        </p:nvSpPr>
        <p:spPr>
          <a:xfrm>
            <a:off x="7543800" y="3977640"/>
            <a:ext cx="3687775" cy="457200"/>
          </a:xfrm>
          <a:prstGeom prst="rect">
            <a:avLst/>
          </a:prstGeom>
          <a:noFill/>
          <a:ln/>
        </p:spPr>
        <p:txBody>
          <a:bodyPr wrap="square" lIns="0" tIns="0" rIns="0" bIns="0" rtlCol="0" anchor="t"/>
          <a:lstStyle/>
          <a:p>
            <a:pPr indent="0" marL="0">
              <a:lnSpc>
                <a:spcPct val="110000"/>
              </a:lnSpc>
              <a:buNone/>
            </a:pPr>
            <a:r>
              <a:rPr lang="en-US" sz="1150" dirty="0">
                <a:solidFill>
                  <a:srgbClr val="B3A6DC"/>
                </a:solidFill>
                <a:latin typeface="Inter" pitchFamily="34" charset="0"/>
                <a:ea typeface="Inter" pitchFamily="34" charset="-122"/>
                <a:cs typeface="Inter" pitchFamily="34" charset="-120"/>
              </a:rPr>
              <a:t>stock "reserved" after 20 concurrent releases of a hold of 3</a:t>
            </a:r>
            <a:endParaRPr lang="en-US" sz="1150" dirty="0"/>
          </a:p>
        </p:txBody>
      </p:sp>
      <p:sp>
        <p:nvSpPr>
          <p:cNvPr id="34" name="Text 32"/>
          <p:cNvSpPr txBox="1"/>
          <p:nvPr/>
        </p:nvSpPr>
        <p:spPr>
          <a:xfrm>
            <a:off x="7543800" y="4562856"/>
            <a:ext cx="2560320" cy="502920"/>
          </a:xfrm>
          <a:prstGeom prst="rect">
            <a:avLst/>
          </a:prstGeom>
          <a:noFill/>
          <a:ln/>
        </p:spPr>
        <p:txBody>
          <a:bodyPr wrap="square" lIns="0" tIns="0" rIns="0" bIns="0" rtlCol="0" anchor="t"/>
          <a:lstStyle/>
          <a:p>
            <a:pPr indent="0" marL="0">
              <a:buNone/>
            </a:pPr>
            <a:r>
              <a:rPr lang="en-US" sz="3000" b="1" dirty="0">
                <a:solidFill>
                  <a:srgbClr val="F3F2F8"/>
                </a:solidFill>
                <a:latin typeface="Manrope" pitchFamily="34" charset="0"/>
                <a:ea typeface="Manrope" pitchFamily="34" charset="-122"/>
                <a:cs typeface="Manrope" pitchFamily="34" charset="-120"/>
              </a:rPr>
              <a:t>6 rows</a:t>
            </a:r>
            <a:endParaRPr lang="en-US" sz="3000" dirty="0"/>
          </a:p>
        </p:txBody>
      </p:sp>
      <p:sp>
        <p:nvSpPr>
          <p:cNvPr id="35" name="Text 33"/>
          <p:cNvSpPr txBox="1"/>
          <p:nvPr/>
        </p:nvSpPr>
        <p:spPr>
          <a:xfrm>
            <a:off x="10317175" y="4672584"/>
            <a:ext cx="914400" cy="274320"/>
          </a:xfrm>
          <a:prstGeom prst="rect">
            <a:avLst/>
          </a:prstGeom>
          <a:noFill/>
          <a:ln/>
        </p:spPr>
        <p:txBody>
          <a:bodyPr wrap="square" lIns="0" tIns="0" rIns="0" bIns="0" rtlCol="0" anchor="t"/>
          <a:lstStyle/>
          <a:p>
            <a:pPr algn="r" indent="0" marL="0">
              <a:buNone/>
            </a:pPr>
            <a:r>
              <a:rPr lang="en-US" sz="1100" b="1" dirty="0">
                <a:solidFill>
                  <a:srgbClr val="AE99F0"/>
                </a:solidFill>
                <a:latin typeface="JetBrains Mono" pitchFamily="34" charset="0"/>
                <a:ea typeface="JetBrains Mono" pitchFamily="34" charset="-122"/>
                <a:cs typeface="JetBrains Mono" pitchFamily="34" charset="-120"/>
              </a:rPr>
              <a:t>NOW 1</a:t>
            </a:r>
            <a:endParaRPr lang="en-US" sz="1100" dirty="0"/>
          </a:p>
        </p:txBody>
      </p:sp>
      <p:sp>
        <p:nvSpPr>
          <p:cNvPr id="36" name="Text 34"/>
          <p:cNvSpPr txBox="1"/>
          <p:nvPr/>
        </p:nvSpPr>
        <p:spPr>
          <a:xfrm>
            <a:off x="7543800" y="5093208"/>
            <a:ext cx="3687775" cy="457200"/>
          </a:xfrm>
          <a:prstGeom prst="rect">
            <a:avLst/>
          </a:prstGeom>
          <a:noFill/>
          <a:ln/>
        </p:spPr>
        <p:txBody>
          <a:bodyPr wrap="square" lIns="0" tIns="0" rIns="0" bIns="0" rtlCol="0" anchor="t"/>
          <a:lstStyle/>
          <a:p>
            <a:pPr indent="0" marL="0">
              <a:lnSpc>
                <a:spcPct val="110000"/>
              </a:lnSpc>
              <a:buNone/>
            </a:pPr>
            <a:r>
              <a:rPr lang="en-US" sz="1150" dirty="0">
                <a:solidFill>
                  <a:srgbClr val="B3A6DC"/>
                </a:solidFill>
                <a:latin typeface="Inter" pitchFamily="34" charset="0"/>
                <a:ea typeface="Inter" pitchFamily="34" charset="-122"/>
                <a:cs typeface="Inter" pitchFamily="34" charset="-120"/>
              </a:rPr>
              <a:t>in payments after 6 retries of one charge</a:t>
            </a:r>
            <a:endParaRPr lang="en-US" sz="1150" dirty="0"/>
          </a:p>
        </p:txBody>
      </p:sp>
      <p:sp>
        <p:nvSpPr>
          <p:cNvPr id="37" name="Text 35"/>
          <p:cNvSpPr txBox="1"/>
          <p:nvPr/>
        </p:nvSpPr>
        <p:spPr>
          <a:xfrm>
            <a:off x="7543800" y="5623560"/>
            <a:ext cx="3687775" cy="320040"/>
          </a:xfrm>
          <a:prstGeom prst="rect">
            <a:avLst/>
          </a:prstGeom>
          <a:noFill/>
          <a:ln/>
        </p:spPr>
        <p:txBody>
          <a:bodyPr wrap="square" lIns="0" tIns="0" rIns="0" bIns="0" rtlCol="0" anchor="t"/>
          <a:lstStyle/>
          <a:p>
            <a:pPr indent="0" marL="0">
              <a:buNone/>
            </a:pPr>
            <a:r>
              <a:rPr lang="en-US" sz="1000" dirty="0">
                <a:solidFill>
                  <a:srgbClr val="B3A6DC"/>
                </a:solidFill>
                <a:latin typeface="Inter" pitchFamily="34" charset="0"/>
                <a:ea typeface="Inter" pitchFamily="34" charset="-122"/>
                <a:cs typeface="Inter" pitchFamily="34" charset="-120"/>
              </a:rPr>
              <a:t>Team fix-evidence log, 23 to 24 Sep, against a Postgres 16 test database.</a:t>
            </a:r>
            <a:endParaRPr lang="en-US" sz="10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III  ·  DECISION 1 OF 5</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SQS behind a transactional outbox</a:t>
            </a:r>
            <a:endParaRPr lang="en-US" sz="3000" dirty="0"/>
          </a:p>
        </p:txBody>
      </p:sp>
      <p:sp>
        <p:nvSpPr>
          <p:cNvPr id="4" name="Text 2"/>
          <p:cNvSpPr txBox="1"/>
          <p:nvPr/>
        </p:nvSpPr>
        <p:spPr>
          <a:xfrm>
            <a:off x="685800" y="1691640"/>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THE PROBLEM</a:t>
            </a:r>
            <a:endParaRPr lang="en-US" sz="1000" dirty="0"/>
          </a:p>
        </p:txBody>
      </p:sp>
      <p:sp>
        <p:nvSpPr>
          <p:cNvPr id="5" name="Text 3"/>
          <p:cNvSpPr txBox="1"/>
          <p:nvPr/>
        </p:nvSpPr>
        <p:spPr>
          <a:xfrm>
            <a:off x="685800" y="1920240"/>
            <a:ext cx="6309360" cy="777240"/>
          </a:xfrm>
          <a:prstGeom prst="rect">
            <a:avLst/>
          </a:prstGeom>
          <a:noFill/>
          <a:ln/>
        </p:spPr>
        <p:txBody>
          <a:bodyPr wrap="square" lIns="0" tIns="0" rIns="0" bIns="0" rtlCol="0" anchor="t"/>
          <a:lstStyle/>
          <a:p>
            <a:pPr indent="0" marL="0">
              <a:lnSpc>
                <a:spcPct val="112000"/>
              </a:lnSpc>
              <a:buNone/>
            </a:pPr>
            <a:r>
              <a:rPr lang="en-US" sz="1400" dirty="0">
                <a:solidFill>
                  <a:srgbClr val="242E46"/>
                </a:solidFill>
                <a:latin typeface="Inter" pitchFamily="34" charset="0"/>
                <a:ea typeface="Inter" pitchFamily="34" charset="-122"/>
                <a:cs typeface="Inter" pitchFamily="34" charset="-120"/>
              </a:rPr>
              <a:t>Saving an order (Postgres) and announcing it (SQS) are two systems. If the announcement is lost after the save, nothing ever reserves stock or takes payment.</a:t>
            </a:r>
            <a:endParaRPr lang="en-US" sz="1400" dirty="0"/>
          </a:p>
        </p:txBody>
      </p:sp>
      <p:sp>
        <p:nvSpPr>
          <p:cNvPr id="6" name="Shape 4"/>
          <p:cNvSpPr/>
          <p:nvPr/>
        </p:nvSpPr>
        <p:spPr>
          <a:xfrm>
            <a:off x="685800" y="2852928"/>
            <a:ext cx="1371600" cy="914400"/>
          </a:xfrm>
          <a:prstGeom prst="rect">
            <a:avLst/>
          </a:prstGeom>
          <a:solidFill>
            <a:srgbClr val="FBFAF7"/>
          </a:solidFill>
          <a:ln w="9525">
            <a:solidFill>
              <a:srgbClr val="C2C3C5"/>
            </a:solidFill>
            <a:prstDash val="solid"/>
          </a:ln>
        </p:spPr>
      </p:sp>
      <p:sp>
        <p:nvSpPr>
          <p:cNvPr id="7" name="Text 5"/>
          <p:cNvSpPr txBox="1"/>
          <p:nvPr/>
        </p:nvSpPr>
        <p:spPr>
          <a:xfrm>
            <a:off x="795528" y="2935224"/>
            <a:ext cx="115214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order-service</a:t>
            </a:r>
            <a:endParaRPr lang="en-US" sz="1100" dirty="0"/>
          </a:p>
        </p:txBody>
      </p:sp>
      <p:sp>
        <p:nvSpPr>
          <p:cNvPr id="8" name="Text 6"/>
          <p:cNvSpPr txBox="1"/>
          <p:nvPr/>
        </p:nvSpPr>
        <p:spPr>
          <a:xfrm>
            <a:off x="795528" y="3182112"/>
            <a:ext cx="1152144" cy="530352"/>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writes the order and its event</a:t>
            </a:r>
            <a:endParaRPr lang="en-US" sz="1000" dirty="0"/>
          </a:p>
        </p:txBody>
      </p:sp>
      <p:sp>
        <p:nvSpPr>
          <p:cNvPr id="9" name="Shape 7"/>
          <p:cNvSpPr/>
          <p:nvPr/>
        </p:nvSpPr>
        <p:spPr>
          <a:xfrm>
            <a:off x="2057400" y="3310128"/>
            <a:ext cx="274320" cy="0"/>
          </a:xfrm>
          <a:prstGeom prst="line">
            <a:avLst/>
          </a:prstGeom>
          <a:noFill/>
          <a:ln w="15875">
            <a:solidFill>
              <a:srgbClr val="4A5470"/>
            </a:solidFill>
            <a:prstDash val="solid"/>
            <a:tailEnd type="triangle"/>
          </a:ln>
        </p:spPr>
      </p:sp>
      <p:sp>
        <p:nvSpPr>
          <p:cNvPr id="10" name="Shape 8"/>
          <p:cNvSpPr/>
          <p:nvPr/>
        </p:nvSpPr>
        <p:spPr>
          <a:xfrm>
            <a:off x="2331720" y="2852928"/>
            <a:ext cx="1371600" cy="914400"/>
          </a:xfrm>
          <a:prstGeom prst="rect">
            <a:avLst/>
          </a:prstGeom>
          <a:solidFill>
            <a:srgbClr val="FBFAF7"/>
          </a:solidFill>
          <a:ln w="15875">
            <a:solidFill>
              <a:srgbClr val="6C00FF"/>
            </a:solidFill>
            <a:prstDash val="solid"/>
          </a:ln>
        </p:spPr>
      </p:sp>
      <p:sp>
        <p:nvSpPr>
          <p:cNvPr id="11" name="Text 9"/>
          <p:cNvSpPr txBox="1"/>
          <p:nvPr/>
        </p:nvSpPr>
        <p:spPr>
          <a:xfrm>
            <a:off x="2441448" y="2935224"/>
            <a:ext cx="115214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Postgres</a:t>
            </a:r>
            <a:endParaRPr lang="en-US" sz="1100" dirty="0"/>
          </a:p>
        </p:txBody>
      </p:sp>
      <p:sp>
        <p:nvSpPr>
          <p:cNvPr id="12" name="Text 10"/>
          <p:cNvSpPr txBox="1"/>
          <p:nvPr/>
        </p:nvSpPr>
        <p:spPr>
          <a:xfrm>
            <a:off x="2441448" y="3182112"/>
            <a:ext cx="1152144" cy="530352"/>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orders and order_outbox, one commit</a:t>
            </a:r>
            <a:endParaRPr lang="en-US" sz="1000" dirty="0"/>
          </a:p>
        </p:txBody>
      </p:sp>
      <p:sp>
        <p:nvSpPr>
          <p:cNvPr id="13" name="Shape 11"/>
          <p:cNvSpPr/>
          <p:nvPr/>
        </p:nvSpPr>
        <p:spPr>
          <a:xfrm>
            <a:off x="3703320" y="3310128"/>
            <a:ext cx="274320" cy="0"/>
          </a:xfrm>
          <a:prstGeom prst="line">
            <a:avLst/>
          </a:prstGeom>
          <a:noFill/>
          <a:ln w="15875">
            <a:solidFill>
              <a:srgbClr val="4A5470"/>
            </a:solidFill>
            <a:prstDash val="solid"/>
            <a:tailEnd type="triangle"/>
          </a:ln>
        </p:spPr>
      </p:sp>
      <p:sp>
        <p:nvSpPr>
          <p:cNvPr id="14" name="Shape 12"/>
          <p:cNvSpPr/>
          <p:nvPr/>
        </p:nvSpPr>
        <p:spPr>
          <a:xfrm>
            <a:off x="3977640" y="2852928"/>
            <a:ext cx="1371600" cy="914400"/>
          </a:xfrm>
          <a:prstGeom prst="rect">
            <a:avLst/>
          </a:prstGeom>
          <a:solidFill>
            <a:srgbClr val="FBFAF7"/>
          </a:solidFill>
          <a:ln w="9525">
            <a:solidFill>
              <a:srgbClr val="C2C3C5"/>
            </a:solidFill>
            <a:prstDash val="solid"/>
          </a:ln>
        </p:spPr>
      </p:sp>
      <p:sp>
        <p:nvSpPr>
          <p:cNvPr id="15" name="Text 13"/>
          <p:cNvSpPr txBox="1"/>
          <p:nvPr/>
        </p:nvSpPr>
        <p:spPr>
          <a:xfrm>
            <a:off x="4087368" y="2935224"/>
            <a:ext cx="115214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relay</a:t>
            </a:r>
            <a:endParaRPr lang="en-US" sz="1100" dirty="0"/>
          </a:p>
        </p:txBody>
      </p:sp>
      <p:sp>
        <p:nvSpPr>
          <p:cNvPr id="16" name="Text 14"/>
          <p:cNvSpPr txBox="1"/>
          <p:nvPr/>
        </p:nvSpPr>
        <p:spPr>
          <a:xfrm>
            <a:off x="4087368" y="3182112"/>
            <a:ext cx="1152144" cy="530352"/>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every 1 s, SKIP LOCKED</a:t>
            </a:r>
            <a:endParaRPr lang="en-US" sz="1000" dirty="0"/>
          </a:p>
        </p:txBody>
      </p:sp>
      <p:sp>
        <p:nvSpPr>
          <p:cNvPr id="17" name="Shape 15"/>
          <p:cNvSpPr/>
          <p:nvPr/>
        </p:nvSpPr>
        <p:spPr>
          <a:xfrm>
            <a:off x="5349240" y="3310128"/>
            <a:ext cx="274320" cy="0"/>
          </a:xfrm>
          <a:prstGeom prst="line">
            <a:avLst/>
          </a:prstGeom>
          <a:noFill/>
          <a:ln w="15875">
            <a:solidFill>
              <a:srgbClr val="4A5470"/>
            </a:solidFill>
            <a:prstDash val="solid"/>
            <a:tailEnd type="triangle"/>
          </a:ln>
        </p:spPr>
      </p:sp>
      <p:sp>
        <p:nvSpPr>
          <p:cNvPr id="18" name="Shape 16"/>
          <p:cNvSpPr/>
          <p:nvPr/>
        </p:nvSpPr>
        <p:spPr>
          <a:xfrm>
            <a:off x="5623560" y="2852928"/>
            <a:ext cx="1371600" cy="914400"/>
          </a:xfrm>
          <a:prstGeom prst="rect">
            <a:avLst/>
          </a:prstGeom>
          <a:solidFill>
            <a:srgbClr val="FBFAF7"/>
          </a:solidFill>
          <a:ln w="9525">
            <a:solidFill>
              <a:srgbClr val="C2C3C5"/>
            </a:solidFill>
            <a:prstDash val="solid"/>
          </a:ln>
        </p:spPr>
      </p:sp>
      <p:sp>
        <p:nvSpPr>
          <p:cNvPr id="19" name="Text 17"/>
          <p:cNvSpPr txBox="1"/>
          <p:nvPr/>
        </p:nvSpPr>
        <p:spPr>
          <a:xfrm>
            <a:off x="5733288" y="2935224"/>
            <a:ext cx="115214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SQS</a:t>
            </a:r>
            <a:endParaRPr lang="en-US" sz="1100" dirty="0"/>
          </a:p>
        </p:txBody>
      </p:sp>
      <p:sp>
        <p:nvSpPr>
          <p:cNvPr id="20" name="Text 18"/>
          <p:cNvSpPr txBox="1"/>
          <p:nvPr/>
        </p:nvSpPr>
        <p:spPr>
          <a:xfrm>
            <a:off x="5733288" y="3182112"/>
            <a:ext cx="1152144" cy="530352"/>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then the worker</a:t>
            </a:r>
            <a:endParaRPr lang="en-US" sz="1000" dirty="0"/>
          </a:p>
        </p:txBody>
      </p:sp>
      <p:sp>
        <p:nvSpPr>
          <p:cNvPr id="21" name="Shape 19"/>
          <p:cNvSpPr/>
          <p:nvPr/>
        </p:nvSpPr>
        <p:spPr>
          <a:xfrm>
            <a:off x="685800" y="3931920"/>
            <a:ext cx="6309360" cy="841248"/>
          </a:xfrm>
          <a:prstGeom prst="rect">
            <a:avLst/>
          </a:prstGeom>
          <a:solidFill>
            <a:srgbClr val="E8DCEF"/>
          </a:solidFill>
          <a:ln/>
        </p:spPr>
      </p:sp>
      <p:sp>
        <p:nvSpPr>
          <p:cNvPr id="22" name="Text 20"/>
          <p:cNvSpPr txBox="1"/>
          <p:nvPr/>
        </p:nvSpPr>
        <p:spPr>
          <a:xfrm>
            <a:off x="868680" y="3959352"/>
            <a:ext cx="5943600" cy="786384"/>
          </a:xfrm>
          <a:prstGeom prst="rect">
            <a:avLst/>
          </a:prstGeom>
          <a:noFill/>
          <a:ln/>
        </p:spPr>
        <p:txBody>
          <a:bodyPr wrap="square" lIns="0" tIns="0" rIns="0" bIns="0" rtlCol="0" anchor="ctr"/>
          <a:lstStyle/>
          <a:p>
            <a:pPr indent="0" marL="0">
              <a:lnSpc>
                <a:spcPct val="112000"/>
              </a:lnSpc>
              <a:buNone/>
            </a:pPr>
            <a:r>
              <a:rPr lang="en-US" sz="1250" b="1" dirty="0">
                <a:solidFill>
                  <a:srgbClr val="242E46"/>
                </a:solidFill>
                <a:latin typeface="Inter" pitchFamily="34" charset="0"/>
                <a:ea typeface="Inter" pitchFamily="34" charset="-122"/>
                <a:cs typeface="Inter" pitchFamily="34" charset="-120"/>
              </a:rPr>
              <a:t>The order and its event share one commit. </a:t>
            </a:r>
            <a:pPr indent="0" marL="0">
              <a:lnSpc>
                <a:spcPct val="112000"/>
              </a:lnSpc>
              <a:buNone/>
            </a:pPr>
            <a:r>
              <a:rPr lang="en-US" sz="1250" dirty="0">
                <a:solidFill>
                  <a:srgbClr val="242E46"/>
                </a:solidFill>
                <a:latin typeface="Inter" pitchFamily="34" charset="0"/>
                <a:ea typeface="Inter" pitchFamily="34" charset="-122"/>
                <a:cs typeface="Inter" pitchFamily="34" charset="-120"/>
              </a:rPr>
              <a:t>If SQS or the NAT path is down, the event row waits and the relay retries every second. Lost becomes late.</a:t>
            </a:r>
            <a:endParaRPr lang="en-US" sz="1250" dirty="0"/>
          </a:p>
        </p:txBody>
      </p:sp>
      <p:sp>
        <p:nvSpPr>
          <p:cNvPr id="23" name="Shape 21"/>
          <p:cNvSpPr/>
          <p:nvPr/>
        </p:nvSpPr>
        <p:spPr>
          <a:xfrm>
            <a:off x="7360920" y="1691640"/>
            <a:ext cx="4144975" cy="1874520"/>
          </a:xfrm>
          <a:prstGeom prst="rect">
            <a:avLst/>
          </a:prstGeom>
          <a:solidFill>
            <a:srgbClr val="E1ECE4"/>
          </a:solidFill>
          <a:ln/>
        </p:spPr>
      </p:sp>
      <p:sp>
        <p:nvSpPr>
          <p:cNvPr id="24" name="Text 22"/>
          <p:cNvSpPr txBox="1"/>
          <p:nvPr/>
        </p:nvSpPr>
        <p:spPr>
          <a:xfrm>
            <a:off x="7589520" y="1828800"/>
            <a:ext cx="3687775" cy="219456"/>
          </a:xfrm>
          <a:prstGeom prst="rect">
            <a:avLst/>
          </a:prstGeom>
          <a:noFill/>
          <a:ln/>
        </p:spPr>
        <p:txBody>
          <a:bodyPr wrap="square" lIns="0" tIns="0" rIns="0" bIns="0" rtlCol="0" anchor="t"/>
          <a:lstStyle/>
          <a:p>
            <a:pPr indent="0" marL="0">
              <a:buNone/>
            </a:pPr>
            <a:r>
              <a:rPr lang="en-US" sz="1050" b="1" spc="120" kern="0" dirty="0">
                <a:solidFill>
                  <a:srgbClr val="2A7152"/>
                </a:solidFill>
                <a:latin typeface="JetBrains Mono" pitchFamily="34" charset="0"/>
                <a:ea typeface="JetBrains Mono" pitchFamily="34" charset="-122"/>
                <a:cs typeface="JetBrains Mono" pitchFamily="34" charset="-120"/>
              </a:rPr>
              <a:t>WE GAINED</a:t>
            </a:r>
            <a:endParaRPr lang="en-US" sz="1050" dirty="0"/>
          </a:p>
        </p:txBody>
      </p:sp>
      <p:sp>
        <p:nvSpPr>
          <p:cNvPr id="25" name="Text 23"/>
          <p:cNvSpPr txBox="1"/>
          <p:nvPr/>
        </p:nvSpPr>
        <p:spPr>
          <a:xfrm>
            <a:off x="7589520" y="2103120"/>
            <a:ext cx="3733495" cy="137160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SQS outage: orders still accepted, events wait</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Retries, visibility timeout and DLQ built in</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Managed and near free at our volume</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The services were already written for SQS</a:t>
            </a:r>
            <a:endParaRPr lang="en-US" sz="1200" dirty="0"/>
          </a:p>
        </p:txBody>
      </p:sp>
      <p:sp>
        <p:nvSpPr>
          <p:cNvPr id="26" name="Shape 24"/>
          <p:cNvSpPr/>
          <p:nvPr/>
        </p:nvSpPr>
        <p:spPr>
          <a:xfrm>
            <a:off x="7360920" y="3703320"/>
            <a:ext cx="4144975" cy="1965960"/>
          </a:xfrm>
          <a:prstGeom prst="rect">
            <a:avLst/>
          </a:prstGeom>
          <a:solidFill>
            <a:srgbClr val="F4EAD3"/>
          </a:solidFill>
          <a:ln/>
        </p:spPr>
      </p:sp>
      <p:sp>
        <p:nvSpPr>
          <p:cNvPr id="27" name="Text 25"/>
          <p:cNvSpPr txBox="1"/>
          <p:nvPr/>
        </p:nvSpPr>
        <p:spPr>
          <a:xfrm>
            <a:off x="7589520" y="3840480"/>
            <a:ext cx="3687775" cy="219456"/>
          </a:xfrm>
          <a:prstGeom prst="rect">
            <a:avLst/>
          </a:prstGeom>
          <a:noFill/>
          <a:ln/>
        </p:spPr>
        <p:txBody>
          <a:bodyPr wrap="square" lIns="0" tIns="0" rIns="0" bIns="0" rtlCol="0" anchor="t"/>
          <a:lstStyle/>
          <a:p>
            <a:pPr indent="0" marL="0">
              <a:buNone/>
            </a:pPr>
            <a:r>
              <a:rPr lang="en-US" sz="1050" b="1" spc="120" kern="0" dirty="0">
                <a:solidFill>
                  <a:srgbClr val="8A5A00"/>
                </a:solidFill>
                <a:latin typeface="JetBrains Mono" pitchFamily="34" charset="0"/>
                <a:ea typeface="JetBrains Mono" pitchFamily="34" charset="-122"/>
                <a:cs typeface="JetBrains Mono" pitchFamily="34" charset="-120"/>
              </a:rPr>
              <a:t>WE GAVE UP</a:t>
            </a:r>
            <a:endParaRPr lang="en-US" sz="1050" dirty="0"/>
          </a:p>
        </p:txBody>
      </p:sp>
      <p:sp>
        <p:nvSpPr>
          <p:cNvPr id="28" name="Text 26"/>
          <p:cNvSpPr txBox="1"/>
          <p:nvPr/>
        </p:nvSpPr>
        <p:spPr>
          <a:xfrm>
            <a:off x="7589520" y="4114800"/>
            <a:ext cx="3733495" cy="146304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At-least-once: duplicates are possible, so every consumer step must be safe to repeat</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No ordering, no replay once a message is deleted</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Up to about 1 s extra before processing starts</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Payment and shipment events are not on an outbox yet</a:t>
            </a:r>
            <a:endParaRPr lang="en-US" sz="1200" dirty="0"/>
          </a:p>
        </p:txBody>
      </p:sp>
      <p:sp>
        <p:nvSpPr>
          <p:cNvPr id="29" name="Text 27"/>
          <p:cNvSpPr txBox="1"/>
          <p:nvPr/>
        </p:nvSpPr>
        <p:spPr>
          <a:xfrm>
            <a:off x="685800" y="4956048"/>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ALTERNATIVES WE WEIGHED</a:t>
            </a:r>
            <a:endParaRPr lang="en-US" sz="1000" dirty="0"/>
          </a:p>
        </p:txBody>
      </p:sp>
      <p:sp>
        <p:nvSpPr>
          <p:cNvPr id="30" name="Text 28"/>
          <p:cNvSpPr txBox="1"/>
          <p:nvPr/>
        </p:nvSpPr>
        <p:spPr>
          <a:xfrm>
            <a:off x="685800" y="5193792"/>
            <a:ext cx="6309360" cy="45720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Inter" pitchFamily="34" charset="0"/>
                <a:ea typeface="Inter" pitchFamily="34" charset="-122"/>
                <a:cs typeface="Inter" pitchFamily="34" charset="-120"/>
              </a:rPr>
              <a:t>Kafka on Strimzi: three brokers on volumes, producer rewrites. Publish after commit: a crash loses the event. SQS FIFO: ordering we do not need.</a:t>
            </a:r>
            <a:endParaRPr lang="en-US" sz="1150" dirty="0"/>
          </a:p>
        </p:txBody>
      </p:sp>
      <p:sp>
        <p:nvSpPr>
          <p:cNvPr id="31" name="Shape 29"/>
          <p:cNvSpPr/>
          <p:nvPr/>
        </p:nvSpPr>
        <p:spPr>
          <a:xfrm>
            <a:off x="685800" y="5760720"/>
            <a:ext cx="10820095" cy="0"/>
          </a:xfrm>
          <a:prstGeom prst="line">
            <a:avLst/>
          </a:prstGeom>
          <a:noFill/>
          <a:ln w="9525">
            <a:solidFill>
              <a:srgbClr val="DBDADA"/>
            </a:solidFill>
            <a:prstDash val="solid"/>
          </a:ln>
        </p:spPr>
      </p:sp>
      <p:sp>
        <p:nvSpPr>
          <p:cNvPr id="32" name="Text 30"/>
          <p:cNvSpPr txBox="1"/>
          <p:nvPr/>
        </p:nvSpPr>
        <p:spPr>
          <a:xfrm>
            <a:off x="685800" y="5833872"/>
            <a:ext cx="10820095" cy="384048"/>
          </a:xfrm>
          <a:prstGeom prst="rect">
            <a:avLst/>
          </a:prstGeom>
          <a:noFill/>
          <a:ln/>
        </p:spPr>
        <p:txBody>
          <a:bodyPr wrap="square" lIns="0" tIns="0" rIns="0" bIns="0" rtlCol="0" anchor="t"/>
          <a:lstStyle/>
          <a:p>
            <a:pPr indent="0" marL="0">
              <a:lnSpc>
                <a:spcPct val="105000"/>
              </a:lnSpc>
              <a:buNone/>
            </a:pPr>
            <a:r>
              <a:rPr lang="en-US" sz="1050" b="1" dirty="0">
                <a:solidFill>
                  <a:srgbClr val="5700D6"/>
                </a:solidFill>
                <a:latin typeface="JetBrains Mono" pitchFamily="34" charset="0"/>
                <a:ea typeface="JetBrains Mono" pitchFamily="34" charset="-122"/>
                <a:cs typeface="JetBrains Mono" pitchFamily="34" charset="-120"/>
              </a:rPr>
              <a:t>EVIDENCE  </a:t>
            </a:r>
            <a:pPr indent="0" marL="0">
              <a:lnSpc>
                <a:spcPct val="105000"/>
              </a:lnSpc>
              <a:buNone/>
            </a:pPr>
            <a:r>
              <a:rPr lang="en-US" sz="1050" dirty="0">
                <a:solidFill>
                  <a:srgbClr val="4A5470"/>
                </a:solidFill>
                <a:latin typeface="Inter" pitchFamily="34" charset="0"/>
                <a:ea typeface="Inter" pitchFamily="34" charset="-122"/>
                <a:cs typeface="Inter" pitchFamily="34" charset="-120"/>
              </a:rPr>
              <a:t>outbox_test.go (relay retry, shutdown mid-batch); local drill 24 Sep: payment stopped, 3 receives, DLQ, redrive, order processed.</a:t>
            </a:r>
            <a:endParaRPr lang="en-US" sz="10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III  ·  DECISION 2 OF 5</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Postgres in the cluster for dev, RDS beyond</a:t>
            </a:r>
            <a:endParaRPr lang="en-US" sz="3000" dirty="0"/>
          </a:p>
        </p:txBody>
      </p:sp>
      <p:sp>
        <p:nvSpPr>
          <p:cNvPr id="4" name="Text 2"/>
          <p:cNvSpPr txBox="1"/>
          <p:nvPr/>
        </p:nvSpPr>
        <p:spPr>
          <a:xfrm>
            <a:off x="685800" y="1691640"/>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THE PROBLEM</a:t>
            </a:r>
            <a:endParaRPr lang="en-US" sz="1000" dirty="0"/>
          </a:p>
        </p:txBody>
      </p:sp>
      <p:sp>
        <p:nvSpPr>
          <p:cNvPr id="5" name="Text 3"/>
          <p:cNvSpPr txBox="1"/>
          <p:nvPr/>
        </p:nvSpPr>
        <p:spPr>
          <a:xfrm>
            <a:off x="685800" y="1920240"/>
            <a:ext cx="6309360" cy="777240"/>
          </a:xfrm>
          <a:prstGeom prst="rect">
            <a:avLst/>
          </a:prstGeom>
          <a:noFill/>
          <a:ln/>
        </p:spPr>
        <p:txBody>
          <a:bodyPr wrap="square" lIns="0" tIns="0" rIns="0" bIns="0" rtlCol="0" anchor="t"/>
          <a:lstStyle/>
          <a:p>
            <a:pPr indent="0" marL="0">
              <a:lnSpc>
                <a:spcPct val="112000"/>
              </a:lnSpc>
              <a:buNone/>
            </a:pPr>
            <a:r>
              <a:rPr lang="en-US" sz="1400" dirty="0">
                <a:solidFill>
                  <a:srgbClr val="242E46"/>
                </a:solidFill>
                <a:latin typeface="Inter" pitchFamily="34" charset="0"/>
                <a:ea typeface="Inter" pitchFamily="34" charset="-122"/>
                <a:cs typeface="Inter" pitchFamily="34" charset="-120"/>
              </a:rPr>
              <a:t>An order, its stock hold, its payment and its outbox row commit together, so one relational database. The brief wants a StatefulSet; production wants failover and backups we would rather not hand-run.</a:t>
            </a:r>
            <a:endParaRPr lang="en-US" sz="1400" dirty="0"/>
          </a:p>
        </p:txBody>
      </p:sp>
      <p:sp>
        <p:nvSpPr>
          <p:cNvPr id="6" name="Shape 4"/>
          <p:cNvSpPr/>
          <p:nvPr/>
        </p:nvSpPr>
        <p:spPr>
          <a:xfrm>
            <a:off x="685800" y="2852928"/>
            <a:ext cx="2011680" cy="1920240"/>
          </a:xfrm>
          <a:prstGeom prst="rect">
            <a:avLst/>
          </a:prstGeom>
          <a:solidFill>
            <a:srgbClr val="FBFAF7"/>
          </a:solidFill>
          <a:ln w="9525">
            <a:solidFill>
              <a:srgbClr val="C2C3C5"/>
            </a:solidFill>
            <a:prstDash val="solid"/>
          </a:ln>
        </p:spPr>
      </p:sp>
      <p:sp>
        <p:nvSpPr>
          <p:cNvPr id="7" name="Text 5"/>
          <p:cNvSpPr txBox="1"/>
          <p:nvPr/>
        </p:nvSpPr>
        <p:spPr>
          <a:xfrm>
            <a:off x="850392" y="2990088"/>
            <a:ext cx="1737360" cy="219456"/>
          </a:xfrm>
          <a:prstGeom prst="rect">
            <a:avLst/>
          </a:prstGeom>
          <a:noFill/>
          <a:ln/>
        </p:spPr>
        <p:txBody>
          <a:bodyPr wrap="square" lIns="0" tIns="0" rIns="0" bIns="0" rtlCol="0" anchor="t"/>
          <a:lstStyle/>
          <a:p>
            <a:pPr indent="0" marL="0">
              <a:buNone/>
            </a:pPr>
            <a:r>
              <a:rPr lang="en-US" sz="1100" b="1" spc="120" kern="0" dirty="0">
                <a:solidFill>
                  <a:srgbClr val="5700D6"/>
                </a:solidFill>
                <a:latin typeface="JetBrains Mono" pitchFamily="34" charset="0"/>
                <a:ea typeface="JetBrains Mono" pitchFamily="34" charset="-122"/>
                <a:cs typeface="JetBrains Mono" pitchFamily="34" charset="-120"/>
              </a:rPr>
              <a:t>DEV</a:t>
            </a:r>
            <a:endParaRPr lang="en-US" sz="1100" dirty="0"/>
          </a:p>
        </p:txBody>
      </p:sp>
      <p:sp>
        <p:nvSpPr>
          <p:cNvPr id="8" name="Text 6"/>
          <p:cNvSpPr txBox="1"/>
          <p:nvPr/>
        </p:nvSpPr>
        <p:spPr>
          <a:xfrm>
            <a:off x="850392" y="3264408"/>
            <a:ext cx="1737360" cy="274320"/>
          </a:xfrm>
          <a:prstGeom prst="rect">
            <a:avLst/>
          </a:prstGeom>
          <a:noFill/>
          <a:ln/>
        </p:spPr>
        <p:txBody>
          <a:bodyPr wrap="square" lIns="0" tIns="0" rIns="0" bIns="0" rtlCol="0" anchor="t"/>
          <a:lstStyle/>
          <a:p>
            <a:pPr indent="0" marL="0">
              <a:buNone/>
            </a:pPr>
            <a:r>
              <a:rPr lang="en-US" sz="1200" b="1" dirty="0">
                <a:solidFill>
                  <a:srgbClr val="242E46"/>
                </a:solidFill>
                <a:latin typeface="Inter" pitchFamily="34" charset="0"/>
                <a:ea typeface="Inter" pitchFamily="34" charset="-122"/>
                <a:cs typeface="Inter" pitchFamily="34" charset="-120"/>
              </a:rPr>
              <a:t>StatefulSet postgres-0</a:t>
            </a:r>
            <a:endParaRPr lang="en-US" sz="1200" dirty="0"/>
          </a:p>
        </p:txBody>
      </p:sp>
      <p:sp>
        <p:nvSpPr>
          <p:cNvPr id="9" name="Text 7"/>
          <p:cNvSpPr txBox="1"/>
          <p:nvPr/>
        </p:nvSpPr>
        <p:spPr>
          <a:xfrm>
            <a:off x="850392" y="3584448"/>
            <a:ext cx="1737360" cy="91440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20 Gi encrypted gp3, daily EBS snapshot, 7 kept</a:t>
            </a:r>
            <a:endParaRPr lang="en-US" sz="1050" dirty="0"/>
          </a:p>
        </p:txBody>
      </p:sp>
      <p:sp>
        <p:nvSpPr>
          <p:cNvPr id="10" name="Text 8"/>
          <p:cNvSpPr txBox="1"/>
          <p:nvPr/>
        </p:nvSpPr>
        <p:spPr>
          <a:xfrm>
            <a:off x="850392" y="4453128"/>
            <a:ext cx="1737360" cy="219456"/>
          </a:xfrm>
          <a:prstGeom prst="rect">
            <a:avLst/>
          </a:prstGeom>
          <a:noFill/>
          <a:ln/>
        </p:spPr>
        <p:txBody>
          <a:bodyPr wrap="square" lIns="0" tIns="0" rIns="0" bIns="0" rtlCol="0" anchor="t"/>
          <a:lstStyle/>
          <a:p>
            <a:pPr indent="0" marL="0">
              <a:buNone/>
            </a:pPr>
            <a:r>
              <a:rPr lang="en-US" sz="950" b="1" spc="100" kern="0" dirty="0">
                <a:solidFill>
                  <a:srgbClr val="2A7152"/>
                </a:solidFill>
                <a:latin typeface="JetBrains Mono" pitchFamily="34" charset="0"/>
                <a:ea typeface="JetBrains Mono" pitchFamily="34" charset="-122"/>
                <a:cs typeface="JetBrains Mono" pitchFamily="34" charset="-120"/>
              </a:rPr>
              <a:t>RAN ON EKS</a:t>
            </a:r>
            <a:endParaRPr lang="en-US" sz="950" dirty="0"/>
          </a:p>
        </p:txBody>
      </p:sp>
      <p:sp>
        <p:nvSpPr>
          <p:cNvPr id="11" name="Shape 9"/>
          <p:cNvSpPr/>
          <p:nvPr/>
        </p:nvSpPr>
        <p:spPr>
          <a:xfrm>
            <a:off x="2834640" y="2852928"/>
            <a:ext cx="2011680" cy="1920240"/>
          </a:xfrm>
          <a:prstGeom prst="rect">
            <a:avLst/>
          </a:prstGeom>
          <a:solidFill>
            <a:srgbClr val="FBFAF7"/>
          </a:solidFill>
          <a:ln w="9525">
            <a:solidFill>
              <a:srgbClr val="C2C3C5"/>
            </a:solidFill>
            <a:prstDash val="solid"/>
          </a:ln>
        </p:spPr>
      </p:sp>
      <p:sp>
        <p:nvSpPr>
          <p:cNvPr id="12" name="Text 10"/>
          <p:cNvSpPr txBox="1"/>
          <p:nvPr/>
        </p:nvSpPr>
        <p:spPr>
          <a:xfrm>
            <a:off x="2999232" y="2990088"/>
            <a:ext cx="1737360" cy="219456"/>
          </a:xfrm>
          <a:prstGeom prst="rect">
            <a:avLst/>
          </a:prstGeom>
          <a:noFill/>
          <a:ln/>
        </p:spPr>
        <p:txBody>
          <a:bodyPr wrap="square" lIns="0" tIns="0" rIns="0" bIns="0" rtlCol="0" anchor="t"/>
          <a:lstStyle/>
          <a:p>
            <a:pPr indent="0" marL="0">
              <a:buNone/>
            </a:pPr>
            <a:r>
              <a:rPr lang="en-US" sz="1100" b="1" spc="120" kern="0" dirty="0">
                <a:solidFill>
                  <a:srgbClr val="5700D6"/>
                </a:solidFill>
                <a:latin typeface="JetBrains Mono" pitchFamily="34" charset="0"/>
                <a:ea typeface="JetBrains Mono" pitchFamily="34" charset="-122"/>
                <a:cs typeface="JetBrains Mono" pitchFamily="34" charset="-120"/>
              </a:rPr>
              <a:t>STAGING</a:t>
            </a:r>
            <a:endParaRPr lang="en-US" sz="1100" dirty="0"/>
          </a:p>
        </p:txBody>
      </p:sp>
      <p:sp>
        <p:nvSpPr>
          <p:cNvPr id="13" name="Text 11"/>
          <p:cNvSpPr txBox="1"/>
          <p:nvPr/>
        </p:nvSpPr>
        <p:spPr>
          <a:xfrm>
            <a:off x="2999232" y="3264408"/>
            <a:ext cx="1737360" cy="274320"/>
          </a:xfrm>
          <a:prstGeom prst="rect">
            <a:avLst/>
          </a:prstGeom>
          <a:noFill/>
          <a:ln/>
        </p:spPr>
        <p:txBody>
          <a:bodyPr wrap="square" lIns="0" tIns="0" rIns="0" bIns="0" rtlCol="0" anchor="t"/>
          <a:lstStyle/>
          <a:p>
            <a:pPr indent="0" marL="0">
              <a:buNone/>
            </a:pPr>
            <a:r>
              <a:rPr lang="en-US" sz="1200" b="1" dirty="0">
                <a:solidFill>
                  <a:srgbClr val="242E46"/>
                </a:solidFill>
                <a:latin typeface="Inter" pitchFamily="34" charset="0"/>
                <a:ea typeface="Inter" pitchFamily="34" charset="-122"/>
                <a:cs typeface="Inter" pitchFamily="34" charset="-120"/>
              </a:rPr>
              <a:t>RDS db.t4g.medium</a:t>
            </a:r>
            <a:endParaRPr lang="en-US" sz="1200" dirty="0"/>
          </a:p>
        </p:txBody>
      </p:sp>
      <p:sp>
        <p:nvSpPr>
          <p:cNvPr id="14" name="Text 12"/>
          <p:cNvSpPr txBox="1"/>
          <p:nvPr/>
        </p:nvSpPr>
        <p:spPr>
          <a:xfrm>
            <a:off x="2999232" y="3584448"/>
            <a:ext cx="1737360" cy="91440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single AZ, smaller and cheaper</a:t>
            </a:r>
            <a:endParaRPr lang="en-US" sz="1050" dirty="0"/>
          </a:p>
        </p:txBody>
      </p:sp>
      <p:sp>
        <p:nvSpPr>
          <p:cNvPr id="15" name="Text 13"/>
          <p:cNvSpPr txBox="1"/>
          <p:nvPr/>
        </p:nvSpPr>
        <p:spPr>
          <a:xfrm>
            <a:off x="2999232" y="4453128"/>
            <a:ext cx="1737360" cy="219456"/>
          </a:xfrm>
          <a:prstGeom prst="rect">
            <a:avLst/>
          </a:prstGeom>
          <a:noFill/>
          <a:ln/>
        </p:spPr>
        <p:txBody>
          <a:bodyPr wrap="square" lIns="0" tIns="0" rIns="0" bIns="0" rtlCol="0" anchor="t"/>
          <a:lstStyle/>
          <a:p>
            <a:pPr indent="0" marL="0">
              <a:buNone/>
            </a:pPr>
            <a:r>
              <a:rPr lang="en-US" sz="950" b="1" spc="100" kern="0" dirty="0">
                <a:solidFill>
                  <a:srgbClr val="8A5A00"/>
                </a:solidFill>
                <a:latin typeface="JetBrains Mono" pitchFamily="34" charset="0"/>
                <a:ea typeface="JetBrains Mono" pitchFamily="34" charset="-122"/>
                <a:cs typeface="JetBrains Mono" pitchFamily="34" charset="-120"/>
              </a:rPr>
              <a:t>IN CODE ONLY</a:t>
            </a:r>
            <a:endParaRPr lang="en-US" sz="950" dirty="0"/>
          </a:p>
        </p:txBody>
      </p:sp>
      <p:sp>
        <p:nvSpPr>
          <p:cNvPr id="16" name="Shape 14"/>
          <p:cNvSpPr/>
          <p:nvPr/>
        </p:nvSpPr>
        <p:spPr>
          <a:xfrm>
            <a:off x="4983480" y="2852928"/>
            <a:ext cx="2011680" cy="1920240"/>
          </a:xfrm>
          <a:prstGeom prst="rect">
            <a:avLst/>
          </a:prstGeom>
          <a:solidFill>
            <a:srgbClr val="FBFAF7"/>
          </a:solidFill>
          <a:ln w="9525">
            <a:solidFill>
              <a:srgbClr val="C2C3C5"/>
            </a:solidFill>
            <a:prstDash val="solid"/>
          </a:ln>
        </p:spPr>
      </p:sp>
      <p:sp>
        <p:nvSpPr>
          <p:cNvPr id="17" name="Text 15"/>
          <p:cNvSpPr txBox="1"/>
          <p:nvPr/>
        </p:nvSpPr>
        <p:spPr>
          <a:xfrm>
            <a:off x="5148072" y="2990088"/>
            <a:ext cx="1737360" cy="219456"/>
          </a:xfrm>
          <a:prstGeom prst="rect">
            <a:avLst/>
          </a:prstGeom>
          <a:noFill/>
          <a:ln/>
        </p:spPr>
        <p:txBody>
          <a:bodyPr wrap="square" lIns="0" tIns="0" rIns="0" bIns="0" rtlCol="0" anchor="t"/>
          <a:lstStyle/>
          <a:p>
            <a:pPr indent="0" marL="0">
              <a:buNone/>
            </a:pPr>
            <a:r>
              <a:rPr lang="en-US" sz="1100" b="1" spc="120" kern="0" dirty="0">
                <a:solidFill>
                  <a:srgbClr val="5700D6"/>
                </a:solidFill>
                <a:latin typeface="JetBrains Mono" pitchFamily="34" charset="0"/>
                <a:ea typeface="JetBrains Mono" pitchFamily="34" charset="-122"/>
                <a:cs typeface="JetBrains Mono" pitchFamily="34" charset="-120"/>
              </a:rPr>
              <a:t>PROD</a:t>
            </a:r>
            <a:endParaRPr lang="en-US" sz="1100" dirty="0"/>
          </a:p>
        </p:txBody>
      </p:sp>
      <p:sp>
        <p:nvSpPr>
          <p:cNvPr id="18" name="Text 16"/>
          <p:cNvSpPr txBox="1"/>
          <p:nvPr/>
        </p:nvSpPr>
        <p:spPr>
          <a:xfrm>
            <a:off x="5148072" y="3264408"/>
            <a:ext cx="1737360" cy="274320"/>
          </a:xfrm>
          <a:prstGeom prst="rect">
            <a:avLst/>
          </a:prstGeom>
          <a:noFill/>
          <a:ln/>
        </p:spPr>
        <p:txBody>
          <a:bodyPr wrap="square" lIns="0" tIns="0" rIns="0" bIns="0" rtlCol="0" anchor="t"/>
          <a:lstStyle/>
          <a:p>
            <a:pPr indent="0" marL="0">
              <a:buNone/>
            </a:pPr>
            <a:r>
              <a:rPr lang="en-US" sz="1200" b="1" dirty="0">
                <a:solidFill>
                  <a:srgbClr val="242E46"/>
                </a:solidFill>
                <a:latin typeface="Inter" pitchFamily="34" charset="0"/>
                <a:ea typeface="Inter" pitchFamily="34" charset="-122"/>
                <a:cs typeface="Inter" pitchFamily="34" charset="-120"/>
              </a:rPr>
              <a:t>RDS db.m7g.large</a:t>
            </a:r>
            <a:endParaRPr lang="en-US" sz="1200" dirty="0"/>
          </a:p>
        </p:txBody>
      </p:sp>
      <p:sp>
        <p:nvSpPr>
          <p:cNvPr id="19" name="Text 17"/>
          <p:cNvSpPr txBox="1"/>
          <p:nvPr/>
        </p:nvSpPr>
        <p:spPr>
          <a:xfrm>
            <a:off x="5148072" y="3584448"/>
            <a:ext cx="1737360" cy="91440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Multi-AZ. Terraform refuses prod without deletion protection and 7+ days of backups</a:t>
            </a:r>
            <a:endParaRPr lang="en-US" sz="1050" dirty="0"/>
          </a:p>
        </p:txBody>
      </p:sp>
      <p:sp>
        <p:nvSpPr>
          <p:cNvPr id="20" name="Text 18"/>
          <p:cNvSpPr txBox="1"/>
          <p:nvPr/>
        </p:nvSpPr>
        <p:spPr>
          <a:xfrm>
            <a:off x="5148072" y="4453128"/>
            <a:ext cx="1737360" cy="219456"/>
          </a:xfrm>
          <a:prstGeom prst="rect">
            <a:avLst/>
          </a:prstGeom>
          <a:noFill/>
          <a:ln/>
        </p:spPr>
        <p:txBody>
          <a:bodyPr wrap="square" lIns="0" tIns="0" rIns="0" bIns="0" rtlCol="0" anchor="t"/>
          <a:lstStyle/>
          <a:p>
            <a:pPr indent="0" marL="0">
              <a:buNone/>
            </a:pPr>
            <a:r>
              <a:rPr lang="en-US" sz="950" b="1" spc="100" kern="0" dirty="0">
                <a:solidFill>
                  <a:srgbClr val="8A5A00"/>
                </a:solidFill>
                <a:latin typeface="JetBrains Mono" pitchFamily="34" charset="0"/>
                <a:ea typeface="JetBrains Mono" pitchFamily="34" charset="-122"/>
                <a:cs typeface="JetBrains Mono" pitchFamily="34" charset="-120"/>
              </a:rPr>
              <a:t>IN CODE ONLY</a:t>
            </a:r>
            <a:endParaRPr lang="en-US" sz="950" dirty="0"/>
          </a:p>
        </p:txBody>
      </p:sp>
      <p:sp>
        <p:nvSpPr>
          <p:cNvPr id="21" name="Shape 19"/>
          <p:cNvSpPr/>
          <p:nvPr/>
        </p:nvSpPr>
        <p:spPr>
          <a:xfrm>
            <a:off x="7360920" y="1691640"/>
            <a:ext cx="4144975" cy="1874520"/>
          </a:xfrm>
          <a:prstGeom prst="rect">
            <a:avLst/>
          </a:prstGeom>
          <a:solidFill>
            <a:srgbClr val="E1ECE4"/>
          </a:solidFill>
          <a:ln/>
        </p:spPr>
      </p:sp>
      <p:sp>
        <p:nvSpPr>
          <p:cNvPr id="22" name="Text 20"/>
          <p:cNvSpPr txBox="1"/>
          <p:nvPr/>
        </p:nvSpPr>
        <p:spPr>
          <a:xfrm>
            <a:off x="7589520" y="1828800"/>
            <a:ext cx="3687775" cy="219456"/>
          </a:xfrm>
          <a:prstGeom prst="rect">
            <a:avLst/>
          </a:prstGeom>
          <a:noFill/>
          <a:ln/>
        </p:spPr>
        <p:txBody>
          <a:bodyPr wrap="square" lIns="0" tIns="0" rIns="0" bIns="0" rtlCol="0" anchor="t"/>
          <a:lstStyle/>
          <a:p>
            <a:pPr indent="0" marL="0">
              <a:buNone/>
            </a:pPr>
            <a:r>
              <a:rPr lang="en-US" sz="1050" b="1" spc="120" kern="0" dirty="0">
                <a:solidFill>
                  <a:srgbClr val="2A7152"/>
                </a:solidFill>
                <a:latin typeface="JetBrains Mono" pitchFamily="34" charset="0"/>
                <a:ea typeface="JetBrains Mono" pitchFamily="34" charset="-122"/>
                <a:cs typeface="JetBrains Mono" pitchFamily="34" charset="-120"/>
              </a:rPr>
              <a:t>WE GAINED</a:t>
            </a:r>
            <a:endParaRPr lang="en-US" sz="1050" dirty="0"/>
          </a:p>
        </p:txBody>
      </p:sp>
      <p:sp>
        <p:nvSpPr>
          <p:cNvPr id="23" name="Text 21"/>
          <p:cNvSpPr txBox="1"/>
          <p:nvPr/>
        </p:nvSpPr>
        <p:spPr>
          <a:xfrm>
            <a:off x="7589520" y="2103120"/>
            <a:ext cx="3733495" cy="137160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Dev meets the brief and costs only a volume</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Prod gets managed failover and point-in-time restore</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Services never know: External Secrets builds DATABASE_URL</a:t>
            </a:r>
            <a:endParaRPr lang="en-US" sz="1200" dirty="0"/>
          </a:p>
        </p:txBody>
      </p:sp>
      <p:sp>
        <p:nvSpPr>
          <p:cNvPr id="24" name="Shape 22"/>
          <p:cNvSpPr/>
          <p:nvPr/>
        </p:nvSpPr>
        <p:spPr>
          <a:xfrm>
            <a:off x="7360920" y="3703320"/>
            <a:ext cx="4144975" cy="1965960"/>
          </a:xfrm>
          <a:prstGeom prst="rect">
            <a:avLst/>
          </a:prstGeom>
          <a:solidFill>
            <a:srgbClr val="F4EAD3"/>
          </a:solidFill>
          <a:ln/>
        </p:spPr>
      </p:sp>
      <p:sp>
        <p:nvSpPr>
          <p:cNvPr id="25" name="Text 23"/>
          <p:cNvSpPr txBox="1"/>
          <p:nvPr/>
        </p:nvSpPr>
        <p:spPr>
          <a:xfrm>
            <a:off x="7589520" y="3840480"/>
            <a:ext cx="3687775" cy="219456"/>
          </a:xfrm>
          <a:prstGeom prst="rect">
            <a:avLst/>
          </a:prstGeom>
          <a:noFill/>
          <a:ln/>
        </p:spPr>
        <p:txBody>
          <a:bodyPr wrap="square" lIns="0" tIns="0" rIns="0" bIns="0" rtlCol="0" anchor="t"/>
          <a:lstStyle/>
          <a:p>
            <a:pPr indent="0" marL="0">
              <a:buNone/>
            </a:pPr>
            <a:r>
              <a:rPr lang="en-US" sz="1050" b="1" spc="120" kern="0" dirty="0">
                <a:solidFill>
                  <a:srgbClr val="8A5A00"/>
                </a:solidFill>
                <a:latin typeface="JetBrains Mono" pitchFamily="34" charset="0"/>
                <a:ea typeface="JetBrains Mono" pitchFamily="34" charset="-122"/>
                <a:cs typeface="JetBrains Mono" pitchFamily="34" charset="-120"/>
              </a:rPr>
              <a:t>WE GAVE UP</a:t>
            </a:r>
            <a:endParaRPr lang="en-US" sz="1050" dirty="0"/>
          </a:p>
        </p:txBody>
      </p:sp>
      <p:sp>
        <p:nvSpPr>
          <p:cNvPr id="26" name="Text 24"/>
          <p:cNvSpPr txBox="1"/>
          <p:nvPr/>
        </p:nvSpPr>
        <p:spPr>
          <a:xfrm>
            <a:off x="7589520" y="4114800"/>
            <a:ext cx="3733495" cy="146304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Dev Postgres is one pod on one AZ's disk: lose the AZ, writes stop until a restore</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Two database setups to understand</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RDS has never run live: staging and prod are not deployed</a:t>
            </a:r>
            <a:endParaRPr lang="en-US" sz="1200" dirty="0"/>
          </a:p>
        </p:txBody>
      </p:sp>
      <p:sp>
        <p:nvSpPr>
          <p:cNvPr id="27" name="Text 25"/>
          <p:cNvSpPr txBox="1"/>
          <p:nvPr/>
        </p:nvSpPr>
        <p:spPr>
          <a:xfrm>
            <a:off x="685800" y="4956048"/>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ALTERNATIVES WE WEIGHED</a:t>
            </a:r>
            <a:endParaRPr lang="en-US" sz="1000" dirty="0"/>
          </a:p>
        </p:txBody>
      </p:sp>
      <p:sp>
        <p:nvSpPr>
          <p:cNvPr id="28" name="Text 26"/>
          <p:cNvSpPr txBox="1"/>
          <p:nvPr/>
        </p:nvSpPr>
        <p:spPr>
          <a:xfrm>
            <a:off x="685800" y="5193792"/>
            <a:ext cx="6309360" cy="45720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Inter" pitchFamily="34" charset="0"/>
                <a:ea typeface="Inter" pitchFamily="34" charset="-122"/>
                <a:cs typeface="Inter" pitchFamily="34" charset="-120"/>
              </a:rPr>
              <a:t>StatefulSet everywhere: we own failover and backups. RDS everywhere: skips the StatefulSet the brief grades, costs while idle. CloudNativePG: one more operator.</a:t>
            </a:r>
            <a:endParaRPr lang="en-US" sz="1150" dirty="0"/>
          </a:p>
        </p:txBody>
      </p:sp>
      <p:sp>
        <p:nvSpPr>
          <p:cNvPr id="29" name="Shape 27"/>
          <p:cNvSpPr/>
          <p:nvPr/>
        </p:nvSpPr>
        <p:spPr>
          <a:xfrm>
            <a:off x="685800" y="5760720"/>
            <a:ext cx="10820095" cy="0"/>
          </a:xfrm>
          <a:prstGeom prst="line">
            <a:avLst/>
          </a:prstGeom>
          <a:noFill/>
          <a:ln w="9525">
            <a:solidFill>
              <a:srgbClr val="DBDADA"/>
            </a:solidFill>
            <a:prstDash val="solid"/>
          </a:ln>
        </p:spPr>
      </p:sp>
      <p:sp>
        <p:nvSpPr>
          <p:cNvPr id="30" name="Text 28"/>
          <p:cNvSpPr txBox="1"/>
          <p:nvPr/>
        </p:nvSpPr>
        <p:spPr>
          <a:xfrm>
            <a:off x="685800" y="5833872"/>
            <a:ext cx="10820095" cy="384048"/>
          </a:xfrm>
          <a:prstGeom prst="rect">
            <a:avLst/>
          </a:prstGeom>
          <a:noFill/>
          <a:ln/>
        </p:spPr>
        <p:txBody>
          <a:bodyPr wrap="square" lIns="0" tIns="0" rIns="0" bIns="0" rtlCol="0" anchor="t"/>
          <a:lstStyle/>
          <a:p>
            <a:pPr indent="0" marL="0">
              <a:lnSpc>
                <a:spcPct val="105000"/>
              </a:lnSpc>
              <a:buNone/>
            </a:pPr>
            <a:r>
              <a:rPr lang="en-US" sz="1050" b="1" dirty="0">
                <a:solidFill>
                  <a:srgbClr val="5700D6"/>
                </a:solidFill>
                <a:latin typeface="JetBrains Mono" pitchFamily="34" charset="0"/>
                <a:ea typeface="JetBrains Mono" pitchFamily="34" charset="-122"/>
                <a:cs typeface="JetBrains Mono" pitchFamily="34" charset="-120"/>
              </a:rPr>
              <a:t>EVIDENCE  </a:t>
            </a:r>
            <a:pPr indent="0" marL="0">
              <a:lnSpc>
                <a:spcPct val="105000"/>
              </a:lnSpc>
              <a:buNone/>
            </a:pPr>
            <a:r>
              <a:rPr lang="en-US" sz="1050" dirty="0">
                <a:solidFill>
                  <a:srgbClr val="4A5470"/>
                </a:solidFill>
                <a:latin typeface="Inter" pitchFamily="34" charset="0"/>
                <a:ea typeface="Inter" pitchFamily="34" charset="-122"/>
                <a:cs typeface="Inter" pitchFamily="34" charset="-120"/>
              </a:rPr>
              <a:t>dev StatefulSet and SnapScheduler (daily, keep 7) in Git and on EKS; snapshot class confirmed on dev 10 Oct. A restore with a data check is not recorded.</a:t>
            </a:r>
            <a:endParaRPr lang="en-US" sz="10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III  ·  DECISION 3 OF 5</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CI builds, Git decides, ArgoCD deploys</a:t>
            </a:r>
            <a:endParaRPr lang="en-US" sz="3000" dirty="0"/>
          </a:p>
        </p:txBody>
      </p:sp>
      <p:sp>
        <p:nvSpPr>
          <p:cNvPr id="4" name="Text 2"/>
          <p:cNvSpPr txBox="1"/>
          <p:nvPr/>
        </p:nvSpPr>
        <p:spPr>
          <a:xfrm>
            <a:off x="685800" y="1691640"/>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THE PROBLEM</a:t>
            </a:r>
            <a:endParaRPr lang="en-US" sz="1000" dirty="0"/>
          </a:p>
        </p:txBody>
      </p:sp>
      <p:sp>
        <p:nvSpPr>
          <p:cNvPr id="5" name="Text 3"/>
          <p:cNvSpPr txBox="1"/>
          <p:nvPr/>
        </p:nvSpPr>
        <p:spPr>
          <a:xfrm>
            <a:off x="685800" y="1920240"/>
            <a:ext cx="6309360" cy="777240"/>
          </a:xfrm>
          <a:prstGeom prst="rect">
            <a:avLst/>
          </a:prstGeom>
          <a:noFill/>
          <a:ln/>
        </p:spPr>
        <p:txBody>
          <a:bodyPr wrap="square" lIns="0" tIns="0" rIns="0" bIns="0" rtlCol="0" anchor="t"/>
          <a:lstStyle/>
          <a:p>
            <a:pPr indent="0" marL="0">
              <a:lnSpc>
                <a:spcPct val="112000"/>
              </a:lnSpc>
              <a:buNone/>
            </a:pPr>
            <a:r>
              <a:rPr lang="en-US" sz="1400" dirty="0">
                <a:solidFill>
                  <a:srgbClr val="242E46"/>
                </a:solidFill>
                <a:latin typeface="Inter" pitchFamily="34" charset="0"/>
                <a:ea typeface="Inter" pitchFamily="34" charset="-122"/>
                <a:cs typeface="Inter" pitchFamily="34" charset="-120"/>
              </a:rPr>
              <a:t>Nine services ship on their own schedules. A change to one must not redeploy or risk the other eight, and the pipeline should hold no keys to the cluster.</a:t>
            </a:r>
            <a:endParaRPr lang="en-US" sz="1400" dirty="0"/>
          </a:p>
        </p:txBody>
      </p:sp>
      <p:sp>
        <p:nvSpPr>
          <p:cNvPr id="6" name="Shape 4"/>
          <p:cNvSpPr/>
          <p:nvPr/>
        </p:nvSpPr>
        <p:spPr>
          <a:xfrm>
            <a:off x="685800" y="2880360"/>
            <a:ext cx="914400" cy="960120"/>
          </a:xfrm>
          <a:prstGeom prst="rect">
            <a:avLst/>
          </a:prstGeom>
          <a:solidFill>
            <a:srgbClr val="FBFAF7"/>
          </a:solidFill>
          <a:ln w="9525">
            <a:solidFill>
              <a:srgbClr val="C2C3C5"/>
            </a:solidFill>
            <a:prstDash val="solid"/>
          </a:ln>
        </p:spPr>
      </p:sp>
      <p:sp>
        <p:nvSpPr>
          <p:cNvPr id="7" name="Text 5"/>
          <p:cNvSpPr txBox="1"/>
          <p:nvPr/>
        </p:nvSpPr>
        <p:spPr>
          <a:xfrm>
            <a:off x="795528" y="2962656"/>
            <a:ext cx="694944" cy="237744"/>
          </a:xfrm>
          <a:prstGeom prst="rect">
            <a:avLst/>
          </a:prstGeom>
          <a:noFill/>
          <a:ln/>
        </p:spPr>
        <p:txBody>
          <a:bodyPr wrap="square" lIns="0" tIns="0" rIns="0" bIns="0" rtlCol="0" anchor="t"/>
          <a:lstStyle/>
          <a:p>
            <a:pPr indent="0" marL="0">
              <a:buNone/>
            </a:pPr>
            <a:r>
              <a:rPr lang="en-US" sz="1050" b="1" dirty="0">
                <a:solidFill>
                  <a:srgbClr val="242E46"/>
                </a:solidFill>
                <a:latin typeface="JetBrains Mono" pitchFamily="34" charset="0"/>
                <a:ea typeface="JetBrains Mono" pitchFamily="34" charset="-122"/>
                <a:cs typeface="JetBrains Mono" pitchFamily="34" charset="-120"/>
              </a:rPr>
              <a:t>commit</a:t>
            </a:r>
            <a:endParaRPr lang="en-US" sz="1050" dirty="0"/>
          </a:p>
        </p:txBody>
      </p:sp>
      <p:sp>
        <p:nvSpPr>
          <p:cNvPr id="8" name="Text 6"/>
          <p:cNvSpPr txBox="1"/>
          <p:nvPr/>
        </p:nvSpPr>
        <p:spPr>
          <a:xfrm>
            <a:off x="795528" y="3209544"/>
            <a:ext cx="694944" cy="576072"/>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Inter" pitchFamily="34" charset="0"/>
                <a:ea typeface="Inter" pitchFamily="34" charset="-122"/>
                <a:cs typeface="Inter" pitchFamily="34" charset="-120"/>
              </a:rPr>
              <a:t>one service</a:t>
            </a:r>
            <a:endParaRPr lang="en-US" sz="950" dirty="0"/>
          </a:p>
        </p:txBody>
      </p:sp>
      <p:sp>
        <p:nvSpPr>
          <p:cNvPr id="9" name="Shape 7"/>
          <p:cNvSpPr/>
          <p:nvPr/>
        </p:nvSpPr>
        <p:spPr>
          <a:xfrm>
            <a:off x="1600200" y="3355848"/>
            <a:ext cx="164592" cy="0"/>
          </a:xfrm>
          <a:prstGeom prst="line">
            <a:avLst/>
          </a:prstGeom>
          <a:noFill/>
          <a:ln w="15875">
            <a:solidFill>
              <a:srgbClr val="4A5470"/>
            </a:solidFill>
            <a:prstDash val="solid"/>
            <a:tailEnd type="triangle"/>
          </a:ln>
        </p:spPr>
      </p:sp>
      <p:sp>
        <p:nvSpPr>
          <p:cNvPr id="10" name="Shape 8"/>
          <p:cNvSpPr/>
          <p:nvPr/>
        </p:nvSpPr>
        <p:spPr>
          <a:xfrm>
            <a:off x="1764792" y="2880360"/>
            <a:ext cx="914400" cy="960120"/>
          </a:xfrm>
          <a:prstGeom prst="rect">
            <a:avLst/>
          </a:prstGeom>
          <a:solidFill>
            <a:srgbClr val="FBFAF7"/>
          </a:solidFill>
          <a:ln w="9525">
            <a:solidFill>
              <a:srgbClr val="C2C3C5"/>
            </a:solidFill>
            <a:prstDash val="solid"/>
          </a:ln>
        </p:spPr>
      </p:sp>
      <p:sp>
        <p:nvSpPr>
          <p:cNvPr id="11" name="Text 9"/>
          <p:cNvSpPr txBox="1"/>
          <p:nvPr/>
        </p:nvSpPr>
        <p:spPr>
          <a:xfrm>
            <a:off x="1874520" y="2962656"/>
            <a:ext cx="694944" cy="237744"/>
          </a:xfrm>
          <a:prstGeom prst="rect">
            <a:avLst/>
          </a:prstGeom>
          <a:noFill/>
          <a:ln/>
        </p:spPr>
        <p:txBody>
          <a:bodyPr wrap="square" lIns="0" tIns="0" rIns="0" bIns="0" rtlCol="0" anchor="t"/>
          <a:lstStyle/>
          <a:p>
            <a:pPr indent="0" marL="0">
              <a:buNone/>
            </a:pPr>
            <a:r>
              <a:rPr lang="en-US" sz="1050" b="1" dirty="0">
                <a:solidFill>
                  <a:srgbClr val="242E46"/>
                </a:solidFill>
                <a:latin typeface="JetBrains Mono" pitchFamily="34" charset="0"/>
                <a:ea typeface="JetBrains Mono" pitchFamily="34" charset="-122"/>
                <a:cs typeface="JetBrains Mono" pitchFamily="34" charset="-120"/>
              </a:rPr>
              <a:t>CI</a:t>
            </a:r>
            <a:endParaRPr lang="en-US" sz="1050" dirty="0"/>
          </a:p>
        </p:txBody>
      </p:sp>
      <p:sp>
        <p:nvSpPr>
          <p:cNvPr id="12" name="Text 10"/>
          <p:cNvSpPr txBox="1"/>
          <p:nvPr/>
        </p:nvSpPr>
        <p:spPr>
          <a:xfrm>
            <a:off x="1874520" y="3209544"/>
            <a:ext cx="694944" cy="576072"/>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Inter" pitchFamily="34" charset="0"/>
                <a:ea typeface="Inter" pitchFamily="34" charset="-122"/>
                <a:cs typeface="Inter" pitchFamily="34" charset="-120"/>
              </a:rPr>
              <a:t>vet, tests, build, Trivy</a:t>
            </a:r>
            <a:endParaRPr lang="en-US" sz="950" dirty="0"/>
          </a:p>
        </p:txBody>
      </p:sp>
      <p:sp>
        <p:nvSpPr>
          <p:cNvPr id="13" name="Shape 11"/>
          <p:cNvSpPr/>
          <p:nvPr/>
        </p:nvSpPr>
        <p:spPr>
          <a:xfrm>
            <a:off x="2679192" y="3355848"/>
            <a:ext cx="164592" cy="0"/>
          </a:xfrm>
          <a:prstGeom prst="line">
            <a:avLst/>
          </a:prstGeom>
          <a:noFill/>
          <a:ln w="15875">
            <a:solidFill>
              <a:srgbClr val="4A5470"/>
            </a:solidFill>
            <a:prstDash val="solid"/>
            <a:tailEnd type="triangle"/>
          </a:ln>
        </p:spPr>
      </p:sp>
      <p:sp>
        <p:nvSpPr>
          <p:cNvPr id="14" name="Shape 12"/>
          <p:cNvSpPr/>
          <p:nvPr/>
        </p:nvSpPr>
        <p:spPr>
          <a:xfrm>
            <a:off x="2843784" y="2880360"/>
            <a:ext cx="914400" cy="960120"/>
          </a:xfrm>
          <a:prstGeom prst="rect">
            <a:avLst/>
          </a:prstGeom>
          <a:solidFill>
            <a:srgbClr val="FBFAF7"/>
          </a:solidFill>
          <a:ln w="9525">
            <a:solidFill>
              <a:srgbClr val="C2C3C5"/>
            </a:solidFill>
            <a:prstDash val="solid"/>
          </a:ln>
        </p:spPr>
      </p:sp>
      <p:sp>
        <p:nvSpPr>
          <p:cNvPr id="15" name="Text 13"/>
          <p:cNvSpPr txBox="1"/>
          <p:nvPr/>
        </p:nvSpPr>
        <p:spPr>
          <a:xfrm>
            <a:off x="2953512" y="2962656"/>
            <a:ext cx="694944" cy="237744"/>
          </a:xfrm>
          <a:prstGeom prst="rect">
            <a:avLst/>
          </a:prstGeom>
          <a:noFill/>
          <a:ln/>
        </p:spPr>
        <p:txBody>
          <a:bodyPr wrap="square" lIns="0" tIns="0" rIns="0" bIns="0" rtlCol="0" anchor="t"/>
          <a:lstStyle/>
          <a:p>
            <a:pPr indent="0" marL="0">
              <a:buNone/>
            </a:pPr>
            <a:r>
              <a:rPr lang="en-US" sz="1050" b="1" dirty="0">
                <a:solidFill>
                  <a:srgbClr val="242E46"/>
                </a:solidFill>
                <a:latin typeface="JetBrains Mono" pitchFamily="34" charset="0"/>
                <a:ea typeface="JetBrains Mono" pitchFamily="34" charset="-122"/>
                <a:cs typeface="JetBrains Mono" pitchFamily="34" charset="-120"/>
              </a:rPr>
              <a:t>ECR</a:t>
            </a:r>
            <a:endParaRPr lang="en-US" sz="1050" dirty="0"/>
          </a:p>
        </p:txBody>
      </p:sp>
      <p:sp>
        <p:nvSpPr>
          <p:cNvPr id="16" name="Text 14"/>
          <p:cNvSpPr txBox="1"/>
          <p:nvPr/>
        </p:nvSpPr>
        <p:spPr>
          <a:xfrm>
            <a:off x="2953512" y="3209544"/>
            <a:ext cx="694944" cy="576072"/>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Inter" pitchFamily="34" charset="0"/>
                <a:ea typeface="Inter" pitchFamily="34" charset="-122"/>
                <a:cs typeface="Inter" pitchFamily="34" charset="-120"/>
              </a:rPr>
              <a:t>one image per commit</a:t>
            </a:r>
            <a:endParaRPr lang="en-US" sz="950" dirty="0"/>
          </a:p>
        </p:txBody>
      </p:sp>
      <p:sp>
        <p:nvSpPr>
          <p:cNvPr id="17" name="Shape 15"/>
          <p:cNvSpPr/>
          <p:nvPr/>
        </p:nvSpPr>
        <p:spPr>
          <a:xfrm>
            <a:off x="3758184" y="3355848"/>
            <a:ext cx="164592" cy="0"/>
          </a:xfrm>
          <a:prstGeom prst="line">
            <a:avLst/>
          </a:prstGeom>
          <a:noFill/>
          <a:ln w="15875">
            <a:solidFill>
              <a:srgbClr val="4A5470"/>
            </a:solidFill>
            <a:prstDash val="solid"/>
            <a:tailEnd type="triangle"/>
          </a:ln>
        </p:spPr>
      </p:sp>
      <p:sp>
        <p:nvSpPr>
          <p:cNvPr id="18" name="Shape 16"/>
          <p:cNvSpPr/>
          <p:nvPr/>
        </p:nvSpPr>
        <p:spPr>
          <a:xfrm>
            <a:off x="3922776" y="2880360"/>
            <a:ext cx="914400" cy="960120"/>
          </a:xfrm>
          <a:prstGeom prst="rect">
            <a:avLst/>
          </a:prstGeom>
          <a:solidFill>
            <a:srgbClr val="FBFAF7"/>
          </a:solidFill>
          <a:ln w="15875">
            <a:solidFill>
              <a:srgbClr val="6C00FF"/>
            </a:solidFill>
            <a:prstDash val="solid"/>
          </a:ln>
        </p:spPr>
      </p:sp>
      <p:sp>
        <p:nvSpPr>
          <p:cNvPr id="19" name="Text 17"/>
          <p:cNvSpPr txBox="1"/>
          <p:nvPr/>
        </p:nvSpPr>
        <p:spPr>
          <a:xfrm>
            <a:off x="4032504" y="2962656"/>
            <a:ext cx="694944" cy="237744"/>
          </a:xfrm>
          <a:prstGeom prst="rect">
            <a:avLst/>
          </a:prstGeom>
          <a:noFill/>
          <a:ln/>
        </p:spPr>
        <p:txBody>
          <a:bodyPr wrap="square" lIns="0" tIns="0" rIns="0" bIns="0" rtlCol="0" anchor="t"/>
          <a:lstStyle/>
          <a:p>
            <a:pPr indent="0" marL="0">
              <a:buNone/>
            </a:pPr>
            <a:r>
              <a:rPr lang="en-US" sz="1050" b="1" dirty="0">
                <a:solidFill>
                  <a:srgbClr val="242E46"/>
                </a:solidFill>
                <a:latin typeface="JetBrains Mono" pitchFamily="34" charset="0"/>
                <a:ea typeface="JetBrains Mono" pitchFamily="34" charset="-122"/>
                <a:cs typeface="JetBrains Mono" pitchFamily="34" charset="-120"/>
              </a:rPr>
              <a:t>Git</a:t>
            </a:r>
            <a:endParaRPr lang="en-US" sz="1050" dirty="0"/>
          </a:p>
        </p:txBody>
      </p:sp>
      <p:sp>
        <p:nvSpPr>
          <p:cNvPr id="20" name="Text 18"/>
          <p:cNvSpPr txBox="1"/>
          <p:nvPr/>
        </p:nvSpPr>
        <p:spPr>
          <a:xfrm>
            <a:off x="4032504" y="3209544"/>
            <a:ext cx="694944" cy="576072"/>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Inter" pitchFamily="34" charset="0"/>
                <a:ea typeface="Inter" pitchFamily="34" charset="-122"/>
                <a:cs typeface="Inter" pitchFamily="34" charset="-120"/>
              </a:rPr>
              <a:t>tag in dev values</a:t>
            </a:r>
            <a:endParaRPr lang="en-US" sz="950" dirty="0"/>
          </a:p>
        </p:txBody>
      </p:sp>
      <p:sp>
        <p:nvSpPr>
          <p:cNvPr id="21" name="Shape 19"/>
          <p:cNvSpPr/>
          <p:nvPr/>
        </p:nvSpPr>
        <p:spPr>
          <a:xfrm>
            <a:off x="4837176" y="3355848"/>
            <a:ext cx="164592" cy="0"/>
          </a:xfrm>
          <a:prstGeom prst="line">
            <a:avLst/>
          </a:prstGeom>
          <a:noFill/>
          <a:ln w="15875">
            <a:solidFill>
              <a:srgbClr val="4A5470"/>
            </a:solidFill>
            <a:prstDash val="solid"/>
            <a:tailEnd type="triangle"/>
          </a:ln>
        </p:spPr>
      </p:sp>
      <p:sp>
        <p:nvSpPr>
          <p:cNvPr id="22" name="Shape 20"/>
          <p:cNvSpPr/>
          <p:nvPr/>
        </p:nvSpPr>
        <p:spPr>
          <a:xfrm>
            <a:off x="5001768" y="2880360"/>
            <a:ext cx="914400" cy="960120"/>
          </a:xfrm>
          <a:prstGeom prst="rect">
            <a:avLst/>
          </a:prstGeom>
          <a:solidFill>
            <a:srgbClr val="FBFAF7"/>
          </a:solidFill>
          <a:ln w="9525">
            <a:solidFill>
              <a:srgbClr val="C2C3C5"/>
            </a:solidFill>
            <a:prstDash val="solid"/>
          </a:ln>
        </p:spPr>
      </p:sp>
      <p:sp>
        <p:nvSpPr>
          <p:cNvPr id="23" name="Text 21"/>
          <p:cNvSpPr txBox="1"/>
          <p:nvPr/>
        </p:nvSpPr>
        <p:spPr>
          <a:xfrm>
            <a:off x="5111496" y="2962656"/>
            <a:ext cx="694944" cy="237744"/>
          </a:xfrm>
          <a:prstGeom prst="rect">
            <a:avLst/>
          </a:prstGeom>
          <a:noFill/>
          <a:ln/>
        </p:spPr>
        <p:txBody>
          <a:bodyPr wrap="square" lIns="0" tIns="0" rIns="0" bIns="0" rtlCol="0" anchor="t"/>
          <a:lstStyle/>
          <a:p>
            <a:pPr indent="0" marL="0">
              <a:buNone/>
            </a:pPr>
            <a:r>
              <a:rPr lang="en-US" sz="1050" b="1" dirty="0">
                <a:solidFill>
                  <a:srgbClr val="242E46"/>
                </a:solidFill>
                <a:latin typeface="JetBrains Mono" pitchFamily="34" charset="0"/>
                <a:ea typeface="JetBrains Mono" pitchFamily="34" charset="-122"/>
                <a:cs typeface="JetBrains Mono" pitchFamily="34" charset="-120"/>
              </a:rPr>
              <a:t>ArgoCD</a:t>
            </a:r>
            <a:endParaRPr lang="en-US" sz="1050" dirty="0"/>
          </a:p>
        </p:txBody>
      </p:sp>
      <p:sp>
        <p:nvSpPr>
          <p:cNvPr id="24" name="Text 22"/>
          <p:cNvSpPr txBox="1"/>
          <p:nvPr/>
        </p:nvSpPr>
        <p:spPr>
          <a:xfrm>
            <a:off x="5111496" y="3209544"/>
            <a:ext cx="694944" cy="576072"/>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Inter" pitchFamily="34" charset="0"/>
                <a:ea typeface="Inter" pitchFamily="34" charset="-122"/>
                <a:cs typeface="Inter" pitchFamily="34" charset="-120"/>
              </a:rPr>
              <a:t>one app per service</a:t>
            </a:r>
            <a:endParaRPr lang="en-US" sz="950" dirty="0"/>
          </a:p>
        </p:txBody>
      </p:sp>
      <p:sp>
        <p:nvSpPr>
          <p:cNvPr id="25" name="Shape 23"/>
          <p:cNvSpPr/>
          <p:nvPr/>
        </p:nvSpPr>
        <p:spPr>
          <a:xfrm>
            <a:off x="5916168" y="3355848"/>
            <a:ext cx="164592" cy="0"/>
          </a:xfrm>
          <a:prstGeom prst="line">
            <a:avLst/>
          </a:prstGeom>
          <a:noFill/>
          <a:ln w="15875">
            <a:solidFill>
              <a:srgbClr val="4A5470"/>
            </a:solidFill>
            <a:prstDash val="solid"/>
            <a:tailEnd type="triangle"/>
          </a:ln>
        </p:spPr>
      </p:sp>
      <p:sp>
        <p:nvSpPr>
          <p:cNvPr id="26" name="Shape 24"/>
          <p:cNvSpPr/>
          <p:nvPr/>
        </p:nvSpPr>
        <p:spPr>
          <a:xfrm>
            <a:off x="6080760" y="2880360"/>
            <a:ext cx="914400" cy="960120"/>
          </a:xfrm>
          <a:prstGeom prst="rect">
            <a:avLst/>
          </a:prstGeom>
          <a:solidFill>
            <a:srgbClr val="FBFAF7"/>
          </a:solidFill>
          <a:ln w="9525">
            <a:solidFill>
              <a:srgbClr val="C2C3C5"/>
            </a:solidFill>
            <a:prstDash val="solid"/>
          </a:ln>
        </p:spPr>
      </p:sp>
      <p:sp>
        <p:nvSpPr>
          <p:cNvPr id="27" name="Text 25"/>
          <p:cNvSpPr txBox="1"/>
          <p:nvPr/>
        </p:nvSpPr>
        <p:spPr>
          <a:xfrm>
            <a:off x="6190488" y="2962656"/>
            <a:ext cx="694944" cy="237744"/>
          </a:xfrm>
          <a:prstGeom prst="rect">
            <a:avLst/>
          </a:prstGeom>
          <a:noFill/>
          <a:ln/>
        </p:spPr>
        <p:txBody>
          <a:bodyPr wrap="square" lIns="0" tIns="0" rIns="0" bIns="0" rtlCol="0" anchor="t"/>
          <a:lstStyle/>
          <a:p>
            <a:pPr indent="0" marL="0">
              <a:buNone/>
            </a:pPr>
            <a:r>
              <a:rPr lang="en-US" sz="1050" b="1" dirty="0">
                <a:solidFill>
                  <a:srgbClr val="242E46"/>
                </a:solidFill>
                <a:latin typeface="JetBrains Mono" pitchFamily="34" charset="0"/>
                <a:ea typeface="JetBrains Mono" pitchFamily="34" charset="-122"/>
                <a:cs typeface="JetBrains Mono" pitchFamily="34" charset="-120"/>
              </a:rPr>
              <a:t>canary</a:t>
            </a:r>
            <a:endParaRPr lang="en-US" sz="1050" dirty="0"/>
          </a:p>
        </p:txBody>
      </p:sp>
      <p:sp>
        <p:nvSpPr>
          <p:cNvPr id="28" name="Text 26"/>
          <p:cNvSpPr txBox="1"/>
          <p:nvPr/>
        </p:nvSpPr>
        <p:spPr>
          <a:xfrm>
            <a:off x="6190488" y="3209544"/>
            <a:ext cx="694944" cy="576072"/>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Inter" pitchFamily="34" charset="0"/>
                <a:ea typeface="Inter" pitchFamily="34" charset="-122"/>
                <a:cs typeface="Inter" pitchFamily="34" charset="-120"/>
              </a:rPr>
              <a:t>50%, check, 100%</a:t>
            </a:r>
            <a:endParaRPr lang="en-US" sz="950" dirty="0"/>
          </a:p>
        </p:txBody>
      </p:sp>
      <p:sp>
        <p:nvSpPr>
          <p:cNvPr id="29" name="Text 27"/>
          <p:cNvSpPr txBox="1"/>
          <p:nvPr/>
        </p:nvSpPr>
        <p:spPr>
          <a:xfrm>
            <a:off x="685800" y="4041648"/>
            <a:ext cx="6309360" cy="685800"/>
          </a:xfrm>
          <a:prstGeom prst="rect">
            <a:avLst/>
          </a:prstGeom>
          <a:noFill/>
          <a:ln/>
        </p:spPr>
        <p:txBody>
          <a:bodyPr wrap="square" lIns="0" tIns="0" rIns="0" bIns="0" rtlCol="0" anchor="t"/>
          <a:lstStyle/>
          <a:p>
            <a:pPr indent="0" marL="0">
              <a:lnSpc>
                <a:spcPct val="112000"/>
              </a:lnSpc>
              <a:buNone/>
            </a:pPr>
            <a:r>
              <a:rPr lang="en-US" sz="1200" dirty="0">
                <a:solidFill>
                  <a:srgbClr val="4A5470"/>
                </a:solidFill>
                <a:latin typeface="Inter" pitchFamily="34" charset="0"/>
                <a:ea typeface="Inter" pitchFamily="34" charset="-122"/>
                <a:cs typeface="Inter" pitchFamily="34" charset="-120"/>
              </a:rPr>
              <a:t>Prod never auto-syncs: promotion copies a tested tag dev to staging to prod by pull request, and someone syncs prod in ArgoCD.</a:t>
            </a:r>
            <a:endParaRPr lang="en-US" sz="1200" dirty="0"/>
          </a:p>
        </p:txBody>
      </p:sp>
      <p:sp>
        <p:nvSpPr>
          <p:cNvPr id="30" name="Shape 28"/>
          <p:cNvSpPr/>
          <p:nvPr/>
        </p:nvSpPr>
        <p:spPr>
          <a:xfrm>
            <a:off x="7360920" y="1691640"/>
            <a:ext cx="4144975" cy="1874520"/>
          </a:xfrm>
          <a:prstGeom prst="rect">
            <a:avLst/>
          </a:prstGeom>
          <a:solidFill>
            <a:srgbClr val="E1ECE4"/>
          </a:solidFill>
          <a:ln/>
        </p:spPr>
      </p:sp>
      <p:sp>
        <p:nvSpPr>
          <p:cNvPr id="31" name="Text 29"/>
          <p:cNvSpPr txBox="1"/>
          <p:nvPr/>
        </p:nvSpPr>
        <p:spPr>
          <a:xfrm>
            <a:off x="7589520" y="1828800"/>
            <a:ext cx="3687775" cy="219456"/>
          </a:xfrm>
          <a:prstGeom prst="rect">
            <a:avLst/>
          </a:prstGeom>
          <a:noFill/>
          <a:ln/>
        </p:spPr>
        <p:txBody>
          <a:bodyPr wrap="square" lIns="0" tIns="0" rIns="0" bIns="0" rtlCol="0" anchor="t"/>
          <a:lstStyle/>
          <a:p>
            <a:pPr indent="0" marL="0">
              <a:buNone/>
            </a:pPr>
            <a:r>
              <a:rPr lang="en-US" sz="1050" b="1" spc="120" kern="0" dirty="0">
                <a:solidFill>
                  <a:srgbClr val="2A7152"/>
                </a:solidFill>
                <a:latin typeface="JetBrains Mono" pitchFamily="34" charset="0"/>
                <a:ea typeface="JetBrains Mono" pitchFamily="34" charset="-122"/>
                <a:cs typeface="JetBrains Mono" pitchFamily="34" charset="-120"/>
              </a:rPr>
              <a:t>WE GAINED</a:t>
            </a:r>
            <a:endParaRPr lang="en-US" sz="1050" dirty="0"/>
          </a:p>
        </p:txBody>
      </p:sp>
      <p:sp>
        <p:nvSpPr>
          <p:cNvPr id="32" name="Text 30"/>
          <p:cNvSpPr txBox="1"/>
          <p:nvPr/>
        </p:nvSpPr>
        <p:spPr>
          <a:xfrm>
            <a:off x="7589520" y="2103120"/>
            <a:ext cx="3733495" cy="137160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Rollback is one revert, for one service</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CI has no cluster credentials at all</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ArgoCD reverts hand edits (self-heal)</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Only changed services are built</a:t>
            </a:r>
            <a:endParaRPr lang="en-US" sz="1200" dirty="0"/>
          </a:p>
        </p:txBody>
      </p:sp>
      <p:sp>
        <p:nvSpPr>
          <p:cNvPr id="33" name="Shape 31"/>
          <p:cNvSpPr/>
          <p:nvPr/>
        </p:nvSpPr>
        <p:spPr>
          <a:xfrm>
            <a:off x="7360920" y="3703320"/>
            <a:ext cx="4144975" cy="1965960"/>
          </a:xfrm>
          <a:prstGeom prst="rect">
            <a:avLst/>
          </a:prstGeom>
          <a:solidFill>
            <a:srgbClr val="F4EAD3"/>
          </a:solidFill>
          <a:ln/>
        </p:spPr>
      </p:sp>
      <p:sp>
        <p:nvSpPr>
          <p:cNvPr id="34" name="Text 32"/>
          <p:cNvSpPr txBox="1"/>
          <p:nvPr/>
        </p:nvSpPr>
        <p:spPr>
          <a:xfrm>
            <a:off x="7589520" y="3840480"/>
            <a:ext cx="3687775" cy="219456"/>
          </a:xfrm>
          <a:prstGeom prst="rect">
            <a:avLst/>
          </a:prstGeom>
          <a:noFill/>
          <a:ln/>
        </p:spPr>
        <p:txBody>
          <a:bodyPr wrap="square" lIns="0" tIns="0" rIns="0" bIns="0" rtlCol="0" anchor="t"/>
          <a:lstStyle/>
          <a:p>
            <a:pPr indent="0" marL="0">
              <a:buNone/>
            </a:pPr>
            <a:r>
              <a:rPr lang="en-US" sz="1050" b="1" spc="120" kern="0" dirty="0">
                <a:solidFill>
                  <a:srgbClr val="8A5A00"/>
                </a:solidFill>
                <a:latin typeface="JetBrains Mono" pitchFamily="34" charset="0"/>
                <a:ea typeface="JetBrains Mono" pitchFamily="34" charset="-122"/>
                <a:cs typeface="JetBrains Mono" pitchFamily="34" charset="-120"/>
              </a:rPr>
              <a:t>WE GAVE UP</a:t>
            </a:r>
            <a:endParaRPr lang="en-US" sz="1050" dirty="0"/>
          </a:p>
        </p:txBody>
      </p:sp>
      <p:sp>
        <p:nvSpPr>
          <p:cNvPr id="35" name="Text 33"/>
          <p:cNvSpPr txBox="1"/>
          <p:nvPr/>
        </p:nvSpPr>
        <p:spPr>
          <a:xfrm>
            <a:off x="7589520" y="4114800"/>
            <a:ext cx="3733495" cy="146304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A deploy waits for ArgoCD to notice the commit</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A bot must be allowed to write to main</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One chart bug reaches all nine (schema and kubeconform guard it)</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Canary analysis passes when there is no traffic</a:t>
            </a:r>
            <a:endParaRPr lang="en-US" sz="1200" dirty="0"/>
          </a:p>
        </p:txBody>
      </p:sp>
      <p:sp>
        <p:nvSpPr>
          <p:cNvPr id="36" name="Text 34"/>
          <p:cNvSpPr txBox="1"/>
          <p:nvPr/>
        </p:nvSpPr>
        <p:spPr>
          <a:xfrm>
            <a:off x="685800" y="4956048"/>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ALTERNATIVES WE WEIGHED</a:t>
            </a:r>
            <a:endParaRPr lang="en-US" sz="1000" dirty="0"/>
          </a:p>
        </p:txBody>
      </p:sp>
      <p:sp>
        <p:nvSpPr>
          <p:cNvPr id="37" name="Text 35"/>
          <p:cNvSpPr txBox="1"/>
          <p:nvPr/>
        </p:nvSpPr>
        <p:spPr>
          <a:xfrm>
            <a:off x="685800" y="5193792"/>
            <a:ext cx="6309360" cy="45720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Inter" pitchFamily="34" charset="0"/>
                <a:ea typeface="Inter" pitchFamily="34" charset="-122"/>
                <a:cs typeface="Inter" pitchFamily="34" charset="-120"/>
              </a:rPr>
              <a:t>CI runs helm upgrade: cluster keys in CI. Flux: equally valid, the team knew ArgoCD. Kustomize overlays: simpler patches, logic copied nine times.</a:t>
            </a:r>
            <a:endParaRPr lang="en-US" sz="1150" dirty="0"/>
          </a:p>
        </p:txBody>
      </p:sp>
      <p:sp>
        <p:nvSpPr>
          <p:cNvPr id="38" name="Shape 36"/>
          <p:cNvSpPr/>
          <p:nvPr/>
        </p:nvSpPr>
        <p:spPr>
          <a:xfrm>
            <a:off x="685800" y="5760720"/>
            <a:ext cx="10820095" cy="0"/>
          </a:xfrm>
          <a:prstGeom prst="line">
            <a:avLst/>
          </a:prstGeom>
          <a:noFill/>
          <a:ln w="9525">
            <a:solidFill>
              <a:srgbClr val="DBDADA"/>
            </a:solidFill>
            <a:prstDash val="solid"/>
          </a:ln>
        </p:spPr>
      </p:sp>
      <p:sp>
        <p:nvSpPr>
          <p:cNvPr id="39" name="Text 37"/>
          <p:cNvSpPr txBox="1"/>
          <p:nvPr/>
        </p:nvSpPr>
        <p:spPr>
          <a:xfrm>
            <a:off x="685800" y="5833872"/>
            <a:ext cx="10820095" cy="384048"/>
          </a:xfrm>
          <a:prstGeom prst="rect">
            <a:avLst/>
          </a:prstGeom>
          <a:noFill/>
          <a:ln/>
        </p:spPr>
        <p:txBody>
          <a:bodyPr wrap="square" lIns="0" tIns="0" rIns="0" bIns="0" rtlCol="0" anchor="t"/>
          <a:lstStyle/>
          <a:p>
            <a:pPr indent="0" marL="0">
              <a:lnSpc>
                <a:spcPct val="105000"/>
              </a:lnSpc>
              <a:buNone/>
            </a:pPr>
            <a:r>
              <a:rPr lang="en-US" sz="1050" b="1" dirty="0">
                <a:solidFill>
                  <a:srgbClr val="5700D6"/>
                </a:solidFill>
                <a:latin typeface="JetBrains Mono" pitchFamily="34" charset="0"/>
                <a:ea typeface="JetBrains Mono" pitchFamily="34" charset="-122"/>
                <a:cs typeface="JetBrains Mono" pitchFamily="34" charset="-120"/>
              </a:rPr>
              <a:t>EVIDENCE  </a:t>
            </a:r>
            <a:pPr indent="0" marL="0">
              <a:lnSpc>
                <a:spcPct val="105000"/>
              </a:lnSpc>
              <a:buNone/>
            </a:pPr>
            <a:r>
              <a:rPr lang="en-US" sz="1050" dirty="0">
                <a:solidFill>
                  <a:srgbClr val="4A5470"/>
                </a:solidFill>
                <a:latin typeface="Inter" pitchFamily="34" charset="0"/>
                <a:ea typeface="Inter" pitchFamily="34" charset="-122"/>
                <a:cs typeface="Inter" pitchFamily="34" charset="-120"/>
              </a:rPr>
              <a:t>smoke test on EKS dev, 8 Oct: 8 failures before the hardening deploy, all steps passing after. Zero downtime is not proven (slide 18).</a:t>
            </a:r>
            <a:endParaRPr lang="en-US" sz="10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III  ·  DECISION 4 OF 5</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One NAT gateway, on purpose</a:t>
            </a:r>
            <a:endParaRPr lang="en-US" sz="3000" dirty="0"/>
          </a:p>
        </p:txBody>
      </p:sp>
      <p:sp>
        <p:nvSpPr>
          <p:cNvPr id="4" name="Text 2"/>
          <p:cNvSpPr txBox="1"/>
          <p:nvPr/>
        </p:nvSpPr>
        <p:spPr>
          <a:xfrm>
            <a:off x="685800" y="1691640"/>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THE PROBLEM</a:t>
            </a:r>
            <a:endParaRPr lang="en-US" sz="1000" dirty="0"/>
          </a:p>
        </p:txBody>
      </p:sp>
      <p:sp>
        <p:nvSpPr>
          <p:cNvPr id="5" name="Text 3"/>
          <p:cNvSpPr txBox="1"/>
          <p:nvPr/>
        </p:nvSpPr>
        <p:spPr>
          <a:xfrm>
            <a:off x="685800" y="1920240"/>
            <a:ext cx="6309360" cy="777240"/>
          </a:xfrm>
          <a:prstGeom prst="rect">
            <a:avLst/>
          </a:prstGeom>
          <a:noFill/>
          <a:ln/>
        </p:spPr>
        <p:txBody>
          <a:bodyPr wrap="square" lIns="0" tIns="0" rIns="0" bIns="0" rtlCol="0" anchor="t"/>
          <a:lstStyle/>
          <a:p>
            <a:pPr indent="0" marL="0">
              <a:lnSpc>
                <a:spcPct val="112000"/>
              </a:lnSpc>
              <a:buNone/>
            </a:pPr>
            <a:r>
              <a:rPr lang="en-US" sz="1400" dirty="0">
                <a:solidFill>
                  <a:srgbClr val="242E46"/>
                </a:solidFill>
                <a:latin typeface="Inter" pitchFamily="34" charset="0"/>
                <a:ea typeface="Inter" pitchFamily="34" charset="-122"/>
                <a:cs typeface="Inter" pitchFamily="34" charset="-120"/>
              </a:rPr>
              <a:t>Private nodes must reach the internet: GitHub for ArgoCD, Let's Encrypt for certificates, public image registries, and AWS APIs for the pods. The brief says avoid NAT if you can.</a:t>
            </a:r>
            <a:endParaRPr lang="en-US" sz="1400" dirty="0"/>
          </a:p>
        </p:txBody>
      </p:sp>
      <p:sp>
        <p:nvSpPr>
          <p:cNvPr id="6" name="Shape 4"/>
          <p:cNvSpPr/>
          <p:nvPr/>
        </p:nvSpPr>
        <p:spPr>
          <a:xfrm>
            <a:off x="685800" y="2852928"/>
            <a:ext cx="1600200" cy="411480"/>
          </a:xfrm>
          <a:prstGeom prst="rect">
            <a:avLst/>
          </a:prstGeom>
          <a:solidFill>
            <a:srgbClr val="FBFAF7"/>
          </a:solidFill>
          <a:ln w="9525">
            <a:solidFill>
              <a:srgbClr val="C2C3C5"/>
            </a:solidFill>
            <a:prstDash val="solid"/>
          </a:ln>
        </p:spPr>
      </p:sp>
      <p:sp>
        <p:nvSpPr>
          <p:cNvPr id="7" name="Text 5"/>
          <p:cNvSpPr txBox="1"/>
          <p:nvPr/>
        </p:nvSpPr>
        <p:spPr>
          <a:xfrm>
            <a:off x="795528" y="2852928"/>
            <a:ext cx="1463040" cy="411480"/>
          </a:xfrm>
          <a:prstGeom prst="rect">
            <a:avLst/>
          </a:prstGeom>
          <a:noFill/>
          <a:ln/>
        </p:spPr>
        <p:txBody>
          <a:bodyPr wrap="square" lIns="0" tIns="0" rIns="0" bIns="0" rtlCol="0" anchor="ctr"/>
          <a:lstStyle/>
          <a:p>
            <a:pPr indent="0" marL="0">
              <a:buNone/>
            </a:pPr>
            <a:r>
              <a:rPr lang="en-US" sz="950" b="1" dirty="0">
                <a:solidFill>
                  <a:srgbClr val="242E46"/>
                </a:solidFill>
                <a:latin typeface="JetBrains Mono" pitchFamily="34" charset="0"/>
                <a:ea typeface="JetBrains Mono" pitchFamily="34" charset="-122"/>
                <a:cs typeface="JetBrains Mono" pitchFamily="34" charset="-120"/>
              </a:rPr>
              <a:t>AZ a  </a:t>
            </a:r>
            <a:pPr indent="0" marL="0">
              <a:buNone/>
            </a:pPr>
            <a:r>
              <a:rPr lang="en-US" sz="950" dirty="0">
                <a:solidFill>
                  <a:srgbClr val="4A5470"/>
                </a:solidFill>
                <a:latin typeface="JetBrains Mono" pitchFamily="34" charset="0"/>
                <a:ea typeface="JetBrains Mono" pitchFamily="34" charset="-122"/>
                <a:cs typeface="JetBrains Mono" pitchFamily="34" charset="-120"/>
              </a:rPr>
              <a:t>private nodes</a:t>
            </a:r>
            <a:endParaRPr lang="en-US" sz="950" dirty="0"/>
          </a:p>
        </p:txBody>
      </p:sp>
      <p:sp>
        <p:nvSpPr>
          <p:cNvPr id="8" name="Shape 6"/>
          <p:cNvSpPr/>
          <p:nvPr/>
        </p:nvSpPr>
        <p:spPr>
          <a:xfrm>
            <a:off x="2286000" y="3058668"/>
            <a:ext cx="640080" cy="342900"/>
          </a:xfrm>
          <a:prstGeom prst="line">
            <a:avLst/>
          </a:prstGeom>
          <a:noFill/>
          <a:ln w="12700">
            <a:solidFill>
              <a:srgbClr val="5700D6"/>
            </a:solidFill>
            <a:prstDash val="solid"/>
            <a:tailEnd type="triangle"/>
          </a:ln>
        </p:spPr>
      </p:sp>
      <p:sp>
        <p:nvSpPr>
          <p:cNvPr id="9" name="Shape 7"/>
          <p:cNvSpPr/>
          <p:nvPr/>
        </p:nvSpPr>
        <p:spPr>
          <a:xfrm>
            <a:off x="685800" y="3383280"/>
            <a:ext cx="1600200" cy="411480"/>
          </a:xfrm>
          <a:prstGeom prst="rect">
            <a:avLst/>
          </a:prstGeom>
          <a:solidFill>
            <a:srgbClr val="FBFAF7"/>
          </a:solidFill>
          <a:ln w="9525">
            <a:solidFill>
              <a:srgbClr val="C2C3C5"/>
            </a:solidFill>
            <a:prstDash val="solid"/>
          </a:ln>
        </p:spPr>
      </p:sp>
      <p:sp>
        <p:nvSpPr>
          <p:cNvPr id="10" name="Text 8"/>
          <p:cNvSpPr txBox="1"/>
          <p:nvPr/>
        </p:nvSpPr>
        <p:spPr>
          <a:xfrm>
            <a:off x="795528" y="3383280"/>
            <a:ext cx="1463040" cy="411480"/>
          </a:xfrm>
          <a:prstGeom prst="rect">
            <a:avLst/>
          </a:prstGeom>
          <a:noFill/>
          <a:ln/>
        </p:spPr>
        <p:txBody>
          <a:bodyPr wrap="square" lIns="0" tIns="0" rIns="0" bIns="0" rtlCol="0" anchor="ctr"/>
          <a:lstStyle/>
          <a:p>
            <a:pPr indent="0" marL="0">
              <a:buNone/>
            </a:pPr>
            <a:r>
              <a:rPr lang="en-US" sz="950" b="1" dirty="0">
                <a:solidFill>
                  <a:srgbClr val="242E46"/>
                </a:solidFill>
                <a:latin typeface="JetBrains Mono" pitchFamily="34" charset="0"/>
                <a:ea typeface="JetBrains Mono" pitchFamily="34" charset="-122"/>
                <a:cs typeface="JetBrains Mono" pitchFamily="34" charset="-120"/>
              </a:rPr>
              <a:t>AZ b  </a:t>
            </a:r>
            <a:pPr indent="0" marL="0">
              <a:buNone/>
            </a:pPr>
            <a:r>
              <a:rPr lang="en-US" sz="950" dirty="0">
                <a:solidFill>
                  <a:srgbClr val="4A5470"/>
                </a:solidFill>
                <a:latin typeface="JetBrains Mono" pitchFamily="34" charset="0"/>
                <a:ea typeface="JetBrains Mono" pitchFamily="34" charset="-122"/>
                <a:cs typeface="JetBrains Mono" pitchFamily="34" charset="-120"/>
              </a:rPr>
              <a:t>private nodes</a:t>
            </a:r>
            <a:endParaRPr lang="en-US" sz="950" dirty="0"/>
          </a:p>
        </p:txBody>
      </p:sp>
      <p:sp>
        <p:nvSpPr>
          <p:cNvPr id="11" name="Shape 9"/>
          <p:cNvSpPr/>
          <p:nvPr/>
        </p:nvSpPr>
        <p:spPr>
          <a:xfrm>
            <a:off x="2286000" y="3589020"/>
            <a:ext cx="640080" cy="18288"/>
          </a:xfrm>
          <a:prstGeom prst="line">
            <a:avLst/>
          </a:prstGeom>
          <a:noFill/>
          <a:ln w="12700">
            <a:solidFill>
              <a:srgbClr val="5700D6"/>
            </a:solidFill>
            <a:prstDash val="solid"/>
            <a:tailEnd type="triangle"/>
          </a:ln>
        </p:spPr>
      </p:sp>
      <p:sp>
        <p:nvSpPr>
          <p:cNvPr id="12" name="Shape 10"/>
          <p:cNvSpPr/>
          <p:nvPr/>
        </p:nvSpPr>
        <p:spPr>
          <a:xfrm>
            <a:off x="685800" y="3913632"/>
            <a:ext cx="1600200" cy="411480"/>
          </a:xfrm>
          <a:prstGeom prst="rect">
            <a:avLst/>
          </a:prstGeom>
          <a:solidFill>
            <a:srgbClr val="FBFAF7"/>
          </a:solidFill>
          <a:ln w="9525">
            <a:solidFill>
              <a:srgbClr val="C2C3C5"/>
            </a:solidFill>
            <a:prstDash val="solid"/>
          </a:ln>
        </p:spPr>
      </p:sp>
      <p:sp>
        <p:nvSpPr>
          <p:cNvPr id="13" name="Text 11"/>
          <p:cNvSpPr txBox="1"/>
          <p:nvPr/>
        </p:nvSpPr>
        <p:spPr>
          <a:xfrm>
            <a:off x="795528" y="3913632"/>
            <a:ext cx="1463040" cy="411480"/>
          </a:xfrm>
          <a:prstGeom prst="rect">
            <a:avLst/>
          </a:prstGeom>
          <a:noFill/>
          <a:ln/>
        </p:spPr>
        <p:txBody>
          <a:bodyPr wrap="square" lIns="0" tIns="0" rIns="0" bIns="0" rtlCol="0" anchor="ctr"/>
          <a:lstStyle/>
          <a:p>
            <a:pPr indent="0" marL="0">
              <a:buNone/>
            </a:pPr>
            <a:r>
              <a:rPr lang="en-US" sz="950" b="1" dirty="0">
                <a:solidFill>
                  <a:srgbClr val="242E46"/>
                </a:solidFill>
                <a:latin typeface="JetBrains Mono" pitchFamily="34" charset="0"/>
                <a:ea typeface="JetBrains Mono" pitchFamily="34" charset="-122"/>
                <a:cs typeface="JetBrains Mono" pitchFamily="34" charset="-120"/>
              </a:rPr>
              <a:t>AZ c  </a:t>
            </a:r>
            <a:pPr indent="0" marL="0">
              <a:buNone/>
            </a:pPr>
            <a:r>
              <a:rPr lang="en-US" sz="950" dirty="0">
                <a:solidFill>
                  <a:srgbClr val="4A5470"/>
                </a:solidFill>
                <a:latin typeface="JetBrains Mono" pitchFamily="34" charset="0"/>
                <a:ea typeface="JetBrains Mono" pitchFamily="34" charset="-122"/>
                <a:cs typeface="JetBrains Mono" pitchFamily="34" charset="-120"/>
              </a:rPr>
              <a:t>private nodes</a:t>
            </a:r>
            <a:endParaRPr lang="en-US" sz="950" dirty="0"/>
          </a:p>
        </p:txBody>
      </p:sp>
      <p:sp>
        <p:nvSpPr>
          <p:cNvPr id="14" name="Shape 12"/>
          <p:cNvSpPr/>
          <p:nvPr/>
        </p:nvSpPr>
        <p:spPr>
          <a:xfrm flipV="1">
            <a:off x="2286000" y="3813048"/>
            <a:ext cx="640080" cy="306324"/>
          </a:xfrm>
          <a:prstGeom prst="line">
            <a:avLst/>
          </a:prstGeom>
          <a:noFill/>
          <a:ln w="12700">
            <a:solidFill>
              <a:srgbClr val="5700D6"/>
            </a:solidFill>
            <a:prstDash val="solid"/>
            <a:tailEnd type="triangle"/>
          </a:ln>
        </p:spPr>
      </p:sp>
      <p:sp>
        <p:nvSpPr>
          <p:cNvPr id="15" name="Shape 13"/>
          <p:cNvSpPr/>
          <p:nvPr/>
        </p:nvSpPr>
        <p:spPr>
          <a:xfrm>
            <a:off x="2926080" y="3218688"/>
            <a:ext cx="1463040" cy="777240"/>
          </a:xfrm>
          <a:prstGeom prst="rect">
            <a:avLst/>
          </a:prstGeom>
          <a:solidFill>
            <a:srgbClr val="E8DCEF"/>
          </a:solidFill>
          <a:ln w="15875">
            <a:solidFill>
              <a:srgbClr val="6C00FF"/>
            </a:solidFill>
            <a:prstDash val="solid"/>
          </a:ln>
        </p:spPr>
      </p:sp>
      <p:sp>
        <p:nvSpPr>
          <p:cNvPr id="16" name="Text 14"/>
          <p:cNvSpPr txBox="1"/>
          <p:nvPr/>
        </p:nvSpPr>
        <p:spPr>
          <a:xfrm>
            <a:off x="2926080" y="3328416"/>
            <a:ext cx="1463040" cy="274320"/>
          </a:xfrm>
          <a:prstGeom prst="rect">
            <a:avLst/>
          </a:prstGeom>
          <a:noFill/>
          <a:ln/>
        </p:spPr>
        <p:txBody>
          <a:bodyPr wrap="square" lIns="0" tIns="0" rIns="0" bIns="0" rtlCol="0" anchor="t"/>
          <a:lstStyle/>
          <a:p>
            <a:pPr algn="ctr" indent="0" marL="0">
              <a:buNone/>
            </a:pPr>
            <a:r>
              <a:rPr lang="en-US" sz="1050" b="1" dirty="0">
                <a:solidFill>
                  <a:srgbClr val="5700D6"/>
                </a:solidFill>
                <a:latin typeface="JetBrains Mono" pitchFamily="34" charset="0"/>
                <a:ea typeface="JetBrains Mono" pitchFamily="34" charset="-122"/>
                <a:cs typeface="JetBrains Mono" pitchFamily="34" charset="-120"/>
              </a:rPr>
              <a:t>NAT gateway</a:t>
            </a:r>
            <a:endParaRPr lang="en-US" sz="1050" dirty="0"/>
          </a:p>
        </p:txBody>
      </p:sp>
      <p:sp>
        <p:nvSpPr>
          <p:cNvPr id="17" name="Text 15"/>
          <p:cNvSpPr txBox="1"/>
          <p:nvPr/>
        </p:nvSpPr>
        <p:spPr>
          <a:xfrm>
            <a:off x="2926080" y="3630168"/>
            <a:ext cx="1463040" cy="274320"/>
          </a:xfrm>
          <a:prstGeom prst="rect">
            <a:avLst/>
          </a:prstGeom>
          <a:noFill/>
          <a:ln/>
        </p:spPr>
        <p:txBody>
          <a:bodyPr wrap="square" lIns="0" tIns="0" rIns="0" bIns="0" rtlCol="0" anchor="t"/>
          <a:lstStyle/>
          <a:p>
            <a:pPr algn="ctr" indent="0" marL="0">
              <a:buNone/>
            </a:pPr>
            <a:r>
              <a:rPr lang="en-US" sz="1000" dirty="0">
                <a:solidFill>
                  <a:srgbClr val="4A5470"/>
                </a:solidFill>
                <a:latin typeface="Inter" pitchFamily="34" charset="0"/>
                <a:ea typeface="Inter" pitchFamily="34" charset="-122"/>
                <a:cs typeface="Inter" pitchFamily="34" charset="-120"/>
              </a:rPr>
              <a:t>one, in AZ a</a:t>
            </a:r>
            <a:endParaRPr lang="en-US" sz="1000" dirty="0"/>
          </a:p>
        </p:txBody>
      </p:sp>
      <p:sp>
        <p:nvSpPr>
          <p:cNvPr id="18" name="Shape 16"/>
          <p:cNvSpPr/>
          <p:nvPr/>
        </p:nvSpPr>
        <p:spPr>
          <a:xfrm>
            <a:off x="4389120" y="3607308"/>
            <a:ext cx="548640" cy="0"/>
          </a:xfrm>
          <a:prstGeom prst="line">
            <a:avLst/>
          </a:prstGeom>
          <a:noFill/>
          <a:ln w="15875">
            <a:solidFill>
              <a:srgbClr val="5700D6"/>
            </a:solidFill>
            <a:prstDash val="solid"/>
            <a:tailEnd type="triangle"/>
          </a:ln>
        </p:spPr>
      </p:sp>
      <p:sp>
        <p:nvSpPr>
          <p:cNvPr id="19" name="Shape 17"/>
          <p:cNvSpPr/>
          <p:nvPr/>
        </p:nvSpPr>
        <p:spPr>
          <a:xfrm>
            <a:off x="4937760" y="2852928"/>
            <a:ext cx="2057400" cy="1472184"/>
          </a:xfrm>
          <a:prstGeom prst="rect">
            <a:avLst/>
          </a:prstGeom>
          <a:solidFill>
            <a:srgbClr val="ECE9E3"/>
          </a:solidFill>
          <a:ln/>
        </p:spPr>
      </p:sp>
      <p:sp>
        <p:nvSpPr>
          <p:cNvPr id="20" name="Text 18"/>
          <p:cNvSpPr txBox="1"/>
          <p:nvPr/>
        </p:nvSpPr>
        <p:spPr>
          <a:xfrm>
            <a:off x="5074920" y="2944368"/>
            <a:ext cx="1828800" cy="228600"/>
          </a:xfrm>
          <a:prstGeom prst="rect">
            <a:avLst/>
          </a:prstGeom>
          <a:noFill/>
          <a:ln/>
        </p:spPr>
        <p:txBody>
          <a:bodyPr wrap="square" lIns="0" tIns="0" rIns="0" bIns="0" rtlCol="0" anchor="t"/>
          <a:lstStyle/>
          <a:p>
            <a:pPr indent="0" marL="0">
              <a:buNone/>
            </a:pPr>
            <a:r>
              <a:rPr lang="en-US" sz="900" b="1" dirty="0">
                <a:solidFill>
                  <a:srgbClr val="5700D6"/>
                </a:solidFill>
                <a:latin typeface="JetBrains Mono" pitchFamily="34" charset="0"/>
                <a:ea typeface="JetBrains Mono" pitchFamily="34" charset="-122"/>
                <a:cs typeface="JetBrains Mono" pitchFamily="34" charset="-120"/>
              </a:rPr>
              <a:t>OUT TO THE INTERNET</a:t>
            </a:r>
            <a:endParaRPr lang="en-US" sz="900" dirty="0"/>
          </a:p>
        </p:txBody>
      </p:sp>
      <p:sp>
        <p:nvSpPr>
          <p:cNvPr id="21" name="Text 19"/>
          <p:cNvSpPr txBox="1"/>
          <p:nvPr/>
        </p:nvSpPr>
        <p:spPr>
          <a:xfrm>
            <a:off x="5074920" y="3218688"/>
            <a:ext cx="1828800" cy="1097280"/>
          </a:xfrm>
          <a:prstGeom prst="rect">
            <a:avLst/>
          </a:prstGeom>
          <a:noFill/>
          <a:ln/>
        </p:spPr>
        <p:txBody>
          <a:bodyPr wrap="square" lIns="0" tIns="0" rIns="0" bIns="0" rtlCol="0" anchor="t"/>
          <a:lstStyle/>
          <a:p>
            <a:pPr indent="0" marL="0">
              <a:lnSpc>
                <a:spcPct val="112000"/>
              </a:lnSpc>
              <a:buNone/>
            </a:pPr>
            <a:r>
              <a:rPr lang="en-US" sz="1050" dirty="0">
                <a:solidFill>
                  <a:srgbClr val="242E46"/>
                </a:solidFill>
                <a:latin typeface="Inter" pitchFamily="34" charset="0"/>
                <a:ea typeface="Inter" pitchFamily="34" charset="-122"/>
                <a:cs typeface="Inter" pitchFamily="34" charset="-120"/>
              </a:rPr>
              <a:t>GitHub, Let's Encrypt, quay, ghcr, and AWS APIs: SQS, STS, Secrets Manager, ECR</a:t>
            </a:r>
            <a:endParaRPr lang="en-US" sz="1050" dirty="0"/>
          </a:p>
        </p:txBody>
      </p:sp>
      <p:sp>
        <p:nvSpPr>
          <p:cNvPr id="22" name="Shape 20"/>
          <p:cNvSpPr/>
          <p:nvPr/>
        </p:nvSpPr>
        <p:spPr>
          <a:xfrm>
            <a:off x="685800" y="4462272"/>
            <a:ext cx="6309360" cy="329184"/>
          </a:xfrm>
          <a:prstGeom prst="rect">
            <a:avLst/>
          </a:prstGeom>
          <a:ln w="9525">
            <a:solidFill>
              <a:srgbClr val="C2C3C5"/>
            </a:solidFill>
            <a:prstDash val="dash"/>
          </a:ln>
        </p:spPr>
      </p:sp>
      <p:sp>
        <p:nvSpPr>
          <p:cNvPr id="23" name="Text 21"/>
          <p:cNvSpPr txBox="1"/>
          <p:nvPr/>
        </p:nvSpPr>
        <p:spPr>
          <a:xfrm>
            <a:off x="822960" y="4462272"/>
            <a:ext cx="6035040" cy="329184"/>
          </a:xfrm>
          <a:prstGeom prst="rect">
            <a:avLst/>
          </a:prstGeom>
          <a:noFill/>
          <a:ln/>
        </p:spPr>
        <p:txBody>
          <a:bodyPr wrap="square" lIns="0" tIns="0" rIns="0" bIns="0" rtlCol="0" anchor="ctr"/>
          <a:lstStyle/>
          <a:p>
            <a:pPr indent="0" marL="0">
              <a:buNone/>
            </a:pPr>
            <a:r>
              <a:rPr lang="en-US" sz="950" b="1" dirty="0">
                <a:solidFill>
                  <a:srgbClr val="2A7152"/>
                </a:solidFill>
                <a:latin typeface="JetBrains Mono" pitchFamily="34" charset="0"/>
                <a:ea typeface="JetBrains Mono" pitchFamily="34" charset="-122"/>
                <a:cs typeface="JetBrains Mono" pitchFamily="34" charset="-120"/>
              </a:rPr>
              <a:t>S3 GATEWAY ENDPOINT  </a:t>
            </a:r>
            <a:pPr indent="0" marL="0">
              <a:buNone/>
            </a:pPr>
            <a:r>
              <a:rPr lang="en-US" sz="950" dirty="0">
                <a:solidFill>
                  <a:srgbClr val="4A5470"/>
                </a:solidFill>
                <a:latin typeface="JetBrains Mono" pitchFamily="34" charset="0"/>
                <a:ea typeface="JetBrains Mono" pitchFamily="34" charset="-122"/>
                <a:cs typeface="JetBrains Mono" pitchFamily="34" charset="-120"/>
              </a:rPr>
              <a:t>free: image layers in S3 skip the NAT</a:t>
            </a:r>
            <a:endParaRPr lang="en-US" sz="950" dirty="0"/>
          </a:p>
        </p:txBody>
      </p:sp>
      <p:sp>
        <p:nvSpPr>
          <p:cNvPr id="24" name="Shape 22"/>
          <p:cNvSpPr/>
          <p:nvPr/>
        </p:nvSpPr>
        <p:spPr>
          <a:xfrm>
            <a:off x="7360920" y="1691640"/>
            <a:ext cx="4144975" cy="1874520"/>
          </a:xfrm>
          <a:prstGeom prst="rect">
            <a:avLst/>
          </a:prstGeom>
          <a:solidFill>
            <a:srgbClr val="E1ECE4"/>
          </a:solidFill>
          <a:ln/>
        </p:spPr>
      </p:sp>
      <p:sp>
        <p:nvSpPr>
          <p:cNvPr id="25" name="Text 23"/>
          <p:cNvSpPr txBox="1"/>
          <p:nvPr/>
        </p:nvSpPr>
        <p:spPr>
          <a:xfrm>
            <a:off x="7589520" y="1828800"/>
            <a:ext cx="3687775" cy="219456"/>
          </a:xfrm>
          <a:prstGeom prst="rect">
            <a:avLst/>
          </a:prstGeom>
          <a:noFill/>
          <a:ln/>
        </p:spPr>
        <p:txBody>
          <a:bodyPr wrap="square" lIns="0" tIns="0" rIns="0" bIns="0" rtlCol="0" anchor="t"/>
          <a:lstStyle/>
          <a:p>
            <a:pPr indent="0" marL="0">
              <a:buNone/>
            </a:pPr>
            <a:r>
              <a:rPr lang="en-US" sz="1050" b="1" spc="120" kern="0" dirty="0">
                <a:solidFill>
                  <a:srgbClr val="2A7152"/>
                </a:solidFill>
                <a:latin typeface="JetBrains Mono" pitchFamily="34" charset="0"/>
                <a:ea typeface="JetBrains Mono" pitchFamily="34" charset="-122"/>
                <a:cs typeface="JetBrains Mono" pitchFamily="34" charset="-120"/>
              </a:rPr>
              <a:t>WE GAINED</a:t>
            </a:r>
            <a:endParaRPr lang="en-US" sz="1050" dirty="0"/>
          </a:p>
        </p:txBody>
      </p:sp>
      <p:sp>
        <p:nvSpPr>
          <p:cNvPr id="26" name="Text 24"/>
          <p:cNvSpPr txBox="1"/>
          <p:nvPr/>
        </p:nvSpPr>
        <p:spPr>
          <a:xfrm>
            <a:off x="7589520" y="2103120"/>
            <a:ext cx="3733495" cy="137160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The cheapest design that still reaches GitHub and Let's Encrypt</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S3 traffic, including image layers, skips the NAT through a free gateway endpoint</a:t>
            </a:r>
            <a:endParaRPr lang="en-US" sz="1200" dirty="0"/>
          </a:p>
        </p:txBody>
      </p:sp>
      <p:sp>
        <p:nvSpPr>
          <p:cNvPr id="27" name="Shape 25"/>
          <p:cNvSpPr/>
          <p:nvPr/>
        </p:nvSpPr>
        <p:spPr>
          <a:xfrm>
            <a:off x="7360920" y="3703320"/>
            <a:ext cx="4144975" cy="1965960"/>
          </a:xfrm>
          <a:prstGeom prst="rect">
            <a:avLst/>
          </a:prstGeom>
          <a:solidFill>
            <a:srgbClr val="F4EAD3"/>
          </a:solidFill>
          <a:ln/>
        </p:spPr>
      </p:sp>
      <p:sp>
        <p:nvSpPr>
          <p:cNvPr id="28" name="Text 26"/>
          <p:cNvSpPr txBox="1"/>
          <p:nvPr/>
        </p:nvSpPr>
        <p:spPr>
          <a:xfrm>
            <a:off x="7589520" y="3840480"/>
            <a:ext cx="3687775" cy="219456"/>
          </a:xfrm>
          <a:prstGeom prst="rect">
            <a:avLst/>
          </a:prstGeom>
          <a:noFill/>
          <a:ln/>
        </p:spPr>
        <p:txBody>
          <a:bodyPr wrap="square" lIns="0" tIns="0" rIns="0" bIns="0" rtlCol="0" anchor="t"/>
          <a:lstStyle/>
          <a:p>
            <a:pPr indent="0" marL="0">
              <a:buNone/>
            </a:pPr>
            <a:r>
              <a:rPr lang="en-US" sz="1050" b="1" spc="120" kern="0" dirty="0">
                <a:solidFill>
                  <a:srgbClr val="8A5A00"/>
                </a:solidFill>
                <a:latin typeface="JetBrains Mono" pitchFamily="34" charset="0"/>
                <a:ea typeface="JetBrains Mono" pitchFamily="34" charset="-122"/>
                <a:cs typeface="JetBrains Mono" pitchFamily="34" charset="-120"/>
              </a:rPr>
              <a:t>WE GAVE UP</a:t>
            </a:r>
            <a:endParaRPr lang="en-US" sz="1050" dirty="0"/>
          </a:p>
        </p:txBody>
      </p:sp>
      <p:sp>
        <p:nvSpPr>
          <p:cNvPr id="29" name="Text 27"/>
          <p:cNvSpPr txBox="1"/>
          <p:nvPr/>
        </p:nvSpPr>
        <p:spPr>
          <a:xfrm>
            <a:off x="7589520" y="4114800"/>
            <a:ext cx="3733495" cy="146304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One AZ outage cuts outbound traffic for all three AZs</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Image pulls, certificate renewals, ArgoCD syncs and SQS calls fail until it returns</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Traffic inside the cluster carries on</a:t>
            </a:r>
            <a:endParaRPr lang="en-US" sz="1200" dirty="0"/>
          </a:p>
        </p:txBody>
      </p:sp>
      <p:sp>
        <p:nvSpPr>
          <p:cNvPr id="30" name="Text 28"/>
          <p:cNvSpPr txBox="1"/>
          <p:nvPr/>
        </p:nvSpPr>
        <p:spPr>
          <a:xfrm>
            <a:off x="685800" y="4956048"/>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ALTERNATIVES WE WEIGHED</a:t>
            </a:r>
            <a:endParaRPr lang="en-US" sz="1000" dirty="0"/>
          </a:p>
        </p:txBody>
      </p:sp>
      <p:sp>
        <p:nvSpPr>
          <p:cNvPr id="31" name="Text 29"/>
          <p:cNvSpPr txBox="1"/>
          <p:nvPr/>
        </p:nvSpPr>
        <p:spPr>
          <a:xfrm>
            <a:off x="685800" y="5193792"/>
            <a:ext cx="6309360" cy="45720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Inter" pitchFamily="34" charset="0"/>
                <a:ea typeface="Inter" pitchFamily="34" charset="-122"/>
                <a:cs typeface="Inter" pitchFamily="34" charset="-120"/>
              </a:rPr>
              <a:t>A NAT per AZ: survives an AZ loss at 3× the hourly cost. Interface endpoints: 6+ services × 3 AZs = 18 billed endpoints, and still no route to GitHub.</a:t>
            </a:r>
            <a:endParaRPr lang="en-US" sz="1150" dirty="0"/>
          </a:p>
        </p:txBody>
      </p:sp>
      <p:sp>
        <p:nvSpPr>
          <p:cNvPr id="32" name="Shape 30"/>
          <p:cNvSpPr/>
          <p:nvPr/>
        </p:nvSpPr>
        <p:spPr>
          <a:xfrm>
            <a:off x="685800" y="5760720"/>
            <a:ext cx="10820095" cy="0"/>
          </a:xfrm>
          <a:prstGeom prst="line">
            <a:avLst/>
          </a:prstGeom>
          <a:noFill/>
          <a:ln w="9525">
            <a:solidFill>
              <a:srgbClr val="DBDADA"/>
            </a:solidFill>
            <a:prstDash val="solid"/>
          </a:ln>
        </p:spPr>
      </p:sp>
      <p:sp>
        <p:nvSpPr>
          <p:cNvPr id="33" name="Text 31"/>
          <p:cNvSpPr txBox="1"/>
          <p:nvPr/>
        </p:nvSpPr>
        <p:spPr>
          <a:xfrm>
            <a:off x="685800" y="5833872"/>
            <a:ext cx="10820095" cy="384048"/>
          </a:xfrm>
          <a:prstGeom prst="rect">
            <a:avLst/>
          </a:prstGeom>
          <a:noFill/>
          <a:ln/>
        </p:spPr>
        <p:txBody>
          <a:bodyPr wrap="square" lIns="0" tIns="0" rIns="0" bIns="0" rtlCol="0" anchor="t"/>
          <a:lstStyle/>
          <a:p>
            <a:pPr indent="0" marL="0">
              <a:lnSpc>
                <a:spcPct val="105000"/>
              </a:lnSpc>
              <a:buNone/>
            </a:pPr>
            <a:r>
              <a:rPr lang="en-US" sz="1050" b="1" dirty="0">
                <a:solidFill>
                  <a:srgbClr val="5700D6"/>
                </a:solidFill>
                <a:latin typeface="JetBrains Mono" pitchFamily="34" charset="0"/>
                <a:ea typeface="JetBrains Mono" pitchFamily="34" charset="-122"/>
                <a:cs typeface="JetBrains Mono" pitchFamily="34" charset="-120"/>
              </a:rPr>
              <a:t>EVIDENCE  </a:t>
            </a:r>
            <a:pPr indent="0" marL="0">
              <a:lnSpc>
                <a:spcPct val="105000"/>
              </a:lnSpc>
              <a:buNone/>
            </a:pPr>
            <a:r>
              <a:rPr lang="en-US" sz="1050" dirty="0">
                <a:solidFill>
                  <a:srgbClr val="4A5470"/>
                </a:solidFill>
                <a:latin typeface="Inter" pitchFamily="34" charset="0"/>
                <a:ea typeface="Inter" pitchFamily="34" charset="-122"/>
                <a:cs typeface="Inter" pitchFamily="34" charset="-120"/>
              </a:rPr>
              <a:t>modules/vpc: one aws_nat_gateway, one S3 gateway endpoint. The outbox keeps orders safe while SQS is unreachable.</a:t>
            </a:r>
            <a:endParaRPr lang="en-US" sz="10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III  ·  DECISION 5 OF 5</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No long-lived AWS keys anywhere</a:t>
            </a:r>
            <a:endParaRPr lang="en-US" sz="3000" dirty="0"/>
          </a:p>
        </p:txBody>
      </p:sp>
      <p:sp>
        <p:nvSpPr>
          <p:cNvPr id="4" name="Text 2"/>
          <p:cNvSpPr txBox="1"/>
          <p:nvPr/>
        </p:nvSpPr>
        <p:spPr>
          <a:xfrm>
            <a:off x="685800" y="1691640"/>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THE PROBLEM</a:t>
            </a:r>
            <a:endParaRPr lang="en-US" sz="1000" dirty="0"/>
          </a:p>
        </p:txBody>
      </p:sp>
      <p:sp>
        <p:nvSpPr>
          <p:cNvPr id="5" name="Text 3"/>
          <p:cNvSpPr txBox="1"/>
          <p:nvPr/>
        </p:nvSpPr>
        <p:spPr>
          <a:xfrm>
            <a:off x="685800" y="1920240"/>
            <a:ext cx="6309360" cy="777240"/>
          </a:xfrm>
          <a:prstGeom prst="rect">
            <a:avLst/>
          </a:prstGeom>
          <a:noFill/>
          <a:ln/>
        </p:spPr>
        <p:txBody>
          <a:bodyPr wrap="square" lIns="0" tIns="0" rIns="0" bIns="0" rtlCol="0" anchor="t"/>
          <a:lstStyle/>
          <a:p>
            <a:pPr indent="0" marL="0">
              <a:lnSpc>
                <a:spcPct val="112000"/>
              </a:lnSpc>
              <a:buNone/>
            </a:pPr>
            <a:r>
              <a:rPr lang="en-US" sz="1400" dirty="0">
                <a:solidFill>
                  <a:srgbClr val="242E46"/>
                </a:solidFill>
                <a:latin typeface="Inter" pitchFamily="34" charset="0"/>
                <a:ea typeface="Inter" pitchFamily="34" charset="-122"/>
                <a:cs typeface="Inter" pitchFamily="34" charset="-120"/>
              </a:rPr>
              <a:t>Pipelines and pods both call AWS. A static access key in a secret or an image works anywhere, for anyone who copies it, until someone rotates it.</a:t>
            </a:r>
            <a:endParaRPr lang="en-US" sz="1400" dirty="0"/>
          </a:p>
        </p:txBody>
      </p:sp>
      <p:sp>
        <p:nvSpPr>
          <p:cNvPr id="6" name="Text 4"/>
          <p:cNvSpPr txBox="1"/>
          <p:nvPr/>
        </p:nvSpPr>
        <p:spPr>
          <a:xfrm>
            <a:off x="685800" y="2953512"/>
            <a:ext cx="109728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PIPELINES</a:t>
            </a:r>
            <a:endParaRPr lang="en-US" sz="1000" dirty="0"/>
          </a:p>
        </p:txBody>
      </p:sp>
      <p:sp>
        <p:nvSpPr>
          <p:cNvPr id="7" name="Shape 5"/>
          <p:cNvSpPr/>
          <p:nvPr/>
        </p:nvSpPr>
        <p:spPr>
          <a:xfrm>
            <a:off x="1783080" y="2898648"/>
            <a:ext cx="1463040" cy="731520"/>
          </a:xfrm>
          <a:prstGeom prst="rect">
            <a:avLst/>
          </a:prstGeom>
          <a:solidFill>
            <a:srgbClr val="FBFAF7"/>
          </a:solidFill>
          <a:ln w="9525">
            <a:solidFill>
              <a:srgbClr val="C2C3C5"/>
            </a:solidFill>
            <a:prstDash val="solid"/>
          </a:ln>
        </p:spPr>
      </p:sp>
      <p:sp>
        <p:nvSpPr>
          <p:cNvPr id="8" name="Text 6"/>
          <p:cNvSpPr txBox="1"/>
          <p:nvPr/>
        </p:nvSpPr>
        <p:spPr>
          <a:xfrm>
            <a:off x="1892808" y="2980944"/>
            <a:ext cx="124358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GitHub job</a:t>
            </a:r>
            <a:endParaRPr lang="en-US" sz="1100" dirty="0"/>
          </a:p>
        </p:txBody>
      </p:sp>
      <p:sp>
        <p:nvSpPr>
          <p:cNvPr id="9" name="Text 7"/>
          <p:cNvSpPr txBox="1"/>
          <p:nvPr/>
        </p:nvSpPr>
        <p:spPr>
          <a:xfrm>
            <a:off x="1892808" y="3227832"/>
            <a:ext cx="1243584" cy="347472"/>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runs as an Environment</a:t>
            </a:r>
            <a:endParaRPr lang="en-US" sz="1000" dirty="0"/>
          </a:p>
        </p:txBody>
      </p:sp>
      <p:sp>
        <p:nvSpPr>
          <p:cNvPr id="10" name="Shape 8"/>
          <p:cNvSpPr/>
          <p:nvPr/>
        </p:nvSpPr>
        <p:spPr>
          <a:xfrm>
            <a:off x="3246120" y="3264408"/>
            <a:ext cx="274320" cy="0"/>
          </a:xfrm>
          <a:prstGeom prst="line">
            <a:avLst/>
          </a:prstGeom>
          <a:noFill/>
          <a:ln w="15875">
            <a:solidFill>
              <a:srgbClr val="4A5470"/>
            </a:solidFill>
            <a:prstDash val="solid"/>
            <a:tailEnd type="triangle"/>
          </a:ln>
        </p:spPr>
      </p:sp>
      <p:sp>
        <p:nvSpPr>
          <p:cNvPr id="11" name="Shape 9"/>
          <p:cNvSpPr/>
          <p:nvPr/>
        </p:nvSpPr>
        <p:spPr>
          <a:xfrm>
            <a:off x="3520440" y="2898648"/>
            <a:ext cx="1371600" cy="731520"/>
          </a:xfrm>
          <a:prstGeom prst="rect">
            <a:avLst/>
          </a:prstGeom>
          <a:solidFill>
            <a:srgbClr val="FBFAF7"/>
          </a:solidFill>
          <a:ln w="9525">
            <a:solidFill>
              <a:srgbClr val="C2C3C5"/>
            </a:solidFill>
            <a:prstDash val="solid"/>
          </a:ln>
        </p:spPr>
      </p:sp>
      <p:sp>
        <p:nvSpPr>
          <p:cNvPr id="12" name="Text 10"/>
          <p:cNvSpPr txBox="1"/>
          <p:nvPr/>
        </p:nvSpPr>
        <p:spPr>
          <a:xfrm>
            <a:off x="3630168" y="2980944"/>
            <a:ext cx="115214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OIDC token</a:t>
            </a:r>
            <a:endParaRPr lang="en-US" sz="1100" dirty="0"/>
          </a:p>
        </p:txBody>
      </p:sp>
      <p:sp>
        <p:nvSpPr>
          <p:cNvPr id="13" name="Text 11"/>
          <p:cNvSpPr txBox="1"/>
          <p:nvPr/>
        </p:nvSpPr>
        <p:spPr>
          <a:xfrm>
            <a:off x="3630168" y="3227832"/>
            <a:ext cx="1152144" cy="347472"/>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short-lived, signed</a:t>
            </a:r>
            <a:endParaRPr lang="en-US" sz="1000" dirty="0"/>
          </a:p>
        </p:txBody>
      </p:sp>
      <p:sp>
        <p:nvSpPr>
          <p:cNvPr id="14" name="Shape 12"/>
          <p:cNvSpPr/>
          <p:nvPr/>
        </p:nvSpPr>
        <p:spPr>
          <a:xfrm>
            <a:off x="4892040" y="3264408"/>
            <a:ext cx="274320" cy="0"/>
          </a:xfrm>
          <a:prstGeom prst="line">
            <a:avLst/>
          </a:prstGeom>
          <a:noFill/>
          <a:ln w="15875">
            <a:solidFill>
              <a:srgbClr val="4A5470"/>
            </a:solidFill>
            <a:prstDash val="solid"/>
            <a:tailEnd type="triangle"/>
          </a:ln>
        </p:spPr>
      </p:sp>
      <p:sp>
        <p:nvSpPr>
          <p:cNvPr id="15" name="Shape 13"/>
          <p:cNvSpPr/>
          <p:nvPr/>
        </p:nvSpPr>
        <p:spPr>
          <a:xfrm>
            <a:off x="5166360" y="2898648"/>
            <a:ext cx="1828800" cy="731520"/>
          </a:xfrm>
          <a:prstGeom prst="rect">
            <a:avLst/>
          </a:prstGeom>
          <a:solidFill>
            <a:srgbClr val="FBFAF7"/>
          </a:solidFill>
          <a:ln w="15875">
            <a:solidFill>
              <a:srgbClr val="6C00FF"/>
            </a:solidFill>
            <a:prstDash val="solid"/>
          </a:ln>
        </p:spPr>
      </p:sp>
      <p:sp>
        <p:nvSpPr>
          <p:cNvPr id="16" name="Text 14"/>
          <p:cNvSpPr txBox="1"/>
          <p:nvPr/>
        </p:nvSpPr>
        <p:spPr>
          <a:xfrm>
            <a:off x="5276088" y="2980944"/>
            <a:ext cx="160934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role per env</a:t>
            </a:r>
            <a:endParaRPr lang="en-US" sz="1100" dirty="0"/>
          </a:p>
        </p:txBody>
      </p:sp>
      <p:sp>
        <p:nvSpPr>
          <p:cNvPr id="17" name="Text 15"/>
          <p:cNvSpPr txBox="1"/>
          <p:nvPr/>
        </p:nvSpPr>
        <p:spPr>
          <a:xfrm>
            <a:off x="5276088" y="3227832"/>
            <a:ext cx="1609344" cy="347472"/>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PRs: read-only plan. Prod: a second approver</a:t>
            </a:r>
            <a:endParaRPr lang="en-US" sz="1000" dirty="0"/>
          </a:p>
        </p:txBody>
      </p:sp>
      <p:sp>
        <p:nvSpPr>
          <p:cNvPr id="18" name="Text 16"/>
          <p:cNvSpPr txBox="1"/>
          <p:nvPr/>
        </p:nvSpPr>
        <p:spPr>
          <a:xfrm>
            <a:off x="685800" y="3959352"/>
            <a:ext cx="109728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PODS</a:t>
            </a:r>
            <a:endParaRPr lang="en-US" sz="1000" dirty="0"/>
          </a:p>
        </p:txBody>
      </p:sp>
      <p:sp>
        <p:nvSpPr>
          <p:cNvPr id="19" name="Shape 17"/>
          <p:cNvSpPr/>
          <p:nvPr/>
        </p:nvSpPr>
        <p:spPr>
          <a:xfrm>
            <a:off x="1783080" y="3886200"/>
            <a:ext cx="1463040" cy="932688"/>
          </a:xfrm>
          <a:prstGeom prst="rect">
            <a:avLst/>
          </a:prstGeom>
          <a:solidFill>
            <a:srgbClr val="FBFAF7"/>
          </a:solidFill>
          <a:ln w="9525">
            <a:solidFill>
              <a:srgbClr val="C2C3C5"/>
            </a:solidFill>
            <a:prstDash val="solid"/>
          </a:ln>
        </p:spPr>
      </p:sp>
      <p:sp>
        <p:nvSpPr>
          <p:cNvPr id="20" name="Text 18"/>
          <p:cNvSpPr txBox="1"/>
          <p:nvPr/>
        </p:nvSpPr>
        <p:spPr>
          <a:xfrm>
            <a:off x="1892808" y="3968496"/>
            <a:ext cx="124358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pod</a:t>
            </a:r>
            <a:endParaRPr lang="en-US" sz="1100" dirty="0"/>
          </a:p>
        </p:txBody>
      </p:sp>
      <p:sp>
        <p:nvSpPr>
          <p:cNvPr id="21" name="Text 19"/>
          <p:cNvSpPr txBox="1"/>
          <p:nvPr/>
        </p:nvSpPr>
        <p:spPr>
          <a:xfrm>
            <a:off x="1892808" y="4215384"/>
            <a:ext cx="1243584" cy="54864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its own service account</a:t>
            </a:r>
            <a:endParaRPr lang="en-US" sz="1000" dirty="0"/>
          </a:p>
        </p:txBody>
      </p:sp>
      <p:sp>
        <p:nvSpPr>
          <p:cNvPr id="22" name="Shape 20"/>
          <p:cNvSpPr/>
          <p:nvPr/>
        </p:nvSpPr>
        <p:spPr>
          <a:xfrm>
            <a:off x="3246120" y="4297680"/>
            <a:ext cx="274320" cy="0"/>
          </a:xfrm>
          <a:prstGeom prst="line">
            <a:avLst/>
          </a:prstGeom>
          <a:noFill/>
          <a:ln w="15875">
            <a:solidFill>
              <a:srgbClr val="4A5470"/>
            </a:solidFill>
            <a:prstDash val="solid"/>
            <a:tailEnd type="triangle"/>
          </a:ln>
        </p:spPr>
      </p:sp>
      <p:sp>
        <p:nvSpPr>
          <p:cNvPr id="23" name="Shape 21"/>
          <p:cNvSpPr/>
          <p:nvPr/>
        </p:nvSpPr>
        <p:spPr>
          <a:xfrm>
            <a:off x="3520440" y="3886200"/>
            <a:ext cx="1371600" cy="932688"/>
          </a:xfrm>
          <a:prstGeom prst="rect">
            <a:avLst/>
          </a:prstGeom>
          <a:solidFill>
            <a:srgbClr val="FBFAF7"/>
          </a:solidFill>
          <a:ln w="9525">
            <a:solidFill>
              <a:srgbClr val="C2C3C5"/>
            </a:solidFill>
            <a:prstDash val="solid"/>
          </a:ln>
        </p:spPr>
      </p:sp>
      <p:sp>
        <p:nvSpPr>
          <p:cNvPr id="24" name="Text 22"/>
          <p:cNvSpPr txBox="1"/>
          <p:nvPr/>
        </p:nvSpPr>
        <p:spPr>
          <a:xfrm>
            <a:off x="3630168" y="3968496"/>
            <a:ext cx="115214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Pod Identity</a:t>
            </a:r>
            <a:endParaRPr lang="en-US" sz="1100" dirty="0"/>
          </a:p>
        </p:txBody>
      </p:sp>
      <p:sp>
        <p:nvSpPr>
          <p:cNvPr id="25" name="Text 23"/>
          <p:cNvSpPr txBox="1"/>
          <p:nvPr/>
        </p:nvSpPr>
        <p:spPr>
          <a:xfrm>
            <a:off x="3630168" y="4215384"/>
            <a:ext cx="1152144" cy="54864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agent on the node</a:t>
            </a:r>
            <a:endParaRPr lang="en-US" sz="1000" dirty="0"/>
          </a:p>
        </p:txBody>
      </p:sp>
      <p:sp>
        <p:nvSpPr>
          <p:cNvPr id="26" name="Shape 24"/>
          <p:cNvSpPr/>
          <p:nvPr/>
        </p:nvSpPr>
        <p:spPr>
          <a:xfrm>
            <a:off x="4892040" y="4297680"/>
            <a:ext cx="274320" cy="0"/>
          </a:xfrm>
          <a:prstGeom prst="line">
            <a:avLst/>
          </a:prstGeom>
          <a:noFill/>
          <a:ln w="15875">
            <a:solidFill>
              <a:srgbClr val="4A5470"/>
            </a:solidFill>
            <a:prstDash val="solid"/>
            <a:tailEnd type="triangle"/>
          </a:ln>
        </p:spPr>
      </p:sp>
      <p:sp>
        <p:nvSpPr>
          <p:cNvPr id="27" name="Shape 25"/>
          <p:cNvSpPr/>
          <p:nvPr/>
        </p:nvSpPr>
        <p:spPr>
          <a:xfrm>
            <a:off x="5166360" y="3886200"/>
            <a:ext cx="1828800" cy="932688"/>
          </a:xfrm>
          <a:prstGeom prst="rect">
            <a:avLst/>
          </a:prstGeom>
          <a:solidFill>
            <a:srgbClr val="FBFAF7"/>
          </a:solidFill>
          <a:ln w="15875">
            <a:solidFill>
              <a:srgbClr val="6C00FF"/>
            </a:solidFill>
            <a:prstDash val="solid"/>
          </a:ln>
        </p:spPr>
      </p:sp>
      <p:sp>
        <p:nvSpPr>
          <p:cNvPr id="28" name="Text 26"/>
          <p:cNvSpPr txBox="1"/>
          <p:nvPr/>
        </p:nvSpPr>
        <p:spPr>
          <a:xfrm>
            <a:off x="5276088" y="3968496"/>
            <a:ext cx="1609344"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role per workload</a:t>
            </a:r>
            <a:endParaRPr lang="en-US" sz="1100" dirty="0"/>
          </a:p>
        </p:txBody>
      </p:sp>
      <p:sp>
        <p:nvSpPr>
          <p:cNvPr id="29" name="Text 27"/>
          <p:cNvSpPr txBox="1"/>
          <p:nvPr/>
        </p:nvSpPr>
        <p:spPr>
          <a:xfrm>
            <a:off x="5276088" y="4215384"/>
            <a:ext cx="1609344" cy="54864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Inter" pitchFamily="34" charset="0"/>
                <a:ea typeface="Inter" pitchFamily="34" charset="-122"/>
                <a:cs typeface="Inter" pitchFamily="34" charset="-120"/>
              </a:rPr>
              <a:t>order-service: SendMessage. worker: Receive, Delete</a:t>
            </a:r>
            <a:endParaRPr lang="en-US" sz="1000" dirty="0"/>
          </a:p>
        </p:txBody>
      </p:sp>
      <p:sp>
        <p:nvSpPr>
          <p:cNvPr id="30" name="Shape 28"/>
          <p:cNvSpPr/>
          <p:nvPr/>
        </p:nvSpPr>
        <p:spPr>
          <a:xfrm>
            <a:off x="7360920" y="1691640"/>
            <a:ext cx="4144975" cy="1874520"/>
          </a:xfrm>
          <a:prstGeom prst="rect">
            <a:avLst/>
          </a:prstGeom>
          <a:solidFill>
            <a:srgbClr val="E1ECE4"/>
          </a:solidFill>
          <a:ln/>
        </p:spPr>
      </p:sp>
      <p:sp>
        <p:nvSpPr>
          <p:cNvPr id="31" name="Text 29"/>
          <p:cNvSpPr txBox="1"/>
          <p:nvPr/>
        </p:nvSpPr>
        <p:spPr>
          <a:xfrm>
            <a:off x="7589520" y="1828800"/>
            <a:ext cx="3687775" cy="219456"/>
          </a:xfrm>
          <a:prstGeom prst="rect">
            <a:avLst/>
          </a:prstGeom>
          <a:noFill/>
          <a:ln/>
        </p:spPr>
        <p:txBody>
          <a:bodyPr wrap="square" lIns="0" tIns="0" rIns="0" bIns="0" rtlCol="0" anchor="t"/>
          <a:lstStyle/>
          <a:p>
            <a:pPr indent="0" marL="0">
              <a:buNone/>
            </a:pPr>
            <a:r>
              <a:rPr lang="en-US" sz="1050" b="1" spc="120" kern="0" dirty="0">
                <a:solidFill>
                  <a:srgbClr val="2A7152"/>
                </a:solidFill>
                <a:latin typeface="JetBrains Mono" pitchFamily="34" charset="0"/>
                <a:ea typeface="JetBrains Mono" pitchFamily="34" charset="-122"/>
                <a:cs typeface="JetBrains Mono" pitchFamily="34" charset="-120"/>
              </a:rPr>
              <a:t>WE GAINED</a:t>
            </a:r>
            <a:endParaRPr lang="en-US" sz="1050" dirty="0"/>
          </a:p>
        </p:txBody>
      </p:sp>
      <p:sp>
        <p:nvSpPr>
          <p:cNvPr id="32" name="Text 30"/>
          <p:cNvSpPr txBox="1"/>
          <p:nvPr/>
        </p:nvSpPr>
        <p:spPr>
          <a:xfrm>
            <a:off x="7589520" y="2103120"/>
            <a:ext cx="3733495" cy="137160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Nothing in Git, CI or an image can reach AWS on its own</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Each workload can do one job: order-service sends, the worker receives and deletes</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The same role definitions work on every cluster</a:t>
            </a:r>
            <a:endParaRPr lang="en-US" sz="1200" dirty="0"/>
          </a:p>
        </p:txBody>
      </p:sp>
      <p:sp>
        <p:nvSpPr>
          <p:cNvPr id="33" name="Shape 31"/>
          <p:cNvSpPr/>
          <p:nvPr/>
        </p:nvSpPr>
        <p:spPr>
          <a:xfrm>
            <a:off x="7360920" y="3703320"/>
            <a:ext cx="4144975" cy="1965960"/>
          </a:xfrm>
          <a:prstGeom prst="rect">
            <a:avLst/>
          </a:prstGeom>
          <a:solidFill>
            <a:srgbClr val="F4EAD3"/>
          </a:solidFill>
          <a:ln/>
        </p:spPr>
      </p:sp>
      <p:sp>
        <p:nvSpPr>
          <p:cNvPr id="34" name="Text 32"/>
          <p:cNvSpPr txBox="1"/>
          <p:nvPr/>
        </p:nvSpPr>
        <p:spPr>
          <a:xfrm>
            <a:off x="7589520" y="3840480"/>
            <a:ext cx="3687775" cy="219456"/>
          </a:xfrm>
          <a:prstGeom prst="rect">
            <a:avLst/>
          </a:prstGeom>
          <a:noFill/>
          <a:ln/>
        </p:spPr>
        <p:txBody>
          <a:bodyPr wrap="square" lIns="0" tIns="0" rIns="0" bIns="0" rtlCol="0" anchor="t"/>
          <a:lstStyle/>
          <a:p>
            <a:pPr indent="0" marL="0">
              <a:buNone/>
            </a:pPr>
            <a:r>
              <a:rPr lang="en-US" sz="1050" b="1" spc="120" kern="0" dirty="0">
                <a:solidFill>
                  <a:srgbClr val="8A5A00"/>
                </a:solidFill>
                <a:latin typeface="JetBrains Mono" pitchFamily="34" charset="0"/>
                <a:ea typeface="JetBrains Mono" pitchFamily="34" charset="-122"/>
                <a:cs typeface="JetBrains Mono" pitchFamily="34" charset="-120"/>
              </a:rPr>
              <a:t>WE GAVE UP</a:t>
            </a:r>
            <a:endParaRPr lang="en-US" sz="1050" dirty="0"/>
          </a:p>
        </p:txBody>
      </p:sp>
      <p:sp>
        <p:nvSpPr>
          <p:cNvPr id="35" name="Text 33"/>
          <p:cNvSpPr txBox="1"/>
          <p:nvPr/>
        </p:nvSpPr>
        <p:spPr>
          <a:xfrm>
            <a:off x="7589520" y="4114800"/>
            <a:ext cx="3733495" cy="1463040"/>
          </a:xfrm>
          <a:prstGeom prst="rect">
            <a:avLst/>
          </a:prstGeom>
          <a:noFill/>
          <a:ln/>
        </p:spPr>
        <p:txBody>
          <a:bodyPr wrap="square" lIns="0" tIns="0" rIns="0" bIns="0" rtlCol="0" anchor="t"/>
          <a:lstStyle/>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We departed from the brief's wording (IRSA) while keeping its intent</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Needs the Pod Identity agent on every node, and no Fargate</a:t>
            </a:r>
            <a:endParaRPr lang="en-US" sz="1200" dirty="0"/>
          </a:p>
          <a:p>
            <a:pPr marL="152400" indent="-152400">
              <a:lnSpc>
                <a:spcPct val="108000"/>
              </a:lnSpc>
              <a:spcAft>
                <a:spcPts val="500"/>
              </a:spcAft>
              <a:buSzPct val="100000"/>
              <a:buChar char="•"/>
            </a:pPr>
            <a:r>
              <a:rPr lang="en-US" sz="1200" dirty="0">
                <a:solidFill>
                  <a:srgbClr val="242E46"/>
                </a:solidFill>
                <a:latin typeface="Inter" pitchFamily="34" charset="0"/>
                <a:ea typeface="Inter" pitchFamily="34" charset="-122"/>
                <a:cs typeface="Inter" pitchFamily="34" charset="-120"/>
              </a:rPr>
              <a:t>More roles to reason about</a:t>
            </a:r>
            <a:endParaRPr lang="en-US" sz="1200" dirty="0"/>
          </a:p>
        </p:txBody>
      </p:sp>
      <p:sp>
        <p:nvSpPr>
          <p:cNvPr id="36" name="Text 34"/>
          <p:cNvSpPr txBox="1"/>
          <p:nvPr/>
        </p:nvSpPr>
        <p:spPr>
          <a:xfrm>
            <a:off x="685800" y="4956048"/>
            <a:ext cx="6309360" cy="219456"/>
          </a:xfrm>
          <a:prstGeom prst="rect">
            <a:avLst/>
          </a:prstGeom>
          <a:noFill/>
          <a:ln/>
        </p:spPr>
        <p:txBody>
          <a:bodyPr wrap="square" lIns="0" tIns="0" rIns="0" bIns="0" rtlCol="0" anchor="t"/>
          <a:lstStyle/>
          <a:p>
            <a:pPr indent="0" marL="0">
              <a:buNone/>
            </a:pPr>
            <a:r>
              <a:rPr lang="en-US" sz="1000" spc="120" kern="0" dirty="0">
                <a:solidFill>
                  <a:srgbClr val="5B6480"/>
                </a:solidFill>
                <a:latin typeface="JetBrains Mono" pitchFamily="34" charset="0"/>
                <a:ea typeface="JetBrains Mono" pitchFamily="34" charset="-122"/>
                <a:cs typeface="JetBrains Mono" pitchFamily="34" charset="-120"/>
              </a:rPr>
              <a:t>ALTERNATIVES WE WEIGHED</a:t>
            </a:r>
            <a:endParaRPr lang="en-US" sz="1000" dirty="0"/>
          </a:p>
        </p:txBody>
      </p:sp>
      <p:sp>
        <p:nvSpPr>
          <p:cNvPr id="37" name="Text 35"/>
          <p:cNvSpPr txBox="1"/>
          <p:nvPr/>
        </p:nvSpPr>
        <p:spPr>
          <a:xfrm>
            <a:off x="685800" y="5193792"/>
            <a:ext cx="6309360" cy="45720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Inter" pitchFamily="34" charset="0"/>
                <a:ea typeface="Inter" pitchFamily="34" charset="-122"/>
                <a:cs typeface="Inter" pitchFamily="34" charset="-120"/>
              </a:rPr>
              <a:t>IRSA: an OIDC provider per cluster, named in every trust policy. Static keys in GitHub secrets: simple, and exactly what the brief rules out.</a:t>
            </a:r>
            <a:endParaRPr lang="en-US" sz="1150" dirty="0"/>
          </a:p>
        </p:txBody>
      </p:sp>
      <p:sp>
        <p:nvSpPr>
          <p:cNvPr id="38" name="Shape 36"/>
          <p:cNvSpPr/>
          <p:nvPr/>
        </p:nvSpPr>
        <p:spPr>
          <a:xfrm>
            <a:off x="685800" y="5760720"/>
            <a:ext cx="10820095" cy="0"/>
          </a:xfrm>
          <a:prstGeom prst="line">
            <a:avLst/>
          </a:prstGeom>
          <a:noFill/>
          <a:ln w="9525">
            <a:solidFill>
              <a:srgbClr val="DBDADA"/>
            </a:solidFill>
            <a:prstDash val="solid"/>
          </a:ln>
        </p:spPr>
      </p:sp>
      <p:sp>
        <p:nvSpPr>
          <p:cNvPr id="39" name="Text 37"/>
          <p:cNvSpPr txBox="1"/>
          <p:nvPr/>
        </p:nvSpPr>
        <p:spPr>
          <a:xfrm>
            <a:off x="685800" y="5833872"/>
            <a:ext cx="10820095" cy="384048"/>
          </a:xfrm>
          <a:prstGeom prst="rect">
            <a:avLst/>
          </a:prstGeom>
          <a:noFill/>
          <a:ln/>
        </p:spPr>
        <p:txBody>
          <a:bodyPr wrap="square" lIns="0" tIns="0" rIns="0" bIns="0" rtlCol="0" anchor="t"/>
          <a:lstStyle/>
          <a:p>
            <a:pPr indent="0" marL="0">
              <a:lnSpc>
                <a:spcPct val="105000"/>
              </a:lnSpc>
              <a:buNone/>
            </a:pPr>
            <a:r>
              <a:rPr lang="en-US" sz="1050" b="1" dirty="0">
                <a:solidFill>
                  <a:srgbClr val="5700D6"/>
                </a:solidFill>
                <a:latin typeface="JetBrains Mono" pitchFamily="34" charset="0"/>
                <a:ea typeface="JetBrains Mono" pitchFamily="34" charset="-122"/>
                <a:cs typeface="JetBrains Mono" pitchFamily="34" charset="-120"/>
              </a:rPr>
              <a:t>EVIDENCE  </a:t>
            </a:r>
            <a:pPr indent="0" marL="0">
              <a:lnSpc>
                <a:spcPct val="105000"/>
              </a:lnSpc>
              <a:buNone/>
            </a:pPr>
            <a:r>
              <a:rPr lang="en-US" sz="1050" dirty="0">
                <a:solidFill>
                  <a:srgbClr val="4A5470"/>
                </a:solidFill>
                <a:latin typeface="Inter" pitchFamily="34" charset="0"/>
                <a:ea typeface="Inter" pitchFamily="34" charset="-122"/>
                <a:cs typeface="Inter" pitchFamily="34" charset="-120"/>
              </a:rPr>
              <a:t>bootstrap/github-actions-roles.tf (trust pinned to org, repo and Environment); modules/pod-identity; IMDSv2 hop limit 1, so pods cannot borrow the node role.</a:t>
            </a:r>
            <a:endParaRPr lang="en-US" sz="10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IV  ·  WHERE WE STAND</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What we have proven, and what we have not</a:t>
            </a:r>
            <a:endParaRPr lang="en-US" sz="3000" dirty="0"/>
          </a:p>
        </p:txBody>
      </p:sp>
      <p:sp>
        <p:nvSpPr>
          <p:cNvPr id="4" name="Shape 2"/>
          <p:cNvSpPr/>
          <p:nvPr/>
        </p:nvSpPr>
        <p:spPr>
          <a:xfrm>
            <a:off x="685800" y="1783080"/>
            <a:ext cx="3454298" cy="3886200"/>
          </a:xfrm>
          <a:prstGeom prst="rect">
            <a:avLst/>
          </a:prstGeom>
          <a:solidFill>
            <a:srgbClr val="E1ECE4"/>
          </a:solidFill>
          <a:ln/>
        </p:spPr>
      </p:sp>
      <p:sp>
        <p:nvSpPr>
          <p:cNvPr id="5" name="Text 3"/>
          <p:cNvSpPr txBox="1"/>
          <p:nvPr/>
        </p:nvSpPr>
        <p:spPr>
          <a:xfrm>
            <a:off x="914400" y="1965960"/>
            <a:ext cx="2997098" cy="411480"/>
          </a:xfrm>
          <a:prstGeom prst="rect">
            <a:avLst/>
          </a:prstGeom>
          <a:noFill/>
          <a:ln/>
        </p:spPr>
        <p:txBody>
          <a:bodyPr wrap="square" lIns="0" tIns="0" rIns="0" bIns="0" rtlCol="0" anchor="t"/>
          <a:lstStyle/>
          <a:p>
            <a:pPr indent="0" marL="0">
              <a:buNone/>
            </a:pPr>
            <a:r>
              <a:rPr lang="en-US" sz="1100" b="1" spc="100" kern="0" dirty="0">
                <a:solidFill>
                  <a:srgbClr val="2A7152"/>
                </a:solidFill>
                <a:latin typeface="JetBrains Mono" pitchFamily="34" charset="0"/>
                <a:ea typeface="JetBrains Mono" pitchFamily="34" charset="-122"/>
                <a:cs typeface="JetBrains Mono" pitchFamily="34" charset="-120"/>
              </a:rPr>
              <a:t>DEMONSTRATED ON EKS DEV</a:t>
            </a:r>
            <a:endParaRPr lang="en-US" sz="1100" dirty="0"/>
          </a:p>
        </p:txBody>
      </p:sp>
      <p:sp>
        <p:nvSpPr>
          <p:cNvPr id="6" name="Text 4"/>
          <p:cNvSpPr txBox="1"/>
          <p:nvPr/>
        </p:nvSpPr>
        <p:spPr>
          <a:xfrm>
            <a:off x="914400" y="2377440"/>
            <a:ext cx="3042818" cy="3200400"/>
          </a:xfrm>
          <a:prstGeom prst="rect">
            <a:avLst/>
          </a:prstGeom>
          <a:noFill/>
          <a:ln/>
        </p:spPr>
        <p:txBody>
          <a:bodyPr wrap="square" lIns="0" tIns="0" rIns="0" bIns="0" rtlCol="0" anchor="t"/>
          <a:lstStyle/>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All nine services healthy behind HTTPS at a real DNS name (Let's Encrypt staging certificate)</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The full order lifecycle, including cancel and refund: smoke test, 8 Oct, every step passing</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Internal routes refused at the gateway (404 from outside)</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Built from Git: Terraform pipelines, then ArgoCD bootstrapping the platform in sync waves</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Daily EBS snapshots of the dev database scheduled</a:t>
            </a:r>
            <a:endParaRPr lang="en-US" sz="1200" dirty="0"/>
          </a:p>
        </p:txBody>
      </p:sp>
      <p:sp>
        <p:nvSpPr>
          <p:cNvPr id="7" name="Shape 5"/>
          <p:cNvSpPr/>
          <p:nvPr/>
        </p:nvSpPr>
        <p:spPr>
          <a:xfrm>
            <a:off x="4368698" y="1783080"/>
            <a:ext cx="3454298" cy="3886200"/>
          </a:xfrm>
          <a:prstGeom prst="rect">
            <a:avLst/>
          </a:prstGeom>
          <a:solidFill>
            <a:srgbClr val="E8DCEF"/>
          </a:solidFill>
          <a:ln/>
        </p:spPr>
      </p:sp>
      <p:sp>
        <p:nvSpPr>
          <p:cNvPr id="8" name="Text 6"/>
          <p:cNvSpPr txBox="1"/>
          <p:nvPr/>
        </p:nvSpPr>
        <p:spPr>
          <a:xfrm>
            <a:off x="4597298" y="1965960"/>
            <a:ext cx="2997098" cy="411480"/>
          </a:xfrm>
          <a:prstGeom prst="rect">
            <a:avLst/>
          </a:prstGeom>
          <a:noFill/>
          <a:ln/>
        </p:spPr>
        <p:txBody>
          <a:bodyPr wrap="square" lIns="0" tIns="0" rIns="0" bIns="0" rtlCol="0" anchor="t"/>
          <a:lstStyle/>
          <a:p>
            <a:pPr indent="0" marL="0">
              <a:buNone/>
            </a:pPr>
            <a:r>
              <a:rPr lang="en-US" sz="1100" b="1" spc="100" kern="0" dirty="0">
                <a:solidFill>
                  <a:srgbClr val="5700D6"/>
                </a:solidFill>
                <a:latin typeface="JetBrains Mono" pitchFamily="34" charset="0"/>
                <a:ea typeface="JetBrains Mono" pitchFamily="34" charset="-122"/>
                <a:cs typeface="JetBrains Mono" pitchFamily="34" charset="-120"/>
              </a:rPr>
              <a:t>PROVEN IN TESTS, NOT UNDER LOAD</a:t>
            </a:r>
            <a:endParaRPr lang="en-US" sz="1100" dirty="0"/>
          </a:p>
        </p:txBody>
      </p:sp>
      <p:sp>
        <p:nvSpPr>
          <p:cNvPr id="9" name="Text 7"/>
          <p:cNvSpPr txBox="1"/>
          <p:nvPr/>
        </p:nvSpPr>
        <p:spPr>
          <a:xfrm>
            <a:off x="4597298" y="2377440"/>
            <a:ext cx="3042818" cy="3200400"/>
          </a:xfrm>
          <a:prstGeom prst="rect">
            <a:avLst/>
          </a:prstGeom>
          <a:noFill/>
          <a:ln/>
        </p:spPr>
        <p:txBody>
          <a:bodyPr wrap="square" lIns="0" tIns="0" rIns="0" bIns="0" rtlCol="0" anchor="t"/>
          <a:lstStyle/>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168 test functions, all passing with the race detector on (re-run 13 Oct)</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Duplicate and concurrent requests: one order, one charge, one email</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Payment outage: retries, DLQ, redrive, order processed (local drill)</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The whole journey on the current build, run locally on 13 Oct</a:t>
            </a:r>
            <a:endParaRPr lang="en-US" sz="1200" dirty="0"/>
          </a:p>
        </p:txBody>
      </p:sp>
      <p:sp>
        <p:nvSpPr>
          <p:cNvPr id="10" name="Shape 8"/>
          <p:cNvSpPr/>
          <p:nvPr/>
        </p:nvSpPr>
        <p:spPr>
          <a:xfrm>
            <a:off x="8051597" y="1783080"/>
            <a:ext cx="3454298" cy="3886200"/>
          </a:xfrm>
          <a:prstGeom prst="rect">
            <a:avLst/>
          </a:prstGeom>
          <a:solidFill>
            <a:srgbClr val="F4EAD3"/>
          </a:solidFill>
          <a:ln/>
        </p:spPr>
      </p:sp>
      <p:sp>
        <p:nvSpPr>
          <p:cNvPr id="11" name="Text 9"/>
          <p:cNvSpPr txBox="1"/>
          <p:nvPr/>
        </p:nvSpPr>
        <p:spPr>
          <a:xfrm>
            <a:off x="8280197" y="1965960"/>
            <a:ext cx="2997098" cy="411480"/>
          </a:xfrm>
          <a:prstGeom prst="rect">
            <a:avLst/>
          </a:prstGeom>
          <a:noFill/>
          <a:ln/>
        </p:spPr>
        <p:txBody>
          <a:bodyPr wrap="square" lIns="0" tIns="0" rIns="0" bIns="0" rtlCol="0" anchor="t"/>
          <a:lstStyle/>
          <a:p>
            <a:pPr indent="0" marL="0">
              <a:buNone/>
            </a:pPr>
            <a:r>
              <a:rPr lang="en-US" sz="1100" b="1" spc="100" kern="0" dirty="0">
                <a:solidFill>
                  <a:srgbClr val="8A5A00"/>
                </a:solidFill>
                <a:latin typeface="JetBrains Mono" pitchFamily="34" charset="0"/>
                <a:ea typeface="JetBrains Mono" pitchFamily="34" charset="-122"/>
                <a:cs typeface="JetBrains Mono" pitchFamily="34" charset="-120"/>
              </a:rPr>
              <a:t>DEFINED IN CODE, NOT YET RUN</a:t>
            </a:r>
            <a:endParaRPr lang="en-US" sz="1100" dirty="0"/>
          </a:p>
        </p:txBody>
      </p:sp>
      <p:sp>
        <p:nvSpPr>
          <p:cNvPr id="12" name="Text 10"/>
          <p:cNvSpPr txBox="1"/>
          <p:nvPr/>
        </p:nvSpPr>
        <p:spPr>
          <a:xfrm>
            <a:off x="8280197" y="2377440"/>
            <a:ext cx="3042818" cy="3200400"/>
          </a:xfrm>
          <a:prstGeom prst="rect">
            <a:avLst/>
          </a:prstGeom>
          <a:noFill/>
          <a:ln/>
        </p:spPr>
        <p:txBody>
          <a:bodyPr wrap="square" lIns="0" tIns="0" rIns="0" bIns="0" rtlCol="0" anchor="t"/>
          <a:lstStyle/>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Staging and prod, including RDS and promotion between them</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k6 load tests: plan and scripts written, never executed</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A restore checked against known data; a chaos drill</a:t>
            </a:r>
            <a:endParaRPr lang="en-US" sz="1200" dirty="0"/>
          </a:p>
          <a:p>
            <a:pPr marL="152400" indent="-152400">
              <a:lnSpc>
                <a:spcPct val="108000"/>
              </a:lnSpc>
              <a:spcAft>
                <a:spcPts val="700"/>
              </a:spcAft>
              <a:buSzPct val="100000"/>
              <a:buChar char="•"/>
            </a:pPr>
            <a:r>
              <a:rPr lang="en-US" sz="1200" dirty="0">
                <a:solidFill>
                  <a:srgbClr val="242E46"/>
                </a:solidFill>
                <a:latin typeface="Inter" pitchFamily="34" charset="0"/>
                <a:ea typeface="Inter" pitchFamily="34" charset="-122"/>
                <a:cs typeface="Inter" pitchFamily="34" charset="-120"/>
              </a:rPr>
              <a:t>Argo Rollouts canary against a deliberately bad release</a:t>
            </a:r>
            <a:endParaRPr lang="en-US" sz="1200" dirty="0"/>
          </a:p>
        </p:txBody>
      </p:sp>
      <p:sp>
        <p:nvSpPr>
          <p:cNvPr id="13" name="Text 11"/>
          <p:cNvSpPr txBox="1"/>
          <p:nvPr/>
        </p:nvSpPr>
        <p:spPr>
          <a:xfrm>
            <a:off x="685800" y="5806440"/>
            <a:ext cx="10820095" cy="320040"/>
          </a:xfrm>
          <a:prstGeom prst="rect">
            <a:avLst/>
          </a:prstGeom>
          <a:noFill/>
          <a:ln/>
        </p:spPr>
        <p:txBody>
          <a:bodyPr wrap="square" lIns="0" tIns="0" rIns="0" bIns="0" rtlCol="0" anchor="t"/>
          <a:lstStyle/>
          <a:p>
            <a:pPr indent="0" marL="0">
              <a:buNone/>
            </a:pPr>
            <a:r>
              <a:rPr lang="en-US" sz="1250" b="1" dirty="0">
                <a:solidFill>
                  <a:srgbClr val="242E46"/>
                </a:solidFill>
                <a:latin typeface="Inter" pitchFamily="34" charset="0"/>
                <a:ea typeface="Inter" pitchFamily="34" charset="-122"/>
                <a:cs typeface="Inter" pitchFamily="34" charset="-120"/>
              </a:rPr>
              <a:t>Not claimed: </a:t>
            </a:r>
            <a:pPr indent="0" marL="0">
              <a:buNone/>
            </a:pPr>
            <a:r>
              <a:rPr lang="en-US" sz="1250" dirty="0">
                <a:solidFill>
                  <a:srgbClr val="4A5470"/>
                </a:solidFill>
                <a:latin typeface="Inter" pitchFamily="34" charset="0"/>
                <a:ea typeface="Inter" pitchFamily="34" charset="-122"/>
                <a:cs typeface="Inter" pitchFamily="34" charset="-120"/>
              </a:rPr>
              <a:t>zero downtime. A 30 to 60 second blip during an ArgoCD sync on 10 Oct still has no root cause.</a:t>
            </a:r>
            <a:endParaRPr lang="en-US" sz="12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ACT IV  ·  LIMITS AND NEXT STEPS</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3000" b="1" dirty="0">
                <a:solidFill>
                  <a:srgbClr val="242E46"/>
                </a:solidFill>
                <a:latin typeface="Manrope" pitchFamily="34" charset="0"/>
                <a:ea typeface="Manrope" pitchFamily="34" charset="-122"/>
                <a:cs typeface="Manrope" pitchFamily="34" charset="-120"/>
              </a:rPr>
              <a:t>Limits that matter, and what we would do next</a:t>
            </a:r>
            <a:endParaRPr lang="en-US" sz="3000" dirty="0"/>
          </a:p>
        </p:txBody>
      </p:sp>
      <p:sp>
        <p:nvSpPr>
          <p:cNvPr id="4" name="Text 2"/>
          <p:cNvSpPr txBox="1"/>
          <p:nvPr/>
        </p:nvSpPr>
        <p:spPr>
          <a:xfrm>
            <a:off x="685800" y="1783080"/>
            <a:ext cx="5760720" cy="219456"/>
          </a:xfrm>
          <a:prstGeom prst="rect">
            <a:avLst/>
          </a:prstGeom>
          <a:noFill/>
          <a:ln/>
        </p:spPr>
        <p:txBody>
          <a:bodyPr wrap="square" lIns="0" tIns="0" rIns="0" bIns="0" rtlCol="0" anchor="t"/>
          <a:lstStyle/>
          <a:p>
            <a:pPr indent="0" marL="0">
              <a:buNone/>
            </a:pPr>
            <a:r>
              <a:rPr lang="en-US" sz="1000" spc="120" kern="0" dirty="0">
                <a:solidFill>
                  <a:srgbClr val="B42318"/>
                </a:solidFill>
                <a:latin typeface="JetBrains Mono" pitchFamily="34" charset="0"/>
                <a:ea typeface="JetBrains Mono" pitchFamily="34" charset="-122"/>
                <a:cs typeface="JetBrains Mono" pitchFamily="34" charset="-120"/>
              </a:rPr>
              <a:t>LIMITS THAT MATTER</a:t>
            </a:r>
            <a:endParaRPr lang="en-US" sz="1000" dirty="0"/>
          </a:p>
        </p:txBody>
      </p:sp>
      <p:sp>
        <p:nvSpPr>
          <p:cNvPr id="5" name="Text 3"/>
          <p:cNvSpPr txBox="1"/>
          <p:nvPr/>
        </p:nvSpPr>
        <p:spPr>
          <a:xfrm>
            <a:off x="685800" y="2103120"/>
            <a:ext cx="5760720" cy="292608"/>
          </a:xfrm>
          <a:prstGeom prst="rect">
            <a:avLst/>
          </a:prstGeom>
          <a:noFill/>
          <a:ln/>
        </p:spPr>
        <p:txBody>
          <a:bodyPr wrap="square" lIns="0" tIns="0" rIns="0" bIns="0" rtlCol="0" anchor="t"/>
          <a:lstStyle/>
          <a:p>
            <a:pPr indent="0" marL="0">
              <a:buNone/>
            </a:pPr>
            <a:r>
              <a:rPr lang="en-US" sz="1400" b="1" dirty="0">
                <a:solidFill>
                  <a:srgbClr val="242E46"/>
                </a:solidFill>
                <a:latin typeface="Inter" pitchFamily="34" charset="0"/>
                <a:ea typeface="Inter" pitchFamily="34" charset="-122"/>
                <a:cs typeface="Inter" pitchFamily="34" charset="-120"/>
              </a:rPr>
              <a:t>Anyone can sign in.</a:t>
            </a:r>
            <a:endParaRPr lang="en-US" sz="1400" dirty="0"/>
          </a:p>
        </p:txBody>
      </p:sp>
      <p:sp>
        <p:nvSpPr>
          <p:cNvPr id="6" name="Text 4"/>
          <p:cNvSpPr txBox="1"/>
          <p:nvPr/>
        </p:nvSpPr>
        <p:spPr>
          <a:xfrm>
            <a:off x="685800" y="2404872"/>
            <a:ext cx="5760720" cy="54864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Login accepts any email, and every signed-in user sees every order.</a:t>
            </a:r>
            <a:endParaRPr lang="en-US" sz="1250" dirty="0"/>
          </a:p>
        </p:txBody>
      </p:sp>
      <p:sp>
        <p:nvSpPr>
          <p:cNvPr id="7" name="Shape 5"/>
          <p:cNvSpPr/>
          <p:nvPr/>
        </p:nvSpPr>
        <p:spPr>
          <a:xfrm>
            <a:off x="685800" y="2971800"/>
            <a:ext cx="5760720" cy="0"/>
          </a:xfrm>
          <a:prstGeom prst="line">
            <a:avLst/>
          </a:prstGeom>
          <a:noFill/>
          <a:ln w="9525">
            <a:solidFill>
              <a:srgbClr val="DBDADA"/>
            </a:solidFill>
            <a:prstDash val="solid"/>
          </a:ln>
        </p:spPr>
      </p:sp>
      <p:sp>
        <p:nvSpPr>
          <p:cNvPr id="8" name="Text 6"/>
          <p:cNvSpPr txBox="1"/>
          <p:nvPr/>
        </p:nvSpPr>
        <p:spPr>
          <a:xfrm>
            <a:off x="685800" y="3063240"/>
            <a:ext cx="5760720" cy="292608"/>
          </a:xfrm>
          <a:prstGeom prst="rect">
            <a:avLst/>
          </a:prstGeom>
          <a:noFill/>
          <a:ln/>
        </p:spPr>
        <p:txBody>
          <a:bodyPr wrap="square" lIns="0" tIns="0" rIns="0" bIns="0" rtlCol="0" anchor="t"/>
          <a:lstStyle/>
          <a:p>
            <a:pPr indent="0" marL="0">
              <a:buNone/>
            </a:pPr>
            <a:r>
              <a:rPr lang="en-US" sz="1400" b="1" dirty="0">
                <a:solidFill>
                  <a:srgbClr val="242E46"/>
                </a:solidFill>
                <a:latin typeface="Inter" pitchFamily="34" charset="0"/>
                <a:ea typeface="Inter" pitchFamily="34" charset="-122"/>
                <a:cs typeface="Inter" pitchFamily="34" charset="-120"/>
              </a:rPr>
              <a:t>Connections run out first.</a:t>
            </a:r>
            <a:endParaRPr lang="en-US" sz="1400" dirty="0"/>
          </a:p>
        </p:txBody>
      </p:sp>
      <p:sp>
        <p:nvSpPr>
          <p:cNvPr id="9" name="Text 7"/>
          <p:cNvSpPr txBox="1"/>
          <p:nvPr/>
        </p:nvSpPr>
        <p:spPr>
          <a:xfrm>
            <a:off x="685800" y="3364992"/>
            <a:ext cx="5760720" cy="54864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Seven pools allow 115 connections against Postgres's default 100.</a:t>
            </a:r>
            <a:endParaRPr lang="en-US" sz="1250" dirty="0"/>
          </a:p>
        </p:txBody>
      </p:sp>
      <p:sp>
        <p:nvSpPr>
          <p:cNvPr id="10" name="Shape 8"/>
          <p:cNvSpPr/>
          <p:nvPr/>
        </p:nvSpPr>
        <p:spPr>
          <a:xfrm>
            <a:off x="685800" y="3931920"/>
            <a:ext cx="5760720" cy="0"/>
          </a:xfrm>
          <a:prstGeom prst="line">
            <a:avLst/>
          </a:prstGeom>
          <a:noFill/>
          <a:ln w="9525">
            <a:solidFill>
              <a:srgbClr val="DBDADA"/>
            </a:solidFill>
            <a:prstDash val="solid"/>
          </a:ln>
        </p:spPr>
      </p:sp>
      <p:sp>
        <p:nvSpPr>
          <p:cNvPr id="11" name="Text 9"/>
          <p:cNvSpPr txBox="1"/>
          <p:nvPr/>
        </p:nvSpPr>
        <p:spPr>
          <a:xfrm>
            <a:off x="685800" y="4023360"/>
            <a:ext cx="5760720" cy="292608"/>
          </a:xfrm>
          <a:prstGeom prst="rect">
            <a:avLst/>
          </a:prstGeom>
          <a:noFill/>
          <a:ln/>
        </p:spPr>
        <p:txBody>
          <a:bodyPr wrap="square" lIns="0" tIns="0" rIns="0" bIns="0" rtlCol="0" anchor="t"/>
          <a:lstStyle/>
          <a:p>
            <a:pPr indent="0" marL="0">
              <a:buNone/>
            </a:pPr>
            <a:r>
              <a:rPr lang="en-US" sz="1400" b="1" dirty="0">
                <a:solidFill>
                  <a:srgbClr val="242E46"/>
                </a:solidFill>
                <a:latin typeface="Inter" pitchFamily="34" charset="0"/>
                <a:ea typeface="Inter" pitchFamily="34" charset="-122"/>
                <a:cs typeface="Inter" pitchFamily="34" charset="-120"/>
              </a:rPr>
              <a:t>Two event types bypass the outbox.</a:t>
            </a:r>
            <a:endParaRPr lang="en-US" sz="1400" dirty="0"/>
          </a:p>
        </p:txBody>
      </p:sp>
      <p:sp>
        <p:nvSpPr>
          <p:cNvPr id="12" name="Text 10"/>
          <p:cNvSpPr txBox="1"/>
          <p:nvPr/>
        </p:nvSpPr>
        <p:spPr>
          <a:xfrm>
            <a:off x="685800" y="4325112"/>
            <a:ext cx="5760720" cy="54864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Payment and shipment events are only logged, and the DLQ alarm notifies nobody.</a:t>
            </a:r>
            <a:endParaRPr lang="en-US" sz="1250" dirty="0"/>
          </a:p>
        </p:txBody>
      </p:sp>
      <p:sp>
        <p:nvSpPr>
          <p:cNvPr id="13" name="Shape 11"/>
          <p:cNvSpPr/>
          <p:nvPr/>
        </p:nvSpPr>
        <p:spPr>
          <a:xfrm>
            <a:off x="685800" y="4892040"/>
            <a:ext cx="5760720" cy="0"/>
          </a:xfrm>
          <a:prstGeom prst="line">
            <a:avLst/>
          </a:prstGeom>
          <a:noFill/>
          <a:ln w="9525">
            <a:solidFill>
              <a:srgbClr val="DBDADA"/>
            </a:solidFill>
            <a:prstDash val="solid"/>
          </a:ln>
        </p:spPr>
      </p:sp>
      <p:sp>
        <p:nvSpPr>
          <p:cNvPr id="14" name="Text 12"/>
          <p:cNvSpPr txBox="1"/>
          <p:nvPr/>
        </p:nvSpPr>
        <p:spPr>
          <a:xfrm>
            <a:off x="685800" y="4983480"/>
            <a:ext cx="5760720" cy="292608"/>
          </a:xfrm>
          <a:prstGeom prst="rect">
            <a:avLst/>
          </a:prstGeom>
          <a:noFill/>
          <a:ln/>
        </p:spPr>
        <p:txBody>
          <a:bodyPr wrap="square" lIns="0" tIns="0" rIns="0" bIns="0" rtlCol="0" anchor="t"/>
          <a:lstStyle/>
          <a:p>
            <a:pPr indent="0" marL="0">
              <a:buNone/>
            </a:pPr>
            <a:r>
              <a:rPr lang="en-US" sz="1400" b="1" dirty="0">
                <a:solidFill>
                  <a:srgbClr val="242E46"/>
                </a:solidFill>
                <a:latin typeface="Inter" pitchFamily="34" charset="0"/>
                <a:ea typeface="Inter" pitchFamily="34" charset="-122"/>
                <a:cs typeface="Inter" pitchFamily="34" charset="-120"/>
              </a:rPr>
              <a:t>Dev Postgres lives in one AZ.</a:t>
            </a:r>
            <a:endParaRPr lang="en-US" sz="1400" dirty="0"/>
          </a:p>
        </p:txBody>
      </p:sp>
      <p:sp>
        <p:nvSpPr>
          <p:cNvPr id="15" name="Text 13"/>
          <p:cNvSpPr txBox="1"/>
          <p:nvPr/>
        </p:nvSpPr>
        <p:spPr>
          <a:xfrm>
            <a:off x="685800" y="5285232"/>
            <a:ext cx="5760720" cy="54864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Lose that AZ and writes stop until a snapshot is restored elsewhere.</a:t>
            </a:r>
            <a:endParaRPr lang="en-US" sz="1250" dirty="0"/>
          </a:p>
        </p:txBody>
      </p:sp>
      <p:sp>
        <p:nvSpPr>
          <p:cNvPr id="16" name="Shape 14"/>
          <p:cNvSpPr/>
          <p:nvPr/>
        </p:nvSpPr>
        <p:spPr>
          <a:xfrm>
            <a:off x="6812280" y="1783080"/>
            <a:ext cx="4693615" cy="4206240"/>
          </a:xfrm>
          <a:prstGeom prst="rect">
            <a:avLst/>
          </a:prstGeom>
          <a:solidFill>
            <a:srgbClr val="160B35"/>
          </a:solidFill>
          <a:ln/>
        </p:spPr>
      </p:sp>
      <p:sp>
        <p:nvSpPr>
          <p:cNvPr id="17" name="Text 15"/>
          <p:cNvSpPr txBox="1"/>
          <p:nvPr/>
        </p:nvSpPr>
        <p:spPr>
          <a:xfrm>
            <a:off x="7132320" y="1965960"/>
            <a:ext cx="4053535" cy="219456"/>
          </a:xfrm>
          <a:prstGeom prst="rect">
            <a:avLst/>
          </a:prstGeom>
          <a:noFill/>
          <a:ln/>
        </p:spPr>
        <p:txBody>
          <a:bodyPr wrap="square" lIns="0" tIns="0" rIns="0" bIns="0" rtlCol="0" anchor="t"/>
          <a:lstStyle/>
          <a:p>
            <a:pPr indent="0" marL="0">
              <a:buNone/>
            </a:pPr>
            <a:r>
              <a:rPr lang="en-US" sz="1050" b="1" spc="120" kern="0" dirty="0">
                <a:solidFill>
                  <a:srgbClr val="AE99F0"/>
                </a:solidFill>
                <a:latin typeface="JetBrains Mono" pitchFamily="34" charset="0"/>
                <a:ea typeface="JetBrains Mono" pitchFamily="34" charset="-122"/>
                <a:cs typeface="JetBrains Mono" pitchFamily="34" charset="-120"/>
              </a:rPr>
              <a:t>NEXT, IN THIS ORDER</a:t>
            </a:r>
            <a:endParaRPr lang="en-US" sz="1050" dirty="0"/>
          </a:p>
        </p:txBody>
      </p:sp>
      <p:sp>
        <p:nvSpPr>
          <p:cNvPr id="18" name="Text 16"/>
          <p:cNvSpPr txBox="1"/>
          <p:nvPr/>
        </p:nvSpPr>
        <p:spPr>
          <a:xfrm>
            <a:off x="7132320" y="2377440"/>
            <a:ext cx="640080" cy="457200"/>
          </a:xfrm>
          <a:prstGeom prst="rect">
            <a:avLst/>
          </a:prstGeom>
          <a:noFill/>
          <a:ln/>
        </p:spPr>
        <p:txBody>
          <a:bodyPr wrap="square" lIns="0" tIns="0" rIns="0" bIns="0" rtlCol="0" anchor="t"/>
          <a:lstStyle/>
          <a:p>
            <a:pPr indent="0" marL="0">
              <a:buNone/>
            </a:pPr>
            <a:r>
              <a:rPr lang="en-US" sz="2600" b="1" dirty="0">
                <a:solidFill>
                  <a:srgbClr val="AE99F0"/>
                </a:solidFill>
                <a:latin typeface="Manrope" pitchFamily="34" charset="0"/>
                <a:ea typeface="Manrope" pitchFamily="34" charset="-122"/>
                <a:cs typeface="Manrope" pitchFamily="34" charset="-120"/>
              </a:rPr>
              <a:t>01</a:t>
            </a:r>
            <a:endParaRPr lang="en-US" sz="2600" dirty="0"/>
          </a:p>
        </p:txBody>
      </p:sp>
      <p:sp>
        <p:nvSpPr>
          <p:cNvPr id="19" name="Text 17"/>
          <p:cNvSpPr txBox="1"/>
          <p:nvPr/>
        </p:nvSpPr>
        <p:spPr>
          <a:xfrm>
            <a:off x="7772400" y="2395728"/>
            <a:ext cx="3413455" cy="292608"/>
          </a:xfrm>
          <a:prstGeom prst="rect">
            <a:avLst/>
          </a:prstGeom>
          <a:noFill/>
          <a:ln/>
        </p:spPr>
        <p:txBody>
          <a:bodyPr wrap="square" lIns="0" tIns="0" rIns="0" bIns="0" rtlCol="0" anchor="t"/>
          <a:lstStyle/>
          <a:p>
            <a:pPr indent="0" marL="0">
              <a:buNone/>
            </a:pPr>
            <a:r>
              <a:rPr lang="en-US" sz="1400" b="1" dirty="0">
                <a:solidFill>
                  <a:srgbClr val="F3F2F8"/>
                </a:solidFill>
                <a:latin typeface="Inter" pitchFamily="34" charset="0"/>
                <a:ea typeface="Inter" pitchFamily="34" charset="-122"/>
                <a:cs typeface="Inter" pitchFamily="34" charset="-120"/>
              </a:rPr>
              <a:t>Measure before tuning.</a:t>
            </a:r>
            <a:endParaRPr lang="en-US" sz="1400" dirty="0"/>
          </a:p>
        </p:txBody>
      </p:sp>
      <p:sp>
        <p:nvSpPr>
          <p:cNvPr id="20" name="Text 18"/>
          <p:cNvSpPr txBox="1"/>
          <p:nvPr/>
        </p:nvSpPr>
        <p:spPr>
          <a:xfrm>
            <a:off x="7772400" y="2706624"/>
            <a:ext cx="3413455" cy="731520"/>
          </a:xfrm>
          <a:prstGeom prst="rect">
            <a:avLst/>
          </a:prstGeom>
          <a:noFill/>
          <a:ln/>
        </p:spPr>
        <p:txBody>
          <a:bodyPr wrap="square" lIns="0" tIns="0" rIns="0" bIns="0" rtlCol="0" anchor="t"/>
          <a:lstStyle/>
          <a:p>
            <a:pPr indent="0" marL="0">
              <a:lnSpc>
                <a:spcPct val="112000"/>
              </a:lnSpc>
              <a:buNone/>
            </a:pPr>
            <a:r>
              <a:rPr lang="en-US" sz="1200" dirty="0">
                <a:solidFill>
                  <a:srgbClr val="B3A6DC"/>
                </a:solidFill>
                <a:latin typeface="Inter" pitchFamily="34" charset="0"/>
                <a:ea typeface="Inter" pitchFamily="34" charset="-122"/>
                <a:cs typeface="Inter" pitchFamily="34" charset="-120"/>
              </a:rPr>
              <a:t>Run the k6 plan on dev, then size the pools or add PgBouncer from what it shows.</a:t>
            </a:r>
            <a:endParaRPr lang="en-US" sz="1200" dirty="0"/>
          </a:p>
        </p:txBody>
      </p:sp>
      <p:sp>
        <p:nvSpPr>
          <p:cNvPr id="21" name="Text 19"/>
          <p:cNvSpPr txBox="1"/>
          <p:nvPr/>
        </p:nvSpPr>
        <p:spPr>
          <a:xfrm>
            <a:off x="7132320" y="3547872"/>
            <a:ext cx="640080" cy="457200"/>
          </a:xfrm>
          <a:prstGeom prst="rect">
            <a:avLst/>
          </a:prstGeom>
          <a:noFill/>
          <a:ln/>
        </p:spPr>
        <p:txBody>
          <a:bodyPr wrap="square" lIns="0" tIns="0" rIns="0" bIns="0" rtlCol="0" anchor="t"/>
          <a:lstStyle/>
          <a:p>
            <a:pPr indent="0" marL="0">
              <a:buNone/>
            </a:pPr>
            <a:r>
              <a:rPr lang="en-US" sz="2600" b="1" dirty="0">
                <a:solidFill>
                  <a:srgbClr val="AE99F0"/>
                </a:solidFill>
                <a:latin typeface="Manrope" pitchFamily="34" charset="0"/>
                <a:ea typeface="Manrope" pitchFamily="34" charset="-122"/>
                <a:cs typeface="Manrope" pitchFamily="34" charset="-120"/>
              </a:rPr>
              <a:t>02</a:t>
            </a:r>
            <a:endParaRPr lang="en-US" sz="2600" dirty="0"/>
          </a:p>
        </p:txBody>
      </p:sp>
      <p:sp>
        <p:nvSpPr>
          <p:cNvPr id="22" name="Text 20"/>
          <p:cNvSpPr txBox="1"/>
          <p:nvPr/>
        </p:nvSpPr>
        <p:spPr>
          <a:xfrm>
            <a:off x="7772400" y="3566160"/>
            <a:ext cx="3413455" cy="292608"/>
          </a:xfrm>
          <a:prstGeom prst="rect">
            <a:avLst/>
          </a:prstGeom>
          <a:noFill/>
          <a:ln/>
        </p:spPr>
        <p:txBody>
          <a:bodyPr wrap="square" lIns="0" tIns="0" rIns="0" bIns="0" rtlCol="0" anchor="t"/>
          <a:lstStyle/>
          <a:p>
            <a:pPr indent="0" marL="0">
              <a:buNone/>
            </a:pPr>
            <a:r>
              <a:rPr lang="en-US" sz="1400" b="1" dirty="0">
                <a:solidFill>
                  <a:srgbClr val="F3F2F8"/>
                </a:solidFill>
                <a:latin typeface="Inter" pitchFamily="34" charset="0"/>
                <a:ea typeface="Inter" pitchFamily="34" charset="-122"/>
                <a:cs typeface="Inter" pitchFamily="34" charset="-120"/>
              </a:rPr>
              <a:t>Real identity.</a:t>
            </a:r>
            <a:endParaRPr lang="en-US" sz="1400" dirty="0"/>
          </a:p>
        </p:txBody>
      </p:sp>
      <p:sp>
        <p:nvSpPr>
          <p:cNvPr id="23" name="Text 21"/>
          <p:cNvSpPr txBox="1"/>
          <p:nvPr/>
        </p:nvSpPr>
        <p:spPr>
          <a:xfrm>
            <a:off x="7772400" y="3877056"/>
            <a:ext cx="3413455" cy="731520"/>
          </a:xfrm>
          <a:prstGeom prst="rect">
            <a:avLst/>
          </a:prstGeom>
          <a:noFill/>
          <a:ln/>
        </p:spPr>
        <p:txBody>
          <a:bodyPr wrap="square" lIns="0" tIns="0" rIns="0" bIns="0" rtlCol="0" anchor="t"/>
          <a:lstStyle/>
          <a:p>
            <a:pPr indent="0" marL="0">
              <a:lnSpc>
                <a:spcPct val="112000"/>
              </a:lnSpc>
              <a:buNone/>
            </a:pPr>
            <a:r>
              <a:rPr lang="en-US" sz="1200" dirty="0">
                <a:solidFill>
                  <a:srgbClr val="B3A6DC"/>
                </a:solidFill>
                <a:latin typeface="Inter" pitchFamily="34" charset="0"/>
                <a:ea typeface="Inter" pitchFamily="34" charset="-122"/>
                <a:cs typeface="Inter" pitchFamily="34" charset="-120"/>
              </a:rPr>
              <a:t>Customer accounts and ownership checks at the gateway, before any real user.</a:t>
            </a:r>
            <a:endParaRPr lang="en-US" sz="1200" dirty="0"/>
          </a:p>
        </p:txBody>
      </p:sp>
      <p:sp>
        <p:nvSpPr>
          <p:cNvPr id="24" name="Text 22"/>
          <p:cNvSpPr txBox="1"/>
          <p:nvPr/>
        </p:nvSpPr>
        <p:spPr>
          <a:xfrm>
            <a:off x="7132320" y="4718304"/>
            <a:ext cx="640080" cy="457200"/>
          </a:xfrm>
          <a:prstGeom prst="rect">
            <a:avLst/>
          </a:prstGeom>
          <a:noFill/>
          <a:ln/>
        </p:spPr>
        <p:txBody>
          <a:bodyPr wrap="square" lIns="0" tIns="0" rIns="0" bIns="0" rtlCol="0" anchor="t"/>
          <a:lstStyle/>
          <a:p>
            <a:pPr indent="0" marL="0">
              <a:buNone/>
            </a:pPr>
            <a:r>
              <a:rPr lang="en-US" sz="2600" b="1" dirty="0">
                <a:solidFill>
                  <a:srgbClr val="AE99F0"/>
                </a:solidFill>
                <a:latin typeface="Manrope" pitchFamily="34" charset="0"/>
                <a:ea typeface="Manrope" pitchFamily="34" charset="-122"/>
                <a:cs typeface="Manrope" pitchFamily="34" charset="-120"/>
              </a:rPr>
              <a:t>03</a:t>
            </a:r>
            <a:endParaRPr lang="en-US" sz="2600" dirty="0"/>
          </a:p>
        </p:txBody>
      </p:sp>
      <p:sp>
        <p:nvSpPr>
          <p:cNvPr id="25" name="Text 23"/>
          <p:cNvSpPr txBox="1"/>
          <p:nvPr/>
        </p:nvSpPr>
        <p:spPr>
          <a:xfrm>
            <a:off x="7772400" y="4736592"/>
            <a:ext cx="3413455" cy="292608"/>
          </a:xfrm>
          <a:prstGeom prst="rect">
            <a:avLst/>
          </a:prstGeom>
          <a:noFill/>
          <a:ln/>
        </p:spPr>
        <p:txBody>
          <a:bodyPr wrap="square" lIns="0" tIns="0" rIns="0" bIns="0" rtlCol="0" anchor="t"/>
          <a:lstStyle/>
          <a:p>
            <a:pPr indent="0" marL="0">
              <a:buNone/>
            </a:pPr>
            <a:r>
              <a:rPr lang="en-US" sz="1400" b="1" dirty="0">
                <a:solidFill>
                  <a:srgbClr val="F3F2F8"/>
                </a:solidFill>
                <a:latin typeface="Inter" pitchFamily="34" charset="0"/>
                <a:ea typeface="Inter" pitchFamily="34" charset="-122"/>
                <a:cs typeface="Inter" pitchFamily="34" charset="-120"/>
              </a:rPr>
              <a:t>Rehearse the bad day.</a:t>
            </a:r>
            <a:endParaRPr lang="en-US" sz="1400" dirty="0"/>
          </a:p>
        </p:txBody>
      </p:sp>
      <p:sp>
        <p:nvSpPr>
          <p:cNvPr id="26" name="Text 24"/>
          <p:cNvSpPr txBox="1"/>
          <p:nvPr/>
        </p:nvSpPr>
        <p:spPr>
          <a:xfrm>
            <a:off x="7772400" y="5047488"/>
            <a:ext cx="3413455" cy="731520"/>
          </a:xfrm>
          <a:prstGeom prst="rect">
            <a:avLst/>
          </a:prstGeom>
          <a:noFill/>
          <a:ln/>
        </p:spPr>
        <p:txBody>
          <a:bodyPr wrap="square" lIns="0" tIns="0" rIns="0" bIns="0" rtlCol="0" anchor="t"/>
          <a:lstStyle/>
          <a:p>
            <a:pPr indent="0" marL="0">
              <a:lnSpc>
                <a:spcPct val="112000"/>
              </a:lnSpc>
              <a:buNone/>
            </a:pPr>
            <a:r>
              <a:rPr lang="en-US" sz="1200" dirty="0">
                <a:solidFill>
                  <a:srgbClr val="B3A6DC"/>
                </a:solidFill>
                <a:latin typeface="Inter" pitchFamily="34" charset="0"/>
                <a:ea typeface="Inter" pitchFamily="34" charset="-122"/>
                <a:cs typeface="Inter" pitchFamily="34" charset="-120"/>
              </a:rPr>
              <a:t>Stand up staging, restore a snapshot against known data, roll back a bad release on purpose.</a:t>
            </a:r>
            <a:endParaRPr lang="en-US" sz="12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658368"/>
            <a:ext cx="5486400" cy="274320"/>
          </a:xfrm>
          <a:prstGeom prst="rect">
            <a:avLst/>
          </a:prstGeom>
          <a:noFill/>
          <a:ln/>
        </p:spPr>
        <p:txBody>
          <a:bodyPr wrap="square" lIns="0" tIns="0" rIns="0" bIns="0" rtlCol="0" anchor="t"/>
          <a:lstStyle/>
          <a:p>
            <a:pPr indent="0" marL="0">
              <a:buNone/>
            </a:pPr>
            <a:r>
              <a:rPr lang="en-US" sz="1100" spc="200" kern="0" dirty="0">
                <a:solidFill>
                  <a:srgbClr val="B3A6DC"/>
                </a:solidFill>
                <a:latin typeface="JetBrains Mono" pitchFamily="34" charset="0"/>
                <a:ea typeface="JetBrains Mono" pitchFamily="34" charset="-122"/>
                <a:cs typeface="JetBrains Mono" pitchFamily="34" charset="-120"/>
              </a:rPr>
              <a:t>KIT ROOM  ·  TEAM ALPHA</a:t>
            </a:r>
            <a:endParaRPr lang="en-US" sz="1100" dirty="0"/>
          </a:p>
        </p:txBody>
      </p:sp>
      <p:sp>
        <p:nvSpPr>
          <p:cNvPr id="3" name="Text 1"/>
          <p:cNvSpPr txBox="1"/>
          <p:nvPr/>
        </p:nvSpPr>
        <p:spPr>
          <a:xfrm>
            <a:off x="685800" y="1325880"/>
            <a:ext cx="10789920" cy="1828800"/>
          </a:xfrm>
          <a:prstGeom prst="rect">
            <a:avLst/>
          </a:prstGeom>
          <a:noFill/>
          <a:ln/>
        </p:spPr>
        <p:txBody>
          <a:bodyPr wrap="square" lIns="0" tIns="0" rIns="0" bIns="0" rtlCol="0" anchor="t"/>
          <a:lstStyle/>
          <a:p>
            <a:pPr indent="0" marL="0">
              <a:lnSpc>
                <a:spcPct val="95000"/>
              </a:lnSpc>
              <a:buNone/>
            </a:pPr>
            <a:r>
              <a:rPr lang="en-US" sz="5600" b="1" dirty="0">
                <a:solidFill>
                  <a:srgbClr val="F3F2F8"/>
                </a:solidFill>
                <a:latin typeface="Manrope" pitchFamily="34" charset="0"/>
                <a:ea typeface="Manrope" pitchFamily="34" charset="-122"/>
                <a:cs typeface="Manrope" pitchFamily="34" charset="-120"/>
              </a:rPr>
              <a:t>Engineered for the</a:t>
            </a:r>
            <a:endParaRPr lang="en-US" sz="5600" dirty="0"/>
          </a:p>
          <a:p>
            <a:pPr indent="0" marL="0">
              <a:lnSpc>
                <a:spcPct val="95000"/>
              </a:lnSpc>
              <a:buNone/>
            </a:pPr>
            <a:r>
              <a:rPr lang="en-US" sz="5600" b="1" dirty="0">
                <a:solidFill>
                  <a:srgbClr val="AE99F0"/>
                </a:solidFill>
                <a:latin typeface="Manrope" pitchFamily="34" charset="0"/>
                <a:ea typeface="Manrope" pitchFamily="34" charset="-122"/>
                <a:cs typeface="Manrope" pitchFamily="34" charset="-120"/>
              </a:rPr>
              <a:t>order that goes wrong.</a:t>
            </a:r>
            <a:endParaRPr lang="en-US" sz="5600" dirty="0"/>
          </a:p>
        </p:txBody>
      </p:sp>
      <p:sp>
        <p:nvSpPr>
          <p:cNvPr id="4" name="Shape 2"/>
          <p:cNvSpPr/>
          <p:nvPr/>
        </p:nvSpPr>
        <p:spPr>
          <a:xfrm>
            <a:off x="685800" y="3794760"/>
            <a:ext cx="3337560" cy="0"/>
          </a:xfrm>
          <a:prstGeom prst="line">
            <a:avLst/>
          </a:prstGeom>
          <a:noFill/>
          <a:ln w="9525">
            <a:solidFill>
              <a:srgbClr val="7A6CB4"/>
            </a:solidFill>
            <a:prstDash val="solid"/>
          </a:ln>
        </p:spPr>
      </p:sp>
      <p:sp>
        <p:nvSpPr>
          <p:cNvPr id="5" name="Text 3"/>
          <p:cNvSpPr txBox="1"/>
          <p:nvPr/>
        </p:nvSpPr>
        <p:spPr>
          <a:xfrm>
            <a:off x="685800" y="3931920"/>
            <a:ext cx="3337560" cy="237744"/>
          </a:xfrm>
          <a:prstGeom prst="rect">
            <a:avLst/>
          </a:prstGeom>
          <a:noFill/>
          <a:ln/>
        </p:spPr>
        <p:txBody>
          <a:bodyPr wrap="square" lIns="0" tIns="0" rIns="0" bIns="0" rtlCol="0" anchor="t"/>
          <a:lstStyle/>
          <a:p>
            <a:pPr indent="0" marL="0">
              <a:buNone/>
            </a:pPr>
            <a:r>
              <a:rPr lang="en-US" sz="1050" b="1" spc="120" kern="0" dirty="0">
                <a:solidFill>
                  <a:srgbClr val="AE99F0"/>
                </a:solidFill>
                <a:latin typeface="JetBrains Mono" pitchFamily="34" charset="0"/>
                <a:ea typeface="JetBrains Mono" pitchFamily="34" charset="-122"/>
                <a:cs typeface="JetBrains Mono" pitchFamily="34" charset="-120"/>
              </a:rPr>
              <a:t>IF SQS GOES QUIET</a:t>
            </a:r>
            <a:endParaRPr lang="en-US" sz="1050" dirty="0"/>
          </a:p>
        </p:txBody>
      </p:sp>
      <p:sp>
        <p:nvSpPr>
          <p:cNvPr id="6" name="Text 4"/>
          <p:cNvSpPr txBox="1"/>
          <p:nvPr/>
        </p:nvSpPr>
        <p:spPr>
          <a:xfrm>
            <a:off x="685800" y="4251960"/>
            <a:ext cx="3246120" cy="822960"/>
          </a:xfrm>
          <a:prstGeom prst="rect">
            <a:avLst/>
          </a:prstGeom>
          <a:noFill/>
          <a:ln/>
        </p:spPr>
        <p:txBody>
          <a:bodyPr wrap="square" lIns="0" tIns="0" rIns="0" bIns="0" rtlCol="0" anchor="t"/>
          <a:lstStyle/>
          <a:p>
            <a:pPr indent="0" marL="0">
              <a:lnSpc>
                <a:spcPct val="115000"/>
              </a:lnSpc>
              <a:buNone/>
            </a:pPr>
            <a:r>
              <a:rPr lang="en-US" sz="1500" dirty="0">
                <a:solidFill>
                  <a:srgbClr val="F3F2F8"/>
                </a:solidFill>
                <a:latin typeface="Inter" pitchFamily="34" charset="0"/>
                <a:ea typeface="Inter" pitchFamily="34" charset="-122"/>
                <a:cs typeface="Inter" pitchFamily="34" charset="-120"/>
              </a:rPr>
              <a:t>orders are still accepted. Their events wait in the outbox.</a:t>
            </a:r>
            <a:endParaRPr lang="en-US" sz="1500" dirty="0"/>
          </a:p>
        </p:txBody>
      </p:sp>
      <p:sp>
        <p:nvSpPr>
          <p:cNvPr id="7" name="Shape 5"/>
          <p:cNvSpPr/>
          <p:nvPr/>
        </p:nvSpPr>
        <p:spPr>
          <a:xfrm>
            <a:off x="4297680" y="3794760"/>
            <a:ext cx="3337560" cy="0"/>
          </a:xfrm>
          <a:prstGeom prst="line">
            <a:avLst/>
          </a:prstGeom>
          <a:noFill/>
          <a:ln w="9525">
            <a:solidFill>
              <a:srgbClr val="7A6CB4"/>
            </a:solidFill>
            <a:prstDash val="solid"/>
          </a:ln>
        </p:spPr>
      </p:sp>
      <p:sp>
        <p:nvSpPr>
          <p:cNvPr id="8" name="Text 6"/>
          <p:cNvSpPr txBox="1"/>
          <p:nvPr/>
        </p:nvSpPr>
        <p:spPr>
          <a:xfrm>
            <a:off x="4297680" y="3931920"/>
            <a:ext cx="3337560" cy="237744"/>
          </a:xfrm>
          <a:prstGeom prst="rect">
            <a:avLst/>
          </a:prstGeom>
          <a:noFill/>
          <a:ln/>
        </p:spPr>
        <p:txBody>
          <a:bodyPr wrap="square" lIns="0" tIns="0" rIns="0" bIns="0" rtlCol="0" anchor="t"/>
          <a:lstStyle/>
          <a:p>
            <a:pPr indent="0" marL="0">
              <a:buNone/>
            </a:pPr>
            <a:r>
              <a:rPr lang="en-US" sz="1050" b="1" spc="120" kern="0" dirty="0">
                <a:solidFill>
                  <a:srgbClr val="AE99F0"/>
                </a:solidFill>
                <a:latin typeface="JetBrains Mono" pitchFamily="34" charset="0"/>
                <a:ea typeface="JetBrains Mono" pitchFamily="34" charset="-122"/>
                <a:cs typeface="JetBrains Mono" pitchFamily="34" charset="-120"/>
              </a:rPr>
              <a:t>IF A REQUEST REPEATS</a:t>
            </a:r>
            <a:endParaRPr lang="en-US" sz="1050" dirty="0"/>
          </a:p>
        </p:txBody>
      </p:sp>
      <p:sp>
        <p:nvSpPr>
          <p:cNvPr id="9" name="Text 7"/>
          <p:cNvSpPr txBox="1"/>
          <p:nvPr/>
        </p:nvSpPr>
        <p:spPr>
          <a:xfrm>
            <a:off x="4297680" y="4251960"/>
            <a:ext cx="3246120" cy="822960"/>
          </a:xfrm>
          <a:prstGeom prst="rect">
            <a:avLst/>
          </a:prstGeom>
          <a:noFill/>
          <a:ln/>
        </p:spPr>
        <p:txBody>
          <a:bodyPr wrap="square" lIns="0" tIns="0" rIns="0" bIns="0" rtlCol="0" anchor="t"/>
          <a:lstStyle/>
          <a:p>
            <a:pPr indent="0" marL="0">
              <a:lnSpc>
                <a:spcPct val="115000"/>
              </a:lnSpc>
              <a:buNone/>
            </a:pPr>
            <a:r>
              <a:rPr lang="en-US" sz="1500" dirty="0">
                <a:solidFill>
                  <a:srgbClr val="F3F2F8"/>
                </a:solidFill>
                <a:latin typeface="Inter" pitchFamily="34" charset="0"/>
                <a:ea typeface="Inter" pitchFamily="34" charset="-122"/>
                <a:cs typeface="Inter" pitchFamily="34" charset="-120"/>
              </a:rPr>
              <a:t>nothing doubles. Keys and state checks absorb it.</a:t>
            </a:r>
            <a:endParaRPr lang="en-US" sz="1500" dirty="0"/>
          </a:p>
        </p:txBody>
      </p:sp>
      <p:sp>
        <p:nvSpPr>
          <p:cNvPr id="10" name="Shape 8"/>
          <p:cNvSpPr/>
          <p:nvPr/>
        </p:nvSpPr>
        <p:spPr>
          <a:xfrm>
            <a:off x="7909560" y="3794760"/>
            <a:ext cx="3337560" cy="0"/>
          </a:xfrm>
          <a:prstGeom prst="line">
            <a:avLst/>
          </a:prstGeom>
          <a:noFill/>
          <a:ln w="9525">
            <a:solidFill>
              <a:srgbClr val="7A6CB4"/>
            </a:solidFill>
            <a:prstDash val="solid"/>
          </a:ln>
        </p:spPr>
      </p:sp>
      <p:sp>
        <p:nvSpPr>
          <p:cNvPr id="11" name="Text 9"/>
          <p:cNvSpPr txBox="1"/>
          <p:nvPr/>
        </p:nvSpPr>
        <p:spPr>
          <a:xfrm>
            <a:off x="7909560" y="3931920"/>
            <a:ext cx="3337560" cy="237744"/>
          </a:xfrm>
          <a:prstGeom prst="rect">
            <a:avLst/>
          </a:prstGeom>
          <a:noFill/>
          <a:ln/>
        </p:spPr>
        <p:txBody>
          <a:bodyPr wrap="square" lIns="0" tIns="0" rIns="0" bIns="0" rtlCol="0" anchor="t"/>
          <a:lstStyle/>
          <a:p>
            <a:pPr indent="0" marL="0">
              <a:buNone/>
            </a:pPr>
            <a:r>
              <a:rPr lang="en-US" sz="1050" b="1" spc="120" kern="0" dirty="0">
                <a:solidFill>
                  <a:srgbClr val="AE99F0"/>
                </a:solidFill>
                <a:latin typeface="JetBrains Mono" pitchFamily="34" charset="0"/>
                <a:ea typeface="JetBrains Mono" pitchFamily="34" charset="-122"/>
                <a:cs typeface="JetBrains Mono" pitchFamily="34" charset="-120"/>
              </a:rPr>
              <a:t>IF THE REPO LEAKS</a:t>
            </a:r>
            <a:endParaRPr lang="en-US" sz="1050" dirty="0"/>
          </a:p>
        </p:txBody>
      </p:sp>
      <p:sp>
        <p:nvSpPr>
          <p:cNvPr id="12" name="Text 10"/>
          <p:cNvSpPr txBox="1"/>
          <p:nvPr/>
        </p:nvSpPr>
        <p:spPr>
          <a:xfrm>
            <a:off x="7909560" y="4251960"/>
            <a:ext cx="3246120" cy="822960"/>
          </a:xfrm>
          <a:prstGeom prst="rect">
            <a:avLst/>
          </a:prstGeom>
          <a:noFill/>
          <a:ln/>
        </p:spPr>
        <p:txBody>
          <a:bodyPr wrap="square" lIns="0" tIns="0" rIns="0" bIns="0" rtlCol="0" anchor="t"/>
          <a:lstStyle/>
          <a:p>
            <a:pPr indent="0" marL="0">
              <a:lnSpc>
                <a:spcPct val="115000"/>
              </a:lnSpc>
              <a:buNone/>
            </a:pPr>
            <a:r>
              <a:rPr lang="en-US" sz="1500" dirty="0">
                <a:solidFill>
                  <a:srgbClr val="F3F2F8"/>
                </a:solidFill>
                <a:latin typeface="Inter" pitchFamily="34" charset="0"/>
                <a:ea typeface="Inter" pitchFamily="34" charset="-122"/>
                <a:cs typeface="Inter" pitchFamily="34" charset="-120"/>
              </a:rPr>
              <a:t>it holds no AWS key. Pipelines and pods borrow short-lived roles.</a:t>
            </a:r>
            <a:endParaRPr lang="en-US" sz="1500" dirty="0"/>
          </a:p>
        </p:txBody>
      </p:sp>
      <p:sp>
        <p:nvSpPr>
          <p:cNvPr id="13" name="Text 11"/>
          <p:cNvSpPr txBox="1"/>
          <p:nvPr/>
        </p:nvSpPr>
        <p:spPr>
          <a:xfrm>
            <a:off x="685800" y="5394960"/>
            <a:ext cx="7315200" cy="320040"/>
          </a:xfrm>
          <a:prstGeom prst="rect">
            <a:avLst/>
          </a:prstGeom>
          <a:noFill/>
          <a:ln/>
        </p:spPr>
        <p:txBody>
          <a:bodyPr wrap="square" lIns="0" tIns="0" rIns="0" bIns="0" rtlCol="0" anchor="t"/>
          <a:lstStyle/>
          <a:p>
            <a:pPr indent="0" marL="0">
              <a:buNone/>
            </a:pPr>
            <a:r>
              <a:rPr lang="en-US" sz="1500" dirty="0">
                <a:solidFill>
                  <a:srgbClr val="B3A6DC"/>
                </a:solidFill>
                <a:latin typeface="Inter" pitchFamily="34" charset="0"/>
                <a:ea typeface="Inter" pitchFamily="34" charset="-122"/>
                <a:cs typeface="Inter" pitchFamily="34" charset="-120"/>
              </a:rPr>
              <a:t>Built for a $200 budget, by five engineers, in four weeks.</a:t>
            </a:r>
            <a:endParaRPr lang="en-US" sz="1500" dirty="0"/>
          </a:p>
        </p:txBody>
      </p:sp>
      <p:sp>
        <p:nvSpPr>
          <p:cNvPr id="14" name="Text 12"/>
          <p:cNvSpPr txBox="1"/>
          <p:nvPr/>
        </p:nvSpPr>
        <p:spPr>
          <a:xfrm>
            <a:off x="685800" y="6172200"/>
            <a:ext cx="8229600" cy="274320"/>
          </a:xfrm>
          <a:prstGeom prst="rect">
            <a:avLst/>
          </a:prstGeom>
          <a:noFill/>
          <a:ln/>
        </p:spPr>
        <p:txBody>
          <a:bodyPr wrap="square" lIns="0" tIns="0" rIns="0" bIns="0" rtlCol="0" anchor="t"/>
          <a:lstStyle/>
          <a:p>
            <a:pPr indent="0" marL="0">
              <a:buNone/>
            </a:pPr>
            <a:r>
              <a:rPr lang="en-US" sz="1000" spc="150" kern="0" dirty="0">
                <a:solidFill>
                  <a:srgbClr val="B3A6DC"/>
                </a:solidFill>
                <a:latin typeface="JetBrains Mono" pitchFamily="34" charset="0"/>
                <a:ea typeface="JetBrains Mono" pitchFamily="34" charset="-122"/>
                <a:cs typeface="JetBrains Mono" pitchFamily="34" charset="-120"/>
              </a:rPr>
              <a:t>QUESTIONS WELCOME  ·  APPENDIX A1 TO A8 HOLDS THE DETAIL</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APPENDIX A1  ·  DEPLOYMENT PIPELINE</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2600" b="1" dirty="0">
                <a:solidFill>
                  <a:srgbClr val="242E46"/>
                </a:solidFill>
                <a:latin typeface="Manrope" pitchFamily="34" charset="0"/>
                <a:ea typeface="Manrope" pitchFamily="34" charset="-122"/>
                <a:cs typeface="Manrope" pitchFamily="34" charset="-120"/>
              </a:rPr>
              <a:t>A change to payment-service, from commit to traffic</a:t>
            </a:r>
            <a:endParaRPr lang="en-US" sz="2600" dirty="0"/>
          </a:p>
        </p:txBody>
      </p:sp>
      <p:sp>
        <p:nvSpPr>
          <p:cNvPr id="5" name="Shape 2"/>
          <p:cNvSpPr/>
          <p:nvPr/>
        </p:nvSpPr>
        <p:spPr>
          <a:xfrm>
            <a:off x="685800" y="1783080"/>
            <a:ext cx="292608" cy="292608"/>
          </a:xfrm>
          <a:prstGeom prst="ellipse">
            <a:avLst/>
          </a:prstGeom>
          <a:solidFill>
            <a:srgbClr val="6C00FF"/>
          </a:solidFill>
          <a:ln/>
        </p:spPr>
      </p:sp>
      <p:sp>
        <p:nvSpPr>
          <p:cNvPr id="6" name="Text 3"/>
          <p:cNvSpPr txBox="1"/>
          <p:nvPr/>
        </p:nvSpPr>
        <p:spPr>
          <a:xfrm>
            <a:off x="685800" y="17830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1</a:t>
            </a:r>
            <a:endParaRPr lang="en-US" sz="1000" dirty="0"/>
          </a:p>
        </p:txBody>
      </p:sp>
      <p:sp>
        <p:nvSpPr>
          <p:cNvPr id="7" name="Text 4"/>
          <p:cNvSpPr txBox="1"/>
          <p:nvPr/>
        </p:nvSpPr>
        <p:spPr>
          <a:xfrm>
            <a:off x="1097280" y="1801368"/>
            <a:ext cx="2130552"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Pull request</a:t>
            </a:r>
            <a:endParaRPr lang="en-US" sz="1300" dirty="0"/>
          </a:p>
        </p:txBody>
      </p:sp>
      <p:sp>
        <p:nvSpPr>
          <p:cNvPr id="8" name="Text 5"/>
          <p:cNvSpPr txBox="1"/>
          <p:nvPr/>
        </p:nvSpPr>
        <p:spPr>
          <a:xfrm>
            <a:off x="685800" y="2194560"/>
            <a:ext cx="2542032" cy="155448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Only payment-service changed, so only its job runs: go vet, go test with the race detector, docker build, Trivy (fails on HIGH or CRITICAL).</a:t>
            </a:r>
            <a:endParaRPr lang="en-US" sz="1250" dirty="0"/>
          </a:p>
        </p:txBody>
      </p:sp>
      <p:sp>
        <p:nvSpPr>
          <p:cNvPr id="9" name="Shape 6"/>
          <p:cNvSpPr/>
          <p:nvPr/>
        </p:nvSpPr>
        <p:spPr>
          <a:xfrm>
            <a:off x="3410712" y="1783080"/>
            <a:ext cx="292608" cy="292608"/>
          </a:xfrm>
          <a:prstGeom prst="ellipse">
            <a:avLst/>
          </a:prstGeom>
          <a:solidFill>
            <a:srgbClr val="6C00FF"/>
          </a:solidFill>
          <a:ln/>
        </p:spPr>
      </p:sp>
      <p:sp>
        <p:nvSpPr>
          <p:cNvPr id="10" name="Text 7"/>
          <p:cNvSpPr txBox="1"/>
          <p:nvPr/>
        </p:nvSpPr>
        <p:spPr>
          <a:xfrm>
            <a:off x="3410712" y="17830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2</a:t>
            </a:r>
            <a:endParaRPr lang="en-US" sz="1000" dirty="0"/>
          </a:p>
        </p:txBody>
      </p:sp>
      <p:sp>
        <p:nvSpPr>
          <p:cNvPr id="11" name="Text 8"/>
          <p:cNvSpPr txBox="1"/>
          <p:nvPr/>
        </p:nvSpPr>
        <p:spPr>
          <a:xfrm>
            <a:off x="3822192" y="1801368"/>
            <a:ext cx="2130552"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Infra checks, if touched</a:t>
            </a:r>
            <a:endParaRPr lang="en-US" sz="1300" dirty="0"/>
          </a:p>
        </p:txBody>
      </p:sp>
      <p:sp>
        <p:nvSpPr>
          <p:cNvPr id="12" name="Text 9"/>
          <p:cNvSpPr txBox="1"/>
          <p:nvPr/>
        </p:nvSpPr>
        <p:spPr>
          <a:xfrm>
            <a:off x="3410712" y="2194560"/>
            <a:ext cx="2542032" cy="155448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helm lint and kubeconform on every rendered service; terraform fmt, validate, Checkov and a plan per environment.</a:t>
            </a:r>
            <a:endParaRPr lang="en-US" sz="1250" dirty="0"/>
          </a:p>
        </p:txBody>
      </p:sp>
      <p:sp>
        <p:nvSpPr>
          <p:cNvPr id="13" name="Shape 10"/>
          <p:cNvSpPr/>
          <p:nvPr/>
        </p:nvSpPr>
        <p:spPr>
          <a:xfrm>
            <a:off x="6135624" y="1783080"/>
            <a:ext cx="292608" cy="292608"/>
          </a:xfrm>
          <a:prstGeom prst="ellipse">
            <a:avLst/>
          </a:prstGeom>
          <a:solidFill>
            <a:srgbClr val="6C00FF"/>
          </a:solidFill>
          <a:ln/>
        </p:spPr>
      </p:sp>
      <p:sp>
        <p:nvSpPr>
          <p:cNvPr id="14" name="Text 11"/>
          <p:cNvSpPr txBox="1"/>
          <p:nvPr/>
        </p:nvSpPr>
        <p:spPr>
          <a:xfrm>
            <a:off x="6135624" y="17830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3</a:t>
            </a:r>
            <a:endParaRPr lang="en-US" sz="1000" dirty="0"/>
          </a:p>
        </p:txBody>
      </p:sp>
      <p:sp>
        <p:nvSpPr>
          <p:cNvPr id="15" name="Text 12"/>
          <p:cNvSpPr txBox="1"/>
          <p:nvPr/>
        </p:nvSpPr>
        <p:spPr>
          <a:xfrm>
            <a:off x="6547104" y="1801368"/>
            <a:ext cx="2130552"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Merge to main</a:t>
            </a:r>
            <a:endParaRPr lang="en-US" sz="1300" dirty="0"/>
          </a:p>
        </p:txBody>
      </p:sp>
      <p:sp>
        <p:nvSpPr>
          <p:cNvPr id="16" name="Text 13"/>
          <p:cNvSpPr txBox="1"/>
          <p:nvPr/>
        </p:nvSpPr>
        <p:spPr>
          <a:xfrm>
            <a:off x="6135624" y="2194560"/>
            <a:ext cx="2542032" cy="155448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The image is built once, tagged with the service and commit, and pushed to ECR. No other service is rebuilt.</a:t>
            </a:r>
            <a:endParaRPr lang="en-US" sz="1250" dirty="0"/>
          </a:p>
        </p:txBody>
      </p:sp>
      <p:sp>
        <p:nvSpPr>
          <p:cNvPr id="17" name="Shape 14"/>
          <p:cNvSpPr/>
          <p:nvPr/>
        </p:nvSpPr>
        <p:spPr>
          <a:xfrm>
            <a:off x="8860536" y="1783080"/>
            <a:ext cx="292608" cy="292608"/>
          </a:xfrm>
          <a:prstGeom prst="ellipse">
            <a:avLst/>
          </a:prstGeom>
          <a:solidFill>
            <a:srgbClr val="6C00FF"/>
          </a:solidFill>
          <a:ln/>
        </p:spPr>
      </p:sp>
      <p:sp>
        <p:nvSpPr>
          <p:cNvPr id="18" name="Text 15"/>
          <p:cNvSpPr txBox="1"/>
          <p:nvPr/>
        </p:nvSpPr>
        <p:spPr>
          <a:xfrm>
            <a:off x="8860536" y="17830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4</a:t>
            </a:r>
            <a:endParaRPr lang="en-US" sz="1000" dirty="0"/>
          </a:p>
        </p:txBody>
      </p:sp>
      <p:sp>
        <p:nvSpPr>
          <p:cNvPr id="19" name="Text 16"/>
          <p:cNvSpPr txBox="1"/>
          <p:nvPr/>
        </p:nvSpPr>
        <p:spPr>
          <a:xfrm>
            <a:off x="9272016" y="1801368"/>
            <a:ext cx="2130552"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Tag commit</a:t>
            </a:r>
            <a:endParaRPr lang="en-US" sz="1300" dirty="0"/>
          </a:p>
        </p:txBody>
      </p:sp>
      <p:sp>
        <p:nvSpPr>
          <p:cNvPr id="20" name="Text 17"/>
          <p:cNvSpPr txBox="1"/>
          <p:nvPr/>
        </p:nvSpPr>
        <p:spPr>
          <a:xfrm>
            <a:off x="8860536" y="2194560"/>
            <a:ext cx="2542032" cy="155448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A GitHub App commits the new tag to the dev values file for payment-service. Git now says what dev should run.</a:t>
            </a:r>
            <a:endParaRPr lang="en-US" sz="1250" dirty="0"/>
          </a:p>
        </p:txBody>
      </p:sp>
      <p:sp>
        <p:nvSpPr>
          <p:cNvPr id="21" name="Shape 18"/>
          <p:cNvSpPr/>
          <p:nvPr/>
        </p:nvSpPr>
        <p:spPr>
          <a:xfrm>
            <a:off x="685800" y="3840480"/>
            <a:ext cx="292608" cy="292608"/>
          </a:xfrm>
          <a:prstGeom prst="ellipse">
            <a:avLst/>
          </a:prstGeom>
          <a:solidFill>
            <a:srgbClr val="6C00FF"/>
          </a:solidFill>
          <a:ln/>
        </p:spPr>
      </p:sp>
      <p:sp>
        <p:nvSpPr>
          <p:cNvPr id="22" name="Text 19"/>
          <p:cNvSpPr txBox="1"/>
          <p:nvPr/>
        </p:nvSpPr>
        <p:spPr>
          <a:xfrm>
            <a:off x="685800" y="38404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5</a:t>
            </a:r>
            <a:endParaRPr lang="en-US" sz="1000" dirty="0"/>
          </a:p>
        </p:txBody>
      </p:sp>
      <p:sp>
        <p:nvSpPr>
          <p:cNvPr id="23" name="Text 20"/>
          <p:cNvSpPr txBox="1"/>
          <p:nvPr/>
        </p:nvSpPr>
        <p:spPr>
          <a:xfrm>
            <a:off x="1097280" y="3858768"/>
            <a:ext cx="2130552"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ArgoCD sync</a:t>
            </a:r>
            <a:endParaRPr lang="en-US" sz="1300" dirty="0"/>
          </a:p>
        </p:txBody>
      </p:sp>
      <p:sp>
        <p:nvSpPr>
          <p:cNvPr id="24" name="Text 21"/>
          <p:cNvSpPr txBox="1"/>
          <p:nvPr/>
        </p:nvSpPr>
        <p:spPr>
          <a:xfrm>
            <a:off x="685800" y="4251960"/>
            <a:ext cx="2542032" cy="155448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Only payment-service-dev changes. The other eight Applications see no diff.</a:t>
            </a:r>
            <a:endParaRPr lang="en-US" sz="1250" dirty="0"/>
          </a:p>
        </p:txBody>
      </p:sp>
      <p:sp>
        <p:nvSpPr>
          <p:cNvPr id="25" name="Shape 22"/>
          <p:cNvSpPr/>
          <p:nvPr/>
        </p:nvSpPr>
        <p:spPr>
          <a:xfrm>
            <a:off x="3410712" y="3840480"/>
            <a:ext cx="292608" cy="292608"/>
          </a:xfrm>
          <a:prstGeom prst="ellipse">
            <a:avLst/>
          </a:prstGeom>
          <a:solidFill>
            <a:srgbClr val="6C00FF"/>
          </a:solidFill>
          <a:ln/>
        </p:spPr>
      </p:sp>
      <p:sp>
        <p:nvSpPr>
          <p:cNvPr id="26" name="Text 23"/>
          <p:cNvSpPr txBox="1"/>
          <p:nvPr/>
        </p:nvSpPr>
        <p:spPr>
          <a:xfrm>
            <a:off x="3410712" y="38404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6</a:t>
            </a:r>
            <a:endParaRPr lang="en-US" sz="1000" dirty="0"/>
          </a:p>
        </p:txBody>
      </p:sp>
      <p:sp>
        <p:nvSpPr>
          <p:cNvPr id="27" name="Text 24"/>
          <p:cNvSpPr txBox="1"/>
          <p:nvPr/>
        </p:nvSpPr>
        <p:spPr>
          <a:xfrm>
            <a:off x="3822192" y="3858768"/>
            <a:ext cx="2130552"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Canary</a:t>
            </a:r>
            <a:endParaRPr lang="en-US" sz="1300" dirty="0"/>
          </a:p>
        </p:txBody>
      </p:sp>
      <p:sp>
        <p:nvSpPr>
          <p:cNvPr id="28" name="Text 25"/>
          <p:cNvSpPr txBox="1"/>
          <p:nvPr/>
        </p:nvSpPr>
        <p:spPr>
          <a:xfrm>
            <a:off x="3410712" y="4251960"/>
            <a:ext cx="2542032" cy="155448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Argo Rollouts sends 50%, checks error rate (5% max) and p95 (500 ms max) in Prometheus, then 100%.</a:t>
            </a:r>
            <a:endParaRPr lang="en-US" sz="1250" dirty="0"/>
          </a:p>
        </p:txBody>
      </p:sp>
      <p:sp>
        <p:nvSpPr>
          <p:cNvPr id="29" name="Shape 26"/>
          <p:cNvSpPr/>
          <p:nvPr/>
        </p:nvSpPr>
        <p:spPr>
          <a:xfrm>
            <a:off x="6135624" y="3840480"/>
            <a:ext cx="292608" cy="292608"/>
          </a:xfrm>
          <a:prstGeom prst="ellipse">
            <a:avLst/>
          </a:prstGeom>
          <a:solidFill>
            <a:srgbClr val="242E46"/>
          </a:solidFill>
          <a:ln/>
        </p:spPr>
      </p:sp>
      <p:sp>
        <p:nvSpPr>
          <p:cNvPr id="30" name="Text 27"/>
          <p:cNvSpPr txBox="1"/>
          <p:nvPr/>
        </p:nvSpPr>
        <p:spPr>
          <a:xfrm>
            <a:off x="6135624" y="38404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7</a:t>
            </a:r>
            <a:endParaRPr lang="en-US" sz="1000" dirty="0"/>
          </a:p>
        </p:txBody>
      </p:sp>
      <p:sp>
        <p:nvSpPr>
          <p:cNvPr id="31" name="Text 28"/>
          <p:cNvSpPr txBox="1"/>
          <p:nvPr/>
        </p:nvSpPr>
        <p:spPr>
          <a:xfrm>
            <a:off x="6547104" y="3858768"/>
            <a:ext cx="2130552"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Promote</a:t>
            </a:r>
            <a:endParaRPr lang="en-US" sz="1300" dirty="0"/>
          </a:p>
        </p:txBody>
      </p:sp>
      <p:sp>
        <p:nvSpPr>
          <p:cNvPr id="32" name="Text 29"/>
          <p:cNvSpPr txBox="1"/>
          <p:nvPr/>
        </p:nvSpPr>
        <p:spPr>
          <a:xfrm>
            <a:off x="6135624" y="4251960"/>
            <a:ext cx="2542032" cy="155448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The Promote workflow opens a PR copying the tested tag to staging, then prod. Prod needs approval and a manual sync.</a:t>
            </a:r>
            <a:endParaRPr lang="en-US" sz="1250" dirty="0"/>
          </a:p>
        </p:txBody>
      </p:sp>
      <p:sp>
        <p:nvSpPr>
          <p:cNvPr id="33" name="Shape 30"/>
          <p:cNvSpPr/>
          <p:nvPr/>
        </p:nvSpPr>
        <p:spPr>
          <a:xfrm>
            <a:off x="8860536" y="3840480"/>
            <a:ext cx="292608" cy="292608"/>
          </a:xfrm>
          <a:prstGeom prst="ellipse">
            <a:avLst/>
          </a:prstGeom>
          <a:solidFill>
            <a:srgbClr val="242E46"/>
          </a:solidFill>
          <a:ln/>
        </p:spPr>
      </p:sp>
      <p:sp>
        <p:nvSpPr>
          <p:cNvPr id="34" name="Text 31"/>
          <p:cNvSpPr txBox="1"/>
          <p:nvPr/>
        </p:nvSpPr>
        <p:spPr>
          <a:xfrm>
            <a:off x="8860536" y="38404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8</a:t>
            </a:r>
            <a:endParaRPr lang="en-US" sz="1000" dirty="0"/>
          </a:p>
        </p:txBody>
      </p:sp>
      <p:sp>
        <p:nvSpPr>
          <p:cNvPr id="35" name="Text 32"/>
          <p:cNvSpPr txBox="1"/>
          <p:nvPr/>
        </p:nvSpPr>
        <p:spPr>
          <a:xfrm>
            <a:off x="9272016" y="3858768"/>
            <a:ext cx="2130552" cy="274320"/>
          </a:xfrm>
          <a:prstGeom prst="rect">
            <a:avLst/>
          </a:prstGeom>
          <a:noFill/>
          <a:ln/>
        </p:spPr>
        <p:txBody>
          <a:bodyPr wrap="square" lIns="0" tIns="0" rIns="0" bIns="0" rtlCol="0" anchor="t"/>
          <a:lstStyle/>
          <a:p>
            <a:pPr indent="0" marL="0">
              <a:buNone/>
            </a:pPr>
            <a:r>
              <a:rPr lang="en-US" sz="1300" b="1" dirty="0">
                <a:solidFill>
                  <a:srgbClr val="242E46"/>
                </a:solidFill>
                <a:latin typeface="Inter" pitchFamily="34" charset="0"/>
                <a:ea typeface="Inter" pitchFamily="34" charset="-122"/>
                <a:cs typeface="Inter" pitchFamily="34" charset="-120"/>
              </a:rPr>
              <a:t>Roll back</a:t>
            </a:r>
            <a:endParaRPr lang="en-US" sz="1300" dirty="0"/>
          </a:p>
        </p:txBody>
      </p:sp>
      <p:sp>
        <p:nvSpPr>
          <p:cNvPr id="36" name="Text 33"/>
          <p:cNvSpPr txBox="1"/>
          <p:nvPr/>
        </p:nvSpPr>
        <p:spPr>
          <a:xfrm>
            <a:off x="8860536" y="4251960"/>
            <a:ext cx="2542032" cy="1554480"/>
          </a:xfrm>
          <a:prstGeom prst="rect">
            <a:avLst/>
          </a:prstGeom>
          <a:noFill/>
          <a:ln/>
        </p:spPr>
        <p:txBody>
          <a:bodyPr wrap="square" lIns="0" tIns="0" rIns="0" bIns="0" rtlCol="0" anchor="t"/>
          <a:lstStyle/>
          <a:p>
            <a:pPr indent="0" marL="0">
              <a:lnSpc>
                <a:spcPct val="112000"/>
              </a:lnSpc>
              <a:buNone/>
            </a:pPr>
            <a:r>
              <a:rPr lang="en-US" sz="1250" dirty="0">
                <a:solidFill>
                  <a:srgbClr val="4A5470"/>
                </a:solidFill>
                <a:latin typeface="Inter" pitchFamily="34" charset="0"/>
                <a:ea typeface="Inter" pitchFamily="34" charset="-122"/>
                <a:cs typeface="Inter" pitchFamily="34" charset="-120"/>
              </a:rPr>
              <a:t>Revert the tag commit. The old image is still in ECR, so it is one rollout.</a:t>
            </a:r>
            <a:endParaRPr lang="en-US" sz="1250" dirty="0"/>
          </a:p>
        </p:txBody>
      </p:sp>
      <p:sp>
        <p:nvSpPr>
          <p:cNvPr id="37" name="Text 34"/>
          <p:cNvSpPr txBox="1"/>
          <p:nvPr/>
        </p:nvSpPr>
        <p:spPr>
          <a:xfrm>
            <a:off x="685800" y="5852160"/>
            <a:ext cx="10820095" cy="320040"/>
          </a:xfrm>
          <a:prstGeom prst="rect">
            <a:avLst/>
          </a:prstGeom>
          <a:noFill/>
          <a:ln/>
        </p:spPr>
        <p:txBody>
          <a:bodyPr wrap="square" lIns="0" tIns="0" rIns="0" bIns="0" rtlCol="0" anchor="t"/>
          <a:lstStyle/>
          <a:p>
            <a:pPr indent="0" marL="0">
              <a:buNone/>
            </a:pPr>
            <a:r>
              <a:rPr lang="en-US" sz="1200" dirty="0">
                <a:solidFill>
                  <a:srgbClr val="5B6480"/>
                </a:solidFill>
                <a:latin typeface="Inter" pitchFamily="34" charset="0"/>
                <a:ea typeface="Inter" pitchFamily="34" charset="-122"/>
                <a:cs typeface="Inter" pitchFamily="34" charset="-120"/>
              </a:rPr>
              <a:t>The canary landed last, in the 13 Oct sync. Not yet tried against a bad release; with no traffic its checks pass by default.</a:t>
            </a:r>
            <a:endParaRPr lang="en-US" sz="12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APPENDIX A2  ·  SECRETS</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2600" b="1" dirty="0">
                <a:solidFill>
                  <a:srgbClr val="242E46"/>
                </a:solidFill>
                <a:latin typeface="Manrope" pitchFamily="34" charset="0"/>
                <a:ea typeface="Manrope" pitchFamily="34" charset="-122"/>
                <a:cs typeface="Manrope" pitchFamily="34" charset="-120"/>
              </a:rPr>
              <a:t>From Secrets Manager to a pod, and what rotation does</a:t>
            </a:r>
            <a:endParaRPr lang="en-US" sz="2600" dirty="0"/>
          </a:p>
        </p:txBody>
      </p:sp>
      <p:sp>
        <p:nvSpPr>
          <p:cNvPr id="5" name="Shape 2"/>
          <p:cNvSpPr/>
          <p:nvPr/>
        </p:nvSpPr>
        <p:spPr>
          <a:xfrm>
            <a:off x="685800" y="1828800"/>
            <a:ext cx="1984248" cy="1325880"/>
          </a:xfrm>
          <a:prstGeom prst="rect">
            <a:avLst/>
          </a:prstGeom>
          <a:solidFill>
            <a:srgbClr val="FBFAF7"/>
          </a:solidFill>
          <a:ln w="9525">
            <a:solidFill>
              <a:srgbClr val="C2C3C5"/>
            </a:solidFill>
            <a:prstDash val="solid"/>
          </a:ln>
        </p:spPr>
      </p:sp>
      <p:sp>
        <p:nvSpPr>
          <p:cNvPr id="6" name="Text 3"/>
          <p:cNvSpPr txBox="1"/>
          <p:nvPr/>
        </p:nvSpPr>
        <p:spPr>
          <a:xfrm>
            <a:off x="795528" y="1911096"/>
            <a:ext cx="1764792"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Terraform</a:t>
            </a:r>
            <a:endParaRPr lang="en-US" sz="1100" dirty="0"/>
          </a:p>
        </p:txBody>
      </p:sp>
      <p:sp>
        <p:nvSpPr>
          <p:cNvPr id="7" name="Text 4"/>
          <p:cNvSpPr txBox="1"/>
          <p:nvPr/>
        </p:nvSpPr>
        <p:spPr>
          <a:xfrm>
            <a:off x="795528" y="2157984"/>
            <a:ext cx="1764792" cy="941832"/>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generates the JWT secret, DB password and Grafana password, write-only</a:t>
            </a:r>
            <a:endParaRPr lang="en-US" sz="1050" dirty="0"/>
          </a:p>
        </p:txBody>
      </p:sp>
      <p:sp>
        <p:nvSpPr>
          <p:cNvPr id="8" name="Shape 5"/>
          <p:cNvSpPr/>
          <p:nvPr/>
        </p:nvSpPr>
        <p:spPr>
          <a:xfrm>
            <a:off x="2670048" y="2487168"/>
            <a:ext cx="219456" cy="0"/>
          </a:xfrm>
          <a:prstGeom prst="line">
            <a:avLst/>
          </a:prstGeom>
          <a:noFill/>
          <a:ln w="15875">
            <a:solidFill>
              <a:srgbClr val="4A5470"/>
            </a:solidFill>
            <a:prstDash val="solid"/>
            <a:tailEnd type="triangle"/>
          </a:ln>
        </p:spPr>
      </p:sp>
      <p:sp>
        <p:nvSpPr>
          <p:cNvPr id="9" name="Shape 6"/>
          <p:cNvSpPr/>
          <p:nvPr/>
        </p:nvSpPr>
        <p:spPr>
          <a:xfrm>
            <a:off x="2889504" y="1828800"/>
            <a:ext cx="1984248" cy="1325880"/>
          </a:xfrm>
          <a:prstGeom prst="rect">
            <a:avLst/>
          </a:prstGeom>
          <a:solidFill>
            <a:srgbClr val="FBFAF7"/>
          </a:solidFill>
          <a:ln w="9525">
            <a:solidFill>
              <a:srgbClr val="C2C3C5"/>
            </a:solidFill>
            <a:prstDash val="solid"/>
          </a:ln>
        </p:spPr>
      </p:sp>
      <p:sp>
        <p:nvSpPr>
          <p:cNvPr id="10" name="Text 7"/>
          <p:cNvSpPr txBox="1"/>
          <p:nvPr/>
        </p:nvSpPr>
        <p:spPr>
          <a:xfrm>
            <a:off x="2999232" y="1911096"/>
            <a:ext cx="1764792"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Secrets Manager</a:t>
            </a:r>
            <a:endParaRPr lang="en-US" sz="1100" dirty="0"/>
          </a:p>
        </p:txBody>
      </p:sp>
      <p:sp>
        <p:nvSpPr>
          <p:cNvPr id="11" name="Text 8"/>
          <p:cNvSpPr txBox="1"/>
          <p:nvPr/>
        </p:nvSpPr>
        <p:spPr>
          <a:xfrm>
            <a:off x="2999232" y="2157984"/>
            <a:ext cx="1764792" cy="941832"/>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encrypted with a customer-managed KMS key</a:t>
            </a:r>
            <a:endParaRPr lang="en-US" sz="1050" dirty="0"/>
          </a:p>
        </p:txBody>
      </p:sp>
      <p:sp>
        <p:nvSpPr>
          <p:cNvPr id="12" name="Shape 9"/>
          <p:cNvSpPr/>
          <p:nvPr/>
        </p:nvSpPr>
        <p:spPr>
          <a:xfrm>
            <a:off x="4873752" y="2487168"/>
            <a:ext cx="219456" cy="0"/>
          </a:xfrm>
          <a:prstGeom prst="line">
            <a:avLst/>
          </a:prstGeom>
          <a:noFill/>
          <a:ln w="15875">
            <a:solidFill>
              <a:srgbClr val="4A5470"/>
            </a:solidFill>
            <a:prstDash val="solid"/>
            <a:tailEnd type="triangle"/>
          </a:ln>
        </p:spPr>
      </p:sp>
      <p:sp>
        <p:nvSpPr>
          <p:cNvPr id="13" name="Shape 10"/>
          <p:cNvSpPr/>
          <p:nvPr/>
        </p:nvSpPr>
        <p:spPr>
          <a:xfrm>
            <a:off x="5093208" y="1828800"/>
            <a:ext cx="1984248" cy="1325880"/>
          </a:xfrm>
          <a:prstGeom prst="rect">
            <a:avLst/>
          </a:prstGeom>
          <a:solidFill>
            <a:srgbClr val="FBFAF7"/>
          </a:solidFill>
          <a:ln w="9525">
            <a:solidFill>
              <a:srgbClr val="6C00FF"/>
            </a:solidFill>
            <a:prstDash val="solid"/>
          </a:ln>
        </p:spPr>
      </p:sp>
      <p:sp>
        <p:nvSpPr>
          <p:cNvPr id="14" name="Text 11"/>
          <p:cNvSpPr txBox="1"/>
          <p:nvPr/>
        </p:nvSpPr>
        <p:spPr>
          <a:xfrm>
            <a:off x="5202936" y="1911096"/>
            <a:ext cx="1764792"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External Secrets</a:t>
            </a:r>
            <a:endParaRPr lang="en-US" sz="1100" dirty="0"/>
          </a:p>
        </p:txBody>
      </p:sp>
      <p:sp>
        <p:nvSpPr>
          <p:cNvPr id="15" name="Text 12"/>
          <p:cNvSpPr txBox="1"/>
          <p:nvPr/>
        </p:nvSpPr>
        <p:spPr>
          <a:xfrm>
            <a:off x="5202936" y="2157984"/>
            <a:ext cx="1764792" cy="941832"/>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the only reader, through Pod Identity; refresh every 15 min</a:t>
            </a:r>
            <a:endParaRPr lang="en-US" sz="1050" dirty="0"/>
          </a:p>
        </p:txBody>
      </p:sp>
      <p:sp>
        <p:nvSpPr>
          <p:cNvPr id="16" name="Shape 13"/>
          <p:cNvSpPr/>
          <p:nvPr/>
        </p:nvSpPr>
        <p:spPr>
          <a:xfrm>
            <a:off x="7077456" y="2487168"/>
            <a:ext cx="219456" cy="0"/>
          </a:xfrm>
          <a:prstGeom prst="line">
            <a:avLst/>
          </a:prstGeom>
          <a:noFill/>
          <a:ln w="15875">
            <a:solidFill>
              <a:srgbClr val="4A5470"/>
            </a:solidFill>
            <a:prstDash val="solid"/>
            <a:tailEnd type="triangle"/>
          </a:ln>
        </p:spPr>
      </p:sp>
      <p:sp>
        <p:nvSpPr>
          <p:cNvPr id="17" name="Shape 14"/>
          <p:cNvSpPr/>
          <p:nvPr/>
        </p:nvSpPr>
        <p:spPr>
          <a:xfrm>
            <a:off x="7296912" y="1828800"/>
            <a:ext cx="1984248" cy="1325880"/>
          </a:xfrm>
          <a:prstGeom prst="rect">
            <a:avLst/>
          </a:prstGeom>
          <a:solidFill>
            <a:srgbClr val="FBFAF7"/>
          </a:solidFill>
          <a:ln w="9525">
            <a:solidFill>
              <a:srgbClr val="C2C3C5"/>
            </a:solidFill>
            <a:prstDash val="solid"/>
          </a:ln>
        </p:spPr>
      </p:sp>
      <p:sp>
        <p:nvSpPr>
          <p:cNvPr id="18" name="Text 15"/>
          <p:cNvSpPr txBox="1"/>
          <p:nvPr/>
        </p:nvSpPr>
        <p:spPr>
          <a:xfrm>
            <a:off x="7406640" y="1911096"/>
            <a:ext cx="1764792"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Kubernetes Secret</a:t>
            </a:r>
            <a:endParaRPr lang="en-US" sz="1100" dirty="0"/>
          </a:p>
        </p:txBody>
      </p:sp>
      <p:sp>
        <p:nvSpPr>
          <p:cNvPr id="19" name="Text 16"/>
          <p:cNvSpPr txBox="1"/>
          <p:nvPr/>
        </p:nvSpPr>
        <p:spPr>
          <a:xfrm>
            <a:off x="7406640" y="2157984"/>
            <a:ext cx="1764792" cy="941832"/>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one per service, only the keys it needs; KMS envelope encryption in etcd</a:t>
            </a:r>
            <a:endParaRPr lang="en-US" sz="1050" dirty="0"/>
          </a:p>
        </p:txBody>
      </p:sp>
      <p:sp>
        <p:nvSpPr>
          <p:cNvPr id="20" name="Shape 17"/>
          <p:cNvSpPr/>
          <p:nvPr/>
        </p:nvSpPr>
        <p:spPr>
          <a:xfrm>
            <a:off x="9281160" y="2487168"/>
            <a:ext cx="219456" cy="0"/>
          </a:xfrm>
          <a:prstGeom prst="line">
            <a:avLst/>
          </a:prstGeom>
          <a:noFill/>
          <a:ln w="15875">
            <a:solidFill>
              <a:srgbClr val="4A5470"/>
            </a:solidFill>
            <a:prstDash val="solid"/>
            <a:tailEnd type="triangle"/>
          </a:ln>
        </p:spPr>
      </p:sp>
      <p:sp>
        <p:nvSpPr>
          <p:cNvPr id="21" name="Shape 18"/>
          <p:cNvSpPr/>
          <p:nvPr/>
        </p:nvSpPr>
        <p:spPr>
          <a:xfrm>
            <a:off x="9500616" y="1828800"/>
            <a:ext cx="1984248" cy="1325880"/>
          </a:xfrm>
          <a:prstGeom prst="rect">
            <a:avLst/>
          </a:prstGeom>
          <a:solidFill>
            <a:srgbClr val="FBFAF7"/>
          </a:solidFill>
          <a:ln w="9525">
            <a:solidFill>
              <a:srgbClr val="C2C3C5"/>
            </a:solidFill>
            <a:prstDash val="solid"/>
          </a:ln>
        </p:spPr>
      </p:sp>
      <p:sp>
        <p:nvSpPr>
          <p:cNvPr id="22" name="Text 19"/>
          <p:cNvSpPr txBox="1"/>
          <p:nvPr/>
        </p:nvSpPr>
        <p:spPr>
          <a:xfrm>
            <a:off x="9610344" y="1911096"/>
            <a:ext cx="1764792" cy="237744"/>
          </a:xfrm>
          <a:prstGeom prst="rect">
            <a:avLst/>
          </a:prstGeom>
          <a:noFill/>
          <a:ln/>
        </p:spPr>
        <p:txBody>
          <a:bodyPr wrap="square" lIns="0" tIns="0" rIns="0" bIns="0" rtlCol="0" anchor="t"/>
          <a:lstStyle/>
          <a:p>
            <a:pPr indent="0" marL="0">
              <a:buNone/>
            </a:pPr>
            <a:r>
              <a:rPr lang="en-US" sz="1100" b="1" dirty="0">
                <a:solidFill>
                  <a:srgbClr val="242E46"/>
                </a:solidFill>
                <a:latin typeface="JetBrains Mono" pitchFamily="34" charset="0"/>
                <a:ea typeface="JetBrains Mono" pitchFamily="34" charset="-122"/>
                <a:cs typeface="JetBrains Mono" pitchFamily="34" charset="-120"/>
              </a:rPr>
              <a:t>Pod</a:t>
            </a:r>
            <a:endParaRPr lang="en-US" sz="1100" dirty="0"/>
          </a:p>
        </p:txBody>
      </p:sp>
      <p:sp>
        <p:nvSpPr>
          <p:cNvPr id="23" name="Text 20"/>
          <p:cNvSpPr txBox="1"/>
          <p:nvPr/>
        </p:nvSpPr>
        <p:spPr>
          <a:xfrm>
            <a:off x="9610344" y="2157984"/>
            <a:ext cx="1764792" cy="941832"/>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Inter" pitchFamily="34" charset="0"/>
                <a:ea typeface="Inter" pitchFamily="34" charset="-122"/>
                <a:cs typeface="Inter" pitchFamily="34" charset="-120"/>
              </a:rPr>
              <a:t>loads it as env vars; non-root, read-only filesystem, no SA token</a:t>
            </a:r>
            <a:endParaRPr lang="en-US" sz="10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3520440"/>
          <a:ext cx="10817352" cy="914400"/>
        </p:xfrm>
        <a:graphic>
          <a:graphicData uri="http://schemas.openxmlformats.org/drawingml/2006/table">
            <a:tbl>
              <a:tblPr/>
              <a:tblGrid>
                <a:gridCol w="2377440"/>
                <a:gridCol w="4206240"/>
                <a:gridCol w="4233672"/>
              </a:tblGrid>
              <a:tr h="0">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ROTATED</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WHO RESTARTS</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THE GAP</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JWT secret</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api-gateway only (Reloader watches its Secret)</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Tokens signed with the old secret stop working; users sign in again.</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Database password</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The seven services that use Postgres, one pod at a time</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Until the refresh lands (up to 15 min), new connections from old pods fail; open ones keep working.</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Who never restarts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The worker: it holds no secret at all</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It reaches SQS through Pod Identity, not a key.</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bl>
          </a:graphicData>
        </a:graphic>
      </p:graphicFrame>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APPENDIX A3  ·  SCALING</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2600" b="1" dirty="0">
                <a:solidFill>
                  <a:srgbClr val="242E46"/>
                </a:solidFill>
                <a:latin typeface="Manrope" pitchFamily="34" charset="0"/>
                <a:ea typeface="Manrope" pitchFamily="34" charset="-122"/>
                <a:cs typeface="Manrope" pitchFamily="34" charset="-120"/>
              </a:rPr>
              <a:t>What scales, on what signal, and what breaks first</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7223760" cy="914400"/>
        </p:xfrm>
        <a:graphic>
          <a:graphicData uri="http://schemas.openxmlformats.org/drawingml/2006/table">
            <a:tbl>
              <a:tblPr/>
              <a:tblGrid>
                <a:gridCol w="2468880"/>
                <a:gridCol w="2011680"/>
                <a:gridCol w="2743200"/>
              </a:tblGrid>
              <a:tr h="0">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COMPONENT</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SCALES ON</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LIMITS IN DEV</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api-gateway</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HPA, CPU 70%</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2 to 3 pods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Six HTTP services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HPA, CPU 70%</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1 to 3 pods each</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worker</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fixed</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1 pod. Queue depth (KEDA) is the better signal</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scheduler</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never</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1 pod. Chart refuses more, uses Recreate</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Postgres, Redis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never</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1 pod each, StatefulSet</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Nodes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Karpenter, pending pods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3 base t3.medium; on-demand only, 16 vCPU and 64 GiB cap</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bl>
          </a:graphicData>
        </a:graphic>
      </p:graphicFrame>
      <p:sp>
        <p:nvSpPr>
          <p:cNvPr id="6" name="Shape 2"/>
          <p:cNvSpPr/>
          <p:nvPr/>
        </p:nvSpPr>
        <p:spPr>
          <a:xfrm>
            <a:off x="8183880" y="1783080"/>
            <a:ext cx="3322015" cy="4206240"/>
          </a:xfrm>
          <a:prstGeom prst="rect">
            <a:avLst/>
          </a:prstGeom>
          <a:solidFill>
            <a:srgbClr val="160B35"/>
          </a:solidFill>
          <a:ln/>
        </p:spPr>
      </p:sp>
      <p:sp>
        <p:nvSpPr>
          <p:cNvPr id="7" name="Text 3"/>
          <p:cNvSpPr txBox="1"/>
          <p:nvPr/>
        </p:nvSpPr>
        <p:spPr>
          <a:xfrm>
            <a:off x="8412480" y="1938528"/>
            <a:ext cx="2864815" cy="274320"/>
          </a:xfrm>
          <a:prstGeom prst="rect">
            <a:avLst/>
          </a:prstGeom>
          <a:noFill/>
          <a:ln/>
        </p:spPr>
        <p:txBody>
          <a:bodyPr wrap="square" lIns="0" tIns="0" rIns="0" bIns="0" rtlCol="0" anchor="t"/>
          <a:lstStyle/>
          <a:p>
            <a:pPr indent="0" marL="0">
              <a:buNone/>
            </a:pPr>
            <a:r>
              <a:rPr lang="en-US" sz="1000" b="1" spc="100" kern="0" dirty="0">
                <a:solidFill>
                  <a:srgbClr val="AE99F0"/>
                </a:solidFill>
                <a:latin typeface="JetBrains Mono" pitchFamily="34" charset="0"/>
                <a:ea typeface="JetBrains Mono" pitchFamily="34" charset="-122"/>
                <a:cs typeface="JetBrains Mono" pitchFamily="34" charset="-120"/>
              </a:rPr>
              <a:t>WHAT BREAKS FIRST</a:t>
            </a:r>
            <a:endParaRPr lang="en-US" sz="1000" dirty="0"/>
          </a:p>
        </p:txBody>
      </p:sp>
      <p:sp>
        <p:nvSpPr>
          <p:cNvPr id="8" name="Text 4"/>
          <p:cNvSpPr txBox="1"/>
          <p:nvPr/>
        </p:nvSpPr>
        <p:spPr>
          <a:xfrm>
            <a:off x="8412480" y="2286000"/>
            <a:ext cx="2864815" cy="3566160"/>
          </a:xfrm>
          <a:prstGeom prst="rect">
            <a:avLst/>
          </a:prstGeom>
          <a:noFill/>
          <a:ln/>
        </p:spPr>
        <p:txBody>
          <a:bodyPr wrap="square" lIns="0" tIns="0" rIns="0" bIns="0" rtlCol="0" anchor="t"/>
          <a:lstStyle/>
          <a:p>
            <a:pPr indent="0" marL="0">
              <a:lnSpc>
                <a:spcPct val="110000"/>
              </a:lnSpc>
              <a:buNone/>
            </a:pPr>
            <a:r>
              <a:rPr lang="en-US" sz="1200" dirty="0">
                <a:solidFill>
                  <a:srgbClr val="AE99F0"/>
                </a:solidFill>
                <a:latin typeface="Inter" pitchFamily="34" charset="0"/>
                <a:ea typeface="Inter" pitchFamily="34" charset="-122"/>
                <a:cs typeface="Inter" pitchFamily="34" charset="-120"/>
              </a:rPr>
              <a:t>Reasoned from configuration, not measured.</a:t>
            </a:r>
            <a:endParaRPr lang="en-US" sz="1200" dirty="0"/>
          </a:p>
          <a:p>
            <a:pPr indent="0" marL="0">
              <a:lnSpc>
                <a:spcPct val="110000"/>
              </a:lnSpc>
              <a:buNone/>
            </a:pPr>
            <a:r>
              <a:rPr lang="en-US" sz="1200" dirty="0">
                <a:solidFill>
                  <a:srgbClr val="242E46"/>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b="1" dirty="0">
                <a:solidFill>
                  <a:srgbClr val="F3F2F8"/>
                </a:solidFill>
                <a:latin typeface="Inter" pitchFamily="34" charset="0"/>
                <a:ea typeface="Inter" pitchFamily="34" charset="-122"/>
                <a:cs typeface="Inter" pitchFamily="34" charset="-120"/>
              </a:rPr>
              <a:t>Connections. </a:t>
            </a:r>
            <a:pPr indent="0" marL="0">
              <a:lnSpc>
                <a:spcPct val="110000"/>
              </a:lnSpc>
              <a:buNone/>
            </a:pPr>
            <a:r>
              <a:rPr lang="en-US" sz="1200" dirty="0">
                <a:solidFill>
                  <a:srgbClr val="B3A6DC"/>
                </a:solidFill>
                <a:latin typeface="Inter" pitchFamily="34" charset="0"/>
                <a:ea typeface="Inter" pitchFamily="34" charset="-122"/>
                <a:cs typeface="Inter" pitchFamily="34" charset="-120"/>
              </a:rPr>
              <a:t>115 allowed by the pools, 100 by Postgres. Each new pod adds up to 25.</a:t>
            </a:r>
            <a:endParaRPr lang="en-US" sz="1200" dirty="0"/>
          </a:p>
          <a:p>
            <a:pPr indent="0" marL="0">
              <a:lnSpc>
                <a:spcPct val="110000"/>
              </a:lnSpc>
              <a:buNone/>
            </a:pPr>
            <a:r>
              <a:rPr lang="en-US" sz="1200" dirty="0">
                <a:solidFill>
                  <a:srgbClr val="242E46"/>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b="1" dirty="0">
                <a:solidFill>
                  <a:srgbClr val="F3F2F8"/>
                </a:solidFill>
                <a:latin typeface="Inter" pitchFamily="34" charset="0"/>
                <a:ea typeface="Inter" pitchFamily="34" charset="-122"/>
                <a:cs typeface="Inter" pitchFamily="34" charset="-120"/>
              </a:rPr>
              <a:t>Postgres itself. </a:t>
            </a:r>
            <a:pPr indent="0" marL="0">
              <a:lnSpc>
                <a:spcPct val="110000"/>
              </a:lnSpc>
              <a:buNone/>
            </a:pPr>
            <a:r>
              <a:rPr lang="en-US" sz="1200" dirty="0">
                <a:solidFill>
                  <a:srgbClr val="B3A6DC"/>
                </a:solidFill>
                <a:latin typeface="Inter" pitchFamily="34" charset="0"/>
                <a:ea typeface="Inter" pitchFamily="34" charset="-122"/>
                <a:cs typeface="Inter" pitchFamily="34" charset="-120"/>
              </a:rPr>
              <a:t>One writer on one volume.</a:t>
            </a:r>
            <a:endParaRPr lang="en-US" sz="1200" dirty="0"/>
          </a:p>
          <a:p>
            <a:pPr indent="0" marL="0">
              <a:lnSpc>
                <a:spcPct val="110000"/>
              </a:lnSpc>
              <a:buNone/>
            </a:pPr>
            <a:r>
              <a:rPr lang="en-US" sz="1200" dirty="0">
                <a:solidFill>
                  <a:srgbClr val="242E46"/>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b="1" dirty="0">
                <a:solidFill>
                  <a:srgbClr val="F3F2F8"/>
                </a:solidFill>
                <a:latin typeface="Inter" pitchFamily="34" charset="0"/>
                <a:ea typeface="Inter" pitchFamily="34" charset="-122"/>
                <a:cs typeface="Inter" pitchFamily="34" charset="-120"/>
              </a:rPr>
              <a:t>Redis down. </a:t>
            </a:r>
            <a:pPr indent="0" marL="0">
              <a:lnSpc>
                <a:spcPct val="110000"/>
              </a:lnSpc>
              <a:buNone/>
            </a:pPr>
            <a:r>
              <a:rPr lang="en-US" sz="1200" dirty="0">
                <a:solidFill>
                  <a:srgbClr val="B3A6DC"/>
                </a:solidFill>
                <a:latin typeface="Inter" pitchFamily="34" charset="0"/>
                <a:ea typeface="Inter" pitchFamily="34" charset="-122"/>
                <a:cs typeface="Inter" pitchFamily="34" charset="-120"/>
              </a:rPr>
              <a:t>The gateway fails open: up, but unthrottled.</a:t>
            </a:r>
            <a:endParaRPr lang="en-US" sz="1200" dirty="0"/>
          </a:p>
          <a:p>
            <a:pPr indent="0" marL="0">
              <a:lnSpc>
                <a:spcPct val="110000"/>
              </a:lnSpc>
              <a:buNone/>
            </a:pPr>
            <a:r>
              <a:rPr lang="en-US" sz="1200" dirty="0">
                <a:solidFill>
                  <a:srgbClr val="242E46"/>
                </a:solidFill>
                <a:latin typeface="Inter" pitchFamily="34" charset="0"/>
                <a:ea typeface="Inter" pitchFamily="34" charset="-122"/>
                <a:cs typeface="Inter" pitchFamily="34" charset="-120"/>
              </a:rPr>
              <a:t> </a:t>
            </a:r>
            <a:endParaRPr lang="en-US" sz="1200" dirty="0"/>
          </a:p>
          <a:p>
            <a:pPr indent="0" marL="0">
              <a:lnSpc>
                <a:spcPct val="110000"/>
              </a:lnSpc>
              <a:buNone/>
            </a:pPr>
            <a:r>
              <a:rPr lang="en-US" sz="1200" b="1" dirty="0">
                <a:solidFill>
                  <a:srgbClr val="F3F2F8"/>
                </a:solidFill>
                <a:latin typeface="Inter" pitchFamily="34" charset="0"/>
                <a:ea typeface="Inter" pitchFamily="34" charset="-122"/>
                <a:cs typeface="Inter" pitchFamily="34" charset="-120"/>
              </a:rPr>
              <a:t>Worker behind. </a:t>
            </a:r>
            <a:pPr indent="0" marL="0">
              <a:lnSpc>
                <a:spcPct val="110000"/>
              </a:lnSpc>
              <a:buNone/>
            </a:pPr>
            <a:r>
              <a:rPr lang="en-US" sz="1200" dirty="0">
                <a:solidFill>
                  <a:srgbClr val="B3A6DC"/>
                </a:solidFill>
                <a:latin typeface="Inter" pitchFamily="34" charset="0"/>
                <a:ea typeface="Inter" pitchFamily="34" charset="-122"/>
                <a:cs typeface="Inter" pitchFamily="34" charset="-120"/>
              </a:rPr>
              <a:t>SQS keeps the backlog for 4 days. Slower, not lost.</a:t>
            </a:r>
            <a:endParaRPr lang="en-US" sz="12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APPENDIX A4  ·  FAILURE SCENARIOS</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2600" b="1" dirty="0">
                <a:solidFill>
                  <a:srgbClr val="242E46"/>
                </a:solidFill>
                <a:latin typeface="Manrope" pitchFamily="34" charset="0"/>
                <a:ea typeface="Manrope" pitchFamily="34" charset="-122"/>
                <a:cs typeface="Manrope" pitchFamily="34" charset="-120"/>
              </a:rPr>
              <a:t>What happens when things fail, and how we know</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331720"/>
                <a:gridCol w="5669280"/>
                <a:gridCol w="2816352"/>
              </a:tblGrid>
              <a:tr h="0">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SCENARIO</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WHAT HAPPENS</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HOW WE KNOW</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Worker fails 3 times</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Not deleted, back after 60 s; third failure goes to the DLQ (kept 14 days). Redrive after the fix; steps are safe to repeat.</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Local drill, 24 Sep</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payment-service down 2 min</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Orders still accepted. Charges fail and the messages return; most succeed once it is back. Stock is held 15 min.</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Code path and local drill</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SQS or the NAT unreachable</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Orders accepted; outbox rows wait and the relay retries every second. The worker pauses.</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outbox tests</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Same order sent twice</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The same Idempotency-Key returns the first order.</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Smoke test on EKS, 8 Oct</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Bad notification-service image</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New pods fail readiness; old ones keep serving. Revert one tag commit; eight services untouched.</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Design; not drilled</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Postgres pod deleted</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StatefulSet recreates it on the same volume; services reconnect.</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Expected; not drilled</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AZ holding the dev DB lost</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Pod stays Pending. Restore the latest snapshot in another AZ, losing writes since.</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Procedure only</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bl>
          </a:graphicData>
        </a:graphic>
      </p:graphicFrame>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APPENDIX A5  ·  STORAGE AND RESTORE</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2600" b="1" dirty="0">
                <a:solidFill>
                  <a:srgbClr val="242E46"/>
                </a:solidFill>
                <a:latin typeface="Manrope" pitchFamily="34" charset="0"/>
                <a:ea typeface="Manrope" pitchFamily="34" charset="-122"/>
                <a:cs typeface="Manrope" pitchFamily="34" charset="-120"/>
              </a:rPr>
              <a:t>Dev database: storage, snapshots and restore</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5166360" cy="914400"/>
        </p:xfrm>
        <a:graphic>
          <a:graphicData uri="http://schemas.openxmlformats.org/drawingml/2006/table">
            <a:tbl>
              <a:tblPr/>
              <a:tblGrid>
                <a:gridCol w="1828800"/>
                <a:gridCol w="3337560"/>
              </a:tblGrid>
              <a:tr h="0">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SETTING</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VALUE</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Volume</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20 Gi gp3, encrypted (StorageClass)</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Placement</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WaitForFirstConsumer: disk in the pod's AZ</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Snapshots</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SnapScheduler, daily 01:00 UTC, keep 7</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Snapshot class</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ebs-csi, deletionPolicy Delete</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Redis</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AOF on a 1 Gi gp3 volume (brief: 10 Gi)</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00" b="1" dirty="0">
                          <a:solidFill>
                            <a:srgbClr val="242E46"/>
                          </a:solidFill>
                          <a:latin typeface="Inter" pitchFamily="34" charset="0"/>
                          <a:ea typeface="Inter" pitchFamily="34" charset="-122"/>
                          <a:cs typeface="Inter" pitchFamily="34" charset="-120"/>
                        </a:rPr>
                        <a:t>Migrations</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00" dirty="0">
                          <a:solidFill>
                            <a:srgbClr val="4A5470"/>
                          </a:solidFill>
                          <a:latin typeface="Inter" pitchFamily="34" charset="0"/>
                          <a:ea typeface="Inter" pitchFamily="34" charset="-122"/>
                          <a:cs typeface="Inter" pitchFamily="34" charset="-120"/>
                        </a:rPr>
                        <a:t>CREATE TABLE IF NOT EXISTS on start-up</a:t>
                      </a:r>
                      <a:endParaRPr lang="en-US" sz="120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bl>
          </a:graphicData>
        </a:graphic>
      </p:graphicFrame>
      <p:sp>
        <p:nvSpPr>
          <p:cNvPr id="6" name="Text 2"/>
          <p:cNvSpPr txBox="1"/>
          <p:nvPr/>
        </p:nvSpPr>
        <p:spPr>
          <a:xfrm>
            <a:off x="6263640" y="1783080"/>
            <a:ext cx="5242255" cy="219456"/>
          </a:xfrm>
          <a:prstGeom prst="rect">
            <a:avLst/>
          </a:prstGeom>
          <a:noFill/>
          <a:ln/>
        </p:spPr>
        <p:txBody>
          <a:bodyPr wrap="square" lIns="0" tIns="0" rIns="0" bIns="0" rtlCol="0" anchor="t"/>
          <a:lstStyle/>
          <a:p>
            <a:pPr indent="0" marL="0">
              <a:buNone/>
            </a:pPr>
            <a:r>
              <a:rPr lang="en-US" sz="1000" spc="120" kern="0" dirty="0">
                <a:solidFill>
                  <a:srgbClr val="5700D6"/>
                </a:solidFill>
                <a:latin typeface="JetBrains Mono" pitchFamily="34" charset="0"/>
                <a:ea typeface="JetBrains Mono" pitchFamily="34" charset="-122"/>
                <a:cs typeface="JetBrains Mono" pitchFamily="34" charset="-120"/>
              </a:rPr>
              <a:t>RESTORE: A NEW DISK, NEVER THE OLD ONE</a:t>
            </a:r>
            <a:endParaRPr lang="en-US" sz="1000" dirty="0"/>
          </a:p>
        </p:txBody>
      </p:sp>
      <p:sp>
        <p:nvSpPr>
          <p:cNvPr id="7" name="Shape 3"/>
          <p:cNvSpPr/>
          <p:nvPr/>
        </p:nvSpPr>
        <p:spPr>
          <a:xfrm>
            <a:off x="6263640" y="2103120"/>
            <a:ext cx="274320" cy="274320"/>
          </a:xfrm>
          <a:prstGeom prst="ellipse">
            <a:avLst/>
          </a:prstGeom>
          <a:solidFill>
            <a:srgbClr val="6C00FF"/>
          </a:solidFill>
          <a:ln/>
        </p:spPr>
      </p:sp>
      <p:sp>
        <p:nvSpPr>
          <p:cNvPr id="8" name="Text 4"/>
          <p:cNvSpPr txBox="1"/>
          <p:nvPr/>
        </p:nvSpPr>
        <p:spPr>
          <a:xfrm>
            <a:off x="6263640" y="21031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1</a:t>
            </a:r>
            <a:endParaRPr lang="en-US" sz="1000" dirty="0"/>
          </a:p>
        </p:txBody>
      </p:sp>
      <p:sp>
        <p:nvSpPr>
          <p:cNvPr id="9" name="Text 5"/>
          <p:cNvSpPr txBox="1"/>
          <p:nvPr/>
        </p:nvSpPr>
        <p:spPr>
          <a:xfrm>
            <a:off x="6675120" y="2130552"/>
            <a:ext cx="4830775" cy="274320"/>
          </a:xfrm>
          <a:prstGeom prst="rect">
            <a:avLst/>
          </a:prstGeom>
          <a:noFill/>
          <a:ln/>
        </p:spPr>
        <p:txBody>
          <a:bodyPr wrap="square" lIns="0" tIns="0" rIns="0" bIns="0" rtlCol="0" anchor="t"/>
          <a:lstStyle/>
          <a:p>
            <a:pPr indent="0" marL="0">
              <a:buNone/>
            </a:pPr>
            <a:r>
              <a:rPr lang="en-US" sz="1200" dirty="0">
                <a:solidFill>
                  <a:srgbClr val="242E46"/>
                </a:solidFill>
                <a:latin typeface="Inter" pitchFamily="34" charset="0"/>
                <a:ea typeface="Inter" pitchFamily="34" charset="-122"/>
                <a:cs typeface="Inter" pitchFamily="34" charset="-120"/>
              </a:rPr>
              <a:t>Take a snapshot of data-postgres-0; wait for READY</a:t>
            </a:r>
            <a:endParaRPr lang="en-US" sz="1200" dirty="0"/>
          </a:p>
        </p:txBody>
      </p:sp>
      <p:sp>
        <p:nvSpPr>
          <p:cNvPr id="10" name="Shape 6"/>
          <p:cNvSpPr/>
          <p:nvPr/>
        </p:nvSpPr>
        <p:spPr>
          <a:xfrm>
            <a:off x="6263640" y="2560320"/>
            <a:ext cx="274320" cy="274320"/>
          </a:xfrm>
          <a:prstGeom prst="ellipse">
            <a:avLst/>
          </a:prstGeom>
          <a:solidFill>
            <a:srgbClr val="6C00FF"/>
          </a:solidFill>
          <a:ln/>
        </p:spPr>
      </p:sp>
      <p:sp>
        <p:nvSpPr>
          <p:cNvPr id="11" name="Text 7"/>
          <p:cNvSpPr txBox="1"/>
          <p:nvPr/>
        </p:nvSpPr>
        <p:spPr>
          <a:xfrm>
            <a:off x="6263640" y="2560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2</a:t>
            </a:r>
            <a:endParaRPr lang="en-US" sz="1000" dirty="0"/>
          </a:p>
        </p:txBody>
      </p:sp>
      <p:sp>
        <p:nvSpPr>
          <p:cNvPr id="12" name="Text 8"/>
          <p:cNvSpPr txBox="1"/>
          <p:nvPr/>
        </p:nvSpPr>
        <p:spPr>
          <a:xfrm>
            <a:off x="6675120" y="2587752"/>
            <a:ext cx="4830775" cy="274320"/>
          </a:xfrm>
          <a:prstGeom prst="rect">
            <a:avLst/>
          </a:prstGeom>
          <a:noFill/>
          <a:ln/>
        </p:spPr>
        <p:txBody>
          <a:bodyPr wrap="square" lIns="0" tIns="0" rIns="0" bIns="0" rtlCol="0" anchor="t"/>
          <a:lstStyle/>
          <a:p>
            <a:pPr indent="0" marL="0">
              <a:buNone/>
            </a:pPr>
            <a:r>
              <a:rPr lang="en-US" sz="1200" dirty="0">
                <a:solidFill>
                  <a:srgbClr val="242E46"/>
                </a:solidFill>
                <a:latin typeface="Inter" pitchFamily="34" charset="0"/>
                <a:ea typeface="Inter" pitchFamily="34" charset="-122"/>
                <a:cs typeface="Inter" pitchFamily="34" charset="-120"/>
              </a:rPr>
              <a:t>Scale the Postgres StatefulSet to 0</a:t>
            </a:r>
            <a:endParaRPr lang="en-US" sz="1200" dirty="0"/>
          </a:p>
        </p:txBody>
      </p:sp>
      <p:sp>
        <p:nvSpPr>
          <p:cNvPr id="13" name="Shape 9"/>
          <p:cNvSpPr/>
          <p:nvPr/>
        </p:nvSpPr>
        <p:spPr>
          <a:xfrm>
            <a:off x="6263640" y="3017520"/>
            <a:ext cx="274320" cy="274320"/>
          </a:xfrm>
          <a:prstGeom prst="ellipse">
            <a:avLst/>
          </a:prstGeom>
          <a:solidFill>
            <a:srgbClr val="6C00FF"/>
          </a:solidFill>
          <a:ln/>
        </p:spPr>
      </p:sp>
      <p:sp>
        <p:nvSpPr>
          <p:cNvPr id="14" name="Text 10"/>
          <p:cNvSpPr txBox="1"/>
          <p:nvPr/>
        </p:nvSpPr>
        <p:spPr>
          <a:xfrm>
            <a:off x="6263640" y="30175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3</a:t>
            </a:r>
            <a:endParaRPr lang="en-US" sz="1000" dirty="0"/>
          </a:p>
        </p:txBody>
      </p:sp>
      <p:sp>
        <p:nvSpPr>
          <p:cNvPr id="15" name="Text 11"/>
          <p:cNvSpPr txBox="1"/>
          <p:nvPr/>
        </p:nvSpPr>
        <p:spPr>
          <a:xfrm>
            <a:off x="6675120" y="3044952"/>
            <a:ext cx="4830775" cy="274320"/>
          </a:xfrm>
          <a:prstGeom prst="rect">
            <a:avLst/>
          </a:prstGeom>
          <a:noFill/>
          <a:ln/>
        </p:spPr>
        <p:txBody>
          <a:bodyPr wrap="square" lIns="0" tIns="0" rIns="0" bIns="0" rtlCol="0" anchor="t"/>
          <a:lstStyle/>
          <a:p>
            <a:pPr indent="0" marL="0">
              <a:buNone/>
            </a:pPr>
            <a:r>
              <a:rPr lang="en-US" sz="1200" dirty="0">
                <a:solidFill>
                  <a:srgbClr val="242E46"/>
                </a:solidFill>
                <a:latin typeface="Inter" pitchFamily="34" charset="0"/>
                <a:ea typeface="Inter" pitchFamily="34" charset="-122"/>
                <a:cs typeface="Inter" pitchFamily="34" charset="-120"/>
              </a:rPr>
              <a:t>Delete the PVC data-postgres-0</a:t>
            </a:r>
            <a:endParaRPr lang="en-US" sz="1200" dirty="0"/>
          </a:p>
        </p:txBody>
      </p:sp>
      <p:sp>
        <p:nvSpPr>
          <p:cNvPr id="16" name="Shape 12"/>
          <p:cNvSpPr/>
          <p:nvPr/>
        </p:nvSpPr>
        <p:spPr>
          <a:xfrm>
            <a:off x="6263640" y="3474720"/>
            <a:ext cx="274320" cy="274320"/>
          </a:xfrm>
          <a:prstGeom prst="ellipse">
            <a:avLst/>
          </a:prstGeom>
          <a:solidFill>
            <a:srgbClr val="6C00FF"/>
          </a:solidFill>
          <a:ln/>
        </p:spPr>
      </p:sp>
      <p:sp>
        <p:nvSpPr>
          <p:cNvPr id="17" name="Text 13"/>
          <p:cNvSpPr txBox="1"/>
          <p:nvPr/>
        </p:nvSpPr>
        <p:spPr>
          <a:xfrm>
            <a:off x="6263640" y="34747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4</a:t>
            </a:r>
            <a:endParaRPr lang="en-US" sz="1000" dirty="0"/>
          </a:p>
        </p:txBody>
      </p:sp>
      <p:sp>
        <p:nvSpPr>
          <p:cNvPr id="18" name="Text 14"/>
          <p:cNvSpPr txBox="1"/>
          <p:nvPr/>
        </p:nvSpPr>
        <p:spPr>
          <a:xfrm>
            <a:off x="6675120" y="3502152"/>
            <a:ext cx="4830775" cy="274320"/>
          </a:xfrm>
          <a:prstGeom prst="rect">
            <a:avLst/>
          </a:prstGeom>
          <a:noFill/>
          <a:ln/>
        </p:spPr>
        <p:txBody>
          <a:bodyPr wrap="square" lIns="0" tIns="0" rIns="0" bIns="0" rtlCol="0" anchor="t"/>
          <a:lstStyle/>
          <a:p>
            <a:pPr indent="0" marL="0">
              <a:buNone/>
            </a:pPr>
            <a:r>
              <a:rPr lang="en-US" sz="1200" dirty="0">
                <a:solidFill>
                  <a:srgbClr val="242E46"/>
                </a:solidFill>
                <a:latin typeface="Inter" pitchFamily="34" charset="0"/>
                <a:ea typeface="Inter" pitchFamily="34" charset="-122"/>
                <a:cs typeface="Inter" pitchFamily="34" charset="-120"/>
              </a:rPr>
              <a:t>Create it again with the snapshot as dataSource</a:t>
            </a:r>
            <a:endParaRPr lang="en-US" sz="1200" dirty="0"/>
          </a:p>
        </p:txBody>
      </p:sp>
      <p:sp>
        <p:nvSpPr>
          <p:cNvPr id="19" name="Shape 15"/>
          <p:cNvSpPr/>
          <p:nvPr/>
        </p:nvSpPr>
        <p:spPr>
          <a:xfrm>
            <a:off x="6263640" y="3931920"/>
            <a:ext cx="274320" cy="274320"/>
          </a:xfrm>
          <a:prstGeom prst="ellipse">
            <a:avLst/>
          </a:prstGeom>
          <a:solidFill>
            <a:srgbClr val="6C00FF"/>
          </a:solidFill>
          <a:ln/>
        </p:spPr>
      </p:sp>
      <p:sp>
        <p:nvSpPr>
          <p:cNvPr id="20" name="Text 16"/>
          <p:cNvSpPr txBox="1"/>
          <p:nvPr/>
        </p:nvSpPr>
        <p:spPr>
          <a:xfrm>
            <a:off x="6263640" y="39319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JetBrains Mono" pitchFamily="34" charset="0"/>
                <a:ea typeface="JetBrains Mono" pitchFamily="34" charset="-122"/>
                <a:cs typeface="JetBrains Mono" pitchFamily="34" charset="-120"/>
              </a:rPr>
              <a:t>5</a:t>
            </a:r>
            <a:endParaRPr lang="en-US" sz="1000" dirty="0"/>
          </a:p>
        </p:txBody>
      </p:sp>
      <p:sp>
        <p:nvSpPr>
          <p:cNvPr id="21" name="Text 17"/>
          <p:cNvSpPr txBox="1"/>
          <p:nvPr/>
        </p:nvSpPr>
        <p:spPr>
          <a:xfrm>
            <a:off x="6675120" y="3959352"/>
            <a:ext cx="4830775" cy="274320"/>
          </a:xfrm>
          <a:prstGeom prst="rect">
            <a:avLst/>
          </a:prstGeom>
          <a:noFill/>
          <a:ln/>
        </p:spPr>
        <p:txBody>
          <a:bodyPr wrap="square" lIns="0" tIns="0" rIns="0" bIns="0" rtlCol="0" anchor="t"/>
          <a:lstStyle/>
          <a:p>
            <a:pPr indent="0" marL="0">
              <a:buNone/>
            </a:pPr>
            <a:r>
              <a:rPr lang="en-US" sz="1200" dirty="0">
                <a:solidFill>
                  <a:srgbClr val="242E46"/>
                </a:solidFill>
                <a:latin typeface="Inter" pitchFamily="34" charset="0"/>
                <a:ea typeface="Inter" pitchFamily="34" charset="-122"/>
                <a:cs typeface="Inter" pitchFamily="34" charset="-120"/>
              </a:rPr>
              <a:t>Scale back to 1, then check known orders are back</a:t>
            </a:r>
            <a:endParaRPr lang="en-US" sz="1200" dirty="0"/>
          </a:p>
        </p:txBody>
      </p:sp>
      <p:sp>
        <p:nvSpPr>
          <p:cNvPr id="22" name="Shape 18"/>
          <p:cNvSpPr/>
          <p:nvPr/>
        </p:nvSpPr>
        <p:spPr>
          <a:xfrm>
            <a:off x="6263640" y="4526280"/>
            <a:ext cx="5242255" cy="1417320"/>
          </a:xfrm>
          <a:prstGeom prst="rect">
            <a:avLst/>
          </a:prstGeom>
          <a:solidFill>
            <a:srgbClr val="F4EAD3"/>
          </a:solidFill>
          <a:ln/>
        </p:spPr>
      </p:sp>
      <p:sp>
        <p:nvSpPr>
          <p:cNvPr id="23" name="Text 19"/>
          <p:cNvSpPr txBox="1"/>
          <p:nvPr/>
        </p:nvSpPr>
        <p:spPr>
          <a:xfrm>
            <a:off x="6492240" y="4617720"/>
            <a:ext cx="4785055" cy="1280160"/>
          </a:xfrm>
          <a:prstGeom prst="rect">
            <a:avLst/>
          </a:prstGeom>
          <a:noFill/>
          <a:ln/>
        </p:spPr>
        <p:txBody>
          <a:bodyPr wrap="square" lIns="0" tIns="0" rIns="0" bIns="0" rtlCol="0" anchor="ctr"/>
          <a:lstStyle/>
          <a:p>
            <a:pPr indent="0" marL="0">
              <a:lnSpc>
                <a:spcPct val="112000"/>
              </a:lnSpc>
              <a:buNone/>
            </a:pPr>
            <a:r>
              <a:rPr lang="en-US" sz="1150" b="1" dirty="0">
                <a:solidFill>
                  <a:srgbClr val="8A5A00"/>
                </a:solidFill>
                <a:latin typeface="Inter" pitchFamily="34" charset="0"/>
                <a:ea typeface="Inter" pitchFamily="34" charset="-122"/>
                <a:cs typeface="Inter" pitchFamily="34" charset="-120"/>
              </a:rPr>
              <a:t>Status. </a:t>
            </a:r>
            <a:pPr indent="0" marL="0">
              <a:lnSpc>
                <a:spcPct val="112000"/>
              </a:lnSpc>
              <a:buNone/>
            </a:pPr>
            <a:r>
              <a:rPr lang="en-US" sz="1150" dirty="0">
                <a:solidFill>
                  <a:srgbClr val="242E46"/>
                </a:solidFill>
                <a:latin typeface="Inter" pitchFamily="34" charset="0"/>
                <a:ea typeface="Inter" pitchFamily="34" charset="-122"/>
                <a:cs typeface="Inter" pitchFamily="34" charset="-120"/>
              </a:rPr>
              <a:t>The snapshot class and schedule run on dev. A restore checked against known data is not in our records. Schema changes: the plan is golang-migrate as an ArgoCD PreSync Job, with changes that expand first and contract later. Not built yet.</a:t>
            </a:r>
            <a:endParaRPr lang="en-US" sz="115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APPENDIX A6  ·  ENVIRONMENTS</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2600" b="1" dirty="0">
                <a:solidFill>
                  <a:srgbClr val="242E46"/>
                </a:solidFill>
                <a:latin typeface="Manrope" pitchFamily="34" charset="0"/>
                <a:ea typeface="Manrope" pitchFamily="34" charset="-122"/>
                <a:cs typeface="Manrope" pitchFamily="34" charset="-120"/>
              </a:rPr>
              <a:t>Three environments in code, one that has run</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194560"/>
                <a:gridCol w="2880360"/>
                <a:gridCol w="2880360"/>
                <a:gridCol w="2862072"/>
              </a:tblGrid>
              <a:tr h="0">
                <a:tc>
                  <a:txBody>
                    <a:bodyPr/>
                    <a:lstStyle/>
                    <a:p>
                      <a:pPr indent="0" marL="0">
                        <a:buNone/>
                      </a:pP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DEV</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STAGING</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PROD</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Status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b="1" dirty="0">
                          <a:solidFill>
                            <a:srgbClr val="2A7152"/>
                          </a:solidFill>
                          <a:latin typeface="Inter" pitchFamily="34" charset="0"/>
                          <a:ea typeface="Inter" pitchFamily="34" charset="-122"/>
                          <a:cs typeface="Inter" pitchFamily="34" charset="-120"/>
                        </a:rPr>
                        <a:t>The one that has run; torn down between sessions to save cost</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b="1" dirty="0">
                          <a:solidFill>
                            <a:srgbClr val="8A5A00"/>
                          </a:solidFill>
                          <a:latin typeface="Inter" pitchFamily="34" charset="0"/>
                          <a:ea typeface="Inter" pitchFamily="34" charset="-122"/>
                          <a:cs typeface="Inter" pitchFamily="34" charset="-120"/>
                        </a:rPr>
                        <a:t>Defined in code, never deployed</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b="1" dirty="0">
                          <a:solidFill>
                            <a:srgbClr val="8A5A00"/>
                          </a:solidFill>
                          <a:latin typeface="Inter" pitchFamily="34" charset="0"/>
                          <a:ea typeface="Inter" pitchFamily="34" charset="-122"/>
                          <a:cs typeface="Inter" pitchFamily="34" charset="-120"/>
                        </a:rPr>
                        <a:t>Defined in code, never deployed</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VPC</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10.6.0.0/16</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10.7.0.0/16</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10.8.0.0/16</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Database</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Postgres StatefulSet</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RDS db.t4g.medium, single AZ</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RDS db.m7g.large, Multi-AZ</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Nodes (base)</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3 x t3.medium, max 4</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3 x t3.medium, max 5</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3 x t3.medium, max 6</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ArgoCD sync</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Automatic</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Automatic</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Manual</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Terraform apply</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Saved plan, manual run</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Plan made on main only</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Plan on main, plus a second approver</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Separation</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gridSpan="3">
                  <a:txBody>
                    <a:bodyPr/>
                    <a:lstStyle/>
                    <a:p>
                      <a:pPr indent="0" marL="0">
                        <a:buNone/>
                      </a:pPr>
                      <a:r>
                        <a:rPr lang="en-US" sz="1250" dirty="0">
                          <a:solidFill>
                            <a:srgbClr val="4A5470"/>
                          </a:solidFill>
                          <a:latin typeface="Inter" pitchFamily="34" charset="0"/>
                          <a:ea typeface="Inter" pitchFamily="34" charset="-122"/>
                          <a:cs typeface="Inter" pitchFamily="34" charset="-120"/>
                        </a:rPr>
                        <a:t>Each has its own VPC, cluster, Terraform state, GitHub Environment and IAM role, in one AWS account</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hMerge="1">
                  <a:tcPr/>
                </a:tc>
                <a:tc hMerge="1">
                  <a:tcPr/>
                </a:tc>
              </a:tr>
            </a:tbl>
          </a:graphicData>
        </a:graphic>
      </p:graphicFrame>
      <p:sp>
        <p:nvSpPr>
          <p:cNvPr id="6" name="Text 2"/>
          <p:cNvSpPr txBox="1"/>
          <p:nvPr/>
        </p:nvSpPr>
        <p:spPr>
          <a:xfrm>
            <a:off x="685800" y="5715000"/>
            <a:ext cx="10820095" cy="365760"/>
          </a:xfrm>
          <a:prstGeom prst="rect">
            <a:avLst/>
          </a:prstGeom>
          <a:noFill/>
          <a:ln/>
        </p:spPr>
        <p:txBody>
          <a:bodyPr wrap="square" lIns="0" tIns="0" rIns="0" bIns="0" rtlCol="0" anchor="t"/>
          <a:lstStyle/>
          <a:p>
            <a:pPr indent="0" marL="0">
              <a:buNone/>
            </a:pPr>
            <a:r>
              <a:rPr lang="en-US" sz="1200" dirty="0">
                <a:solidFill>
                  <a:srgbClr val="5B6480"/>
                </a:solidFill>
                <a:latin typeface="Inter" pitchFamily="34" charset="0"/>
                <a:ea typeface="Inter" pitchFamily="34" charset="-122"/>
                <a:cs typeface="Inter" pitchFamily="34" charset="-120"/>
              </a:rPr>
              <a:t>One account, not three: cross-account access for the shared ECR, Route 53 zone and state did not fit the time we had.</a:t>
            </a:r>
            <a:endParaRPr lang="en-US" sz="12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APPENDIX A7  ·  SECURITY</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2600" b="1" dirty="0">
                <a:solidFill>
                  <a:srgbClr val="242E46"/>
                </a:solidFill>
                <a:latin typeface="Manrope" pitchFamily="34" charset="0"/>
                <a:ea typeface="Manrope" pitchFamily="34" charset="-122"/>
                <a:cs typeface="Manrope" pitchFamily="34" charset="-120"/>
              </a:rPr>
              <a:t>Known gaps we would name before you do</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3108960"/>
                <a:gridCol w="4572000"/>
                <a:gridCol w="3136392"/>
              </a:tblGrid>
              <a:tr h="0">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GAP</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WHY IT MATTERS</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c>
                  <a:txBody>
                    <a:bodyPr/>
                    <a:lstStyle/>
                    <a:p>
                      <a:pPr indent="0" marL="0">
                        <a:buNone/>
                      </a:pPr>
                      <a:r>
                        <a:rPr lang="en-US" sz="950" dirty="0">
                          <a:solidFill>
                            <a:srgbClr val="5B6480"/>
                          </a:solidFill>
                          <a:latin typeface="JetBrains Mono" pitchFamily="34" charset="0"/>
                          <a:ea typeface="JetBrains Mono" pitchFamily="34" charset="-122"/>
                          <a:cs typeface="JetBrains Mono" pitchFamily="34" charset="-120"/>
                        </a:rPr>
                        <a:t>FIRST FIX</a:t>
                      </a:r>
                      <a:endParaRPr lang="en-US" sz="950" dirty="0">
                        <a:latin typeface="JetBrains Mono" charset="0"/>
                        <a:ea typeface="JetBrains Mono" charset="0"/>
                        <a:cs typeface="JetBrains Mono" charset="0"/>
                      </a:endParaRPr>
                    </a:p>
                  </a:txBody>
                  <a:tcPr marL="0" marR="101600" marT="50800" marB="76200">
                    <a:lnL w="0" cap="flat" cmpd="sng" algn="ctr">
                      <a:noFill/>
                    </a:lnL>
                    <a:lnR w="0" cap="flat" cmpd="sng" algn="ctr">
                      <a:noFill/>
                    </a:lnR>
                    <a:lnT w="0" cap="flat" cmpd="sng" algn="ctr">
                      <a:noFill/>
                    </a:lnT>
                    <a:lnB w="9525" cap="flat" cmpd="sng" algn="ctr">
                      <a:solidFill>
                        <a:srgbClr val="242E46"/>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Open login</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Any email and password gets a token; every user sees every order.</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Accounts, ownership checks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One shared database user</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A bug in one service can read or change another's tables.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A role per service</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Redis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No password, no NetworkPolicy, no TLS.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AUTH and a NetworkPolicy</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Carrier webhook</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Public and rate limited, but unsigned.</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HMAC signature</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Browser headers</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No CSP or HSTS yet.</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Set them at Traefik</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Money as float</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Totals are rounded to pence, but summed as floats in Go.</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Integer pence</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r h="0">
                <a:tc>
                  <a:txBody>
                    <a:bodyPr/>
                    <a:lstStyle/>
                    <a:p>
                      <a:pPr indent="0" marL="0">
                        <a:buNone/>
                      </a:pPr>
                      <a:r>
                        <a:rPr lang="en-US" sz="1250" b="1" dirty="0">
                          <a:solidFill>
                            <a:srgbClr val="242E46"/>
                          </a:solidFill>
                          <a:latin typeface="Inter" pitchFamily="34" charset="0"/>
                          <a:ea typeface="Inter" pitchFamily="34" charset="-122"/>
                          <a:cs typeface="Inter" pitchFamily="34" charset="-120"/>
                        </a:rPr>
                        <a:t>Dev certificate</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Let's Encrypt staging: browsers warn.</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c>
                  <a:txBody>
                    <a:bodyPr/>
                    <a:lstStyle/>
                    <a:p>
                      <a:pPr indent="0" marL="0">
                        <a:buNone/>
                      </a:pPr>
                      <a:r>
                        <a:rPr lang="en-US" sz="1250" dirty="0">
                          <a:solidFill>
                            <a:srgbClr val="4A5470"/>
                          </a:solidFill>
                          <a:latin typeface="Inter" pitchFamily="34" charset="0"/>
                          <a:ea typeface="Inter" pitchFamily="34" charset="-122"/>
                          <a:cs typeface="Inter" pitchFamily="34" charset="-120"/>
                        </a:rPr>
                        <a:t>Production issuer</a:t>
                      </a:r>
                      <a:endParaRPr lang="en-US" sz="1250" dirty="0">
                        <a:latin typeface="Inter" charset="0"/>
                        <a:ea typeface="Inter" charset="0"/>
                        <a:cs typeface="Inter" charset="0"/>
                      </a:endParaRPr>
                    </a:p>
                  </a:txBody>
                  <a:tcPr marL="0" marR="127000" marT="88900" marB="88900" anchor="t">
                    <a:lnL w="0" cap="flat" cmpd="sng" algn="ctr">
                      <a:noFill/>
                    </a:lnL>
                    <a:lnR w="0" cap="flat" cmpd="sng" algn="ctr">
                      <a:noFill/>
                    </a:lnR>
                    <a:lnT w="0" cap="flat" cmpd="sng" algn="ctr">
                      <a:noFill/>
                    </a:lnT>
                    <a:lnB w="9525" cap="flat" cmpd="sng" algn="ctr">
                      <a:solidFill>
                        <a:srgbClr val="DBDADA"/>
                      </a:solidFill>
                      <a:prstDash val="solid"/>
                      <a:round/>
                      <a:headEnd type="none" w="med" len="med"/>
                      <a:tailEnd type="none" w="med" len="med"/>
                    </a:lnB>
                    <a:solidFill>
                      <a:srgbClr val="F4F2EE"/>
                    </a:solidFill>
                  </a:tcPr>
                </a:tc>
              </a:tr>
            </a:tbl>
          </a:graphicData>
        </a:graphic>
      </p:graphicFrame>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85800" y="457200"/>
            <a:ext cx="8229600" cy="228600"/>
          </a:xfrm>
          <a:prstGeom prst="rect">
            <a:avLst/>
          </a:prstGeom>
          <a:noFill/>
          <a:ln/>
        </p:spPr>
        <p:txBody>
          <a:bodyPr wrap="square" lIns="0" tIns="0" rIns="0" bIns="0" rtlCol="0" anchor="t"/>
          <a:lstStyle/>
          <a:p>
            <a:pPr indent="0" marL="0">
              <a:buNone/>
            </a:pPr>
            <a:r>
              <a:rPr lang="en-US" sz="1100" spc="150" kern="0" dirty="0">
                <a:solidFill>
                  <a:srgbClr val="5B6480"/>
                </a:solidFill>
                <a:latin typeface="JetBrains Mono" pitchFamily="34" charset="0"/>
                <a:ea typeface="JetBrains Mono" pitchFamily="34" charset="-122"/>
                <a:cs typeface="JetBrains Mono" pitchFamily="34" charset="-120"/>
              </a:rPr>
              <a:t>APPENDIX A8  ·  COST</a:t>
            </a:r>
            <a:endParaRPr lang="en-US" sz="1100" dirty="0"/>
          </a:p>
        </p:txBody>
      </p:sp>
      <p:sp>
        <p:nvSpPr>
          <p:cNvPr id="3" name="Text 5"/>
          <p:cNvSpPr/>
          <p:nvPr>
            <p:ph idx="105" type="title" hasCustomPrompt="1"/>
          </p:nvPr>
        </p:nvSpPr>
        <p:spPr>
          <a:xfrm>
            <a:off x="685800" y="749808"/>
            <a:ext cx="10820095" cy="822960"/>
          </a:xfrm>
          <a:prstGeom prst="rect">
            <a:avLst/>
          </a:prstGeom>
          <a:noFill/>
          <a:ln/>
        </p:spPr>
        <p:txBody>
          <a:bodyPr wrap="square" lIns="0" tIns="0" rIns="0" bIns="0" rtlCol="0" anchor="t"/>
          <a:lstStyle/>
          <a:p>
            <a:pPr algn="l" indent="0" marL="0">
              <a:buNone/>
            </a:pPr>
            <a:r>
              <a:rPr lang="en-US" sz="2600" b="1" dirty="0">
                <a:solidFill>
                  <a:srgbClr val="242E46"/>
                </a:solidFill>
                <a:latin typeface="Manrope" pitchFamily="34" charset="0"/>
                <a:ea typeface="Manrope" pitchFamily="34" charset="-122"/>
                <a:cs typeface="Manrope" pitchFamily="34" charset="-120"/>
              </a:rPr>
              <a:t>Where the money goes, and what we did about it</a:t>
            </a:r>
            <a:endParaRPr lang="en-US" sz="2600" dirty="0"/>
          </a:p>
        </p:txBody>
      </p:sp>
      <p:sp>
        <p:nvSpPr>
          <p:cNvPr id="5" name="Text 2"/>
          <p:cNvSpPr txBox="1"/>
          <p:nvPr/>
        </p:nvSpPr>
        <p:spPr>
          <a:xfrm>
            <a:off x="685800" y="1783080"/>
            <a:ext cx="6035040" cy="274320"/>
          </a:xfrm>
          <a:prstGeom prst="rect">
            <a:avLst/>
          </a:prstGeom>
          <a:noFill/>
          <a:ln/>
        </p:spPr>
        <p:txBody>
          <a:bodyPr wrap="square" lIns="0" tIns="0" rIns="0" bIns="0" rtlCol="0" anchor="t"/>
          <a:lstStyle/>
          <a:p>
            <a:pPr indent="0" marL="0">
              <a:buNone/>
            </a:pPr>
            <a:r>
              <a:rPr lang="en-US" sz="1350" b="1" dirty="0">
                <a:solidFill>
                  <a:srgbClr val="242E46"/>
                </a:solidFill>
                <a:latin typeface="Inter" pitchFamily="34" charset="0"/>
                <a:ea typeface="Inter" pitchFamily="34" charset="-122"/>
                <a:cs typeface="Inter" pitchFamily="34" charset="-120"/>
              </a:rPr>
              <a:t>Tear down when idle</a:t>
            </a:r>
            <a:endParaRPr lang="en-US" sz="1350" dirty="0"/>
          </a:p>
        </p:txBody>
      </p:sp>
      <p:sp>
        <p:nvSpPr>
          <p:cNvPr id="6" name="Text 3"/>
          <p:cNvSpPr txBox="1"/>
          <p:nvPr/>
        </p:nvSpPr>
        <p:spPr>
          <a:xfrm>
            <a:off x="685800" y="2075688"/>
            <a:ext cx="6035040" cy="411480"/>
          </a:xfrm>
          <a:prstGeom prst="rect">
            <a:avLst/>
          </a:prstGeom>
          <a:noFill/>
          <a:ln/>
        </p:spPr>
        <p:txBody>
          <a:bodyPr wrap="square" lIns="0" tIns="0" rIns="0" bIns="0" rtlCol="0" anchor="t"/>
          <a:lstStyle/>
          <a:p>
            <a:pPr indent="0" marL="0">
              <a:buNone/>
            </a:pPr>
            <a:r>
              <a:rPr lang="en-US" sz="1200" dirty="0">
                <a:solidFill>
                  <a:srgbClr val="4A5470"/>
                </a:solidFill>
                <a:latin typeface="Inter" pitchFamily="34" charset="0"/>
                <a:ea typeface="Inter" pitchFamily="34" charset="-122"/>
                <a:cs typeface="Inter" pitchFamily="34" charset="-120"/>
              </a:rPr>
              <a:t>Environments are rebuilt from Git, so dev did not run around the clock.</a:t>
            </a:r>
            <a:endParaRPr lang="en-US" sz="1200" dirty="0"/>
          </a:p>
        </p:txBody>
      </p:sp>
      <p:sp>
        <p:nvSpPr>
          <p:cNvPr id="7" name="Text 4"/>
          <p:cNvSpPr txBox="1"/>
          <p:nvPr/>
        </p:nvSpPr>
        <p:spPr>
          <a:xfrm>
            <a:off x="685800" y="2569464"/>
            <a:ext cx="6035040" cy="274320"/>
          </a:xfrm>
          <a:prstGeom prst="rect">
            <a:avLst/>
          </a:prstGeom>
          <a:noFill/>
          <a:ln/>
        </p:spPr>
        <p:txBody>
          <a:bodyPr wrap="square" lIns="0" tIns="0" rIns="0" bIns="0" rtlCol="0" anchor="t"/>
          <a:lstStyle/>
          <a:p>
            <a:pPr indent="0" marL="0">
              <a:buNone/>
            </a:pPr>
            <a:r>
              <a:rPr lang="en-US" sz="1350" b="1" dirty="0">
                <a:solidFill>
                  <a:srgbClr val="242E46"/>
                </a:solidFill>
                <a:latin typeface="Inter" pitchFamily="34" charset="0"/>
                <a:ea typeface="Inter" pitchFamily="34" charset="-122"/>
                <a:cs typeface="Inter" pitchFamily="34" charset="-120"/>
              </a:rPr>
              <a:t>One NAT gateway</a:t>
            </a:r>
            <a:endParaRPr lang="en-US" sz="1350" dirty="0"/>
          </a:p>
        </p:txBody>
      </p:sp>
      <p:sp>
        <p:nvSpPr>
          <p:cNvPr id="8" name="Text 5"/>
          <p:cNvSpPr txBox="1"/>
          <p:nvPr/>
        </p:nvSpPr>
        <p:spPr>
          <a:xfrm>
            <a:off x="685800" y="2862072"/>
            <a:ext cx="6035040" cy="411480"/>
          </a:xfrm>
          <a:prstGeom prst="rect">
            <a:avLst/>
          </a:prstGeom>
          <a:noFill/>
          <a:ln/>
        </p:spPr>
        <p:txBody>
          <a:bodyPr wrap="square" lIns="0" tIns="0" rIns="0" bIns="0" rtlCol="0" anchor="t"/>
          <a:lstStyle/>
          <a:p>
            <a:pPr indent="0" marL="0">
              <a:buNone/>
            </a:pPr>
            <a:r>
              <a:rPr lang="en-US" sz="1200" dirty="0">
                <a:solidFill>
                  <a:srgbClr val="4A5470"/>
                </a:solidFill>
                <a:latin typeface="Inter" pitchFamily="34" charset="0"/>
                <a:ea typeface="Inter" pitchFamily="34" charset="-122"/>
                <a:cs typeface="Inter" pitchFamily="34" charset="-120"/>
              </a:rPr>
              <a:t>Not one per AZ, and no paid interface endpoints (slide 16).</a:t>
            </a:r>
            <a:endParaRPr lang="en-US" sz="1200" dirty="0"/>
          </a:p>
        </p:txBody>
      </p:sp>
      <p:sp>
        <p:nvSpPr>
          <p:cNvPr id="9" name="Text 6"/>
          <p:cNvSpPr txBox="1"/>
          <p:nvPr/>
        </p:nvSpPr>
        <p:spPr>
          <a:xfrm>
            <a:off x="685800" y="3355848"/>
            <a:ext cx="6035040" cy="274320"/>
          </a:xfrm>
          <a:prstGeom prst="rect">
            <a:avLst/>
          </a:prstGeom>
          <a:noFill/>
          <a:ln/>
        </p:spPr>
        <p:txBody>
          <a:bodyPr wrap="square" lIns="0" tIns="0" rIns="0" bIns="0" rtlCol="0" anchor="t"/>
          <a:lstStyle/>
          <a:p>
            <a:pPr indent="0" marL="0">
              <a:buNone/>
            </a:pPr>
            <a:r>
              <a:rPr lang="en-US" sz="1350" b="1" dirty="0">
                <a:solidFill>
                  <a:srgbClr val="242E46"/>
                </a:solidFill>
                <a:latin typeface="Inter" pitchFamily="34" charset="0"/>
                <a:ea typeface="Inter" pitchFamily="34" charset="-122"/>
                <a:cs typeface="Inter" pitchFamily="34" charset="-120"/>
              </a:rPr>
              <a:t>Capped autoscaling</a:t>
            </a:r>
            <a:endParaRPr lang="en-US" sz="1350" dirty="0"/>
          </a:p>
        </p:txBody>
      </p:sp>
      <p:sp>
        <p:nvSpPr>
          <p:cNvPr id="10" name="Text 7"/>
          <p:cNvSpPr txBox="1"/>
          <p:nvPr/>
        </p:nvSpPr>
        <p:spPr>
          <a:xfrm>
            <a:off x="685800" y="3648456"/>
            <a:ext cx="6035040" cy="411480"/>
          </a:xfrm>
          <a:prstGeom prst="rect">
            <a:avLst/>
          </a:prstGeom>
          <a:noFill/>
          <a:ln/>
        </p:spPr>
        <p:txBody>
          <a:bodyPr wrap="square" lIns="0" tIns="0" rIns="0" bIns="0" rtlCol="0" anchor="t"/>
          <a:lstStyle/>
          <a:p>
            <a:pPr indent="0" marL="0">
              <a:buNone/>
            </a:pPr>
            <a:r>
              <a:rPr lang="en-US" sz="1200" dirty="0">
                <a:solidFill>
                  <a:srgbClr val="4A5470"/>
                </a:solidFill>
                <a:latin typeface="Inter" pitchFamily="34" charset="0"/>
                <a:ea typeface="Inter" pitchFamily="34" charset="-122"/>
                <a:cs typeface="Inter" pitchFamily="34" charset="-120"/>
              </a:rPr>
              <a:t>Karpenter on-demand only, 16 vCPU and 64 GiB at most, consolidation after 5 min.</a:t>
            </a:r>
            <a:endParaRPr lang="en-US" sz="1200" dirty="0"/>
          </a:p>
        </p:txBody>
      </p:sp>
      <p:sp>
        <p:nvSpPr>
          <p:cNvPr id="11" name="Text 8"/>
          <p:cNvSpPr txBox="1"/>
          <p:nvPr/>
        </p:nvSpPr>
        <p:spPr>
          <a:xfrm>
            <a:off x="685800" y="4142232"/>
            <a:ext cx="6035040" cy="274320"/>
          </a:xfrm>
          <a:prstGeom prst="rect">
            <a:avLst/>
          </a:prstGeom>
          <a:noFill/>
          <a:ln/>
        </p:spPr>
        <p:txBody>
          <a:bodyPr wrap="square" lIns="0" tIns="0" rIns="0" bIns="0" rtlCol="0" anchor="t"/>
          <a:lstStyle/>
          <a:p>
            <a:pPr indent="0" marL="0">
              <a:buNone/>
            </a:pPr>
            <a:r>
              <a:rPr lang="en-US" sz="1350" b="1" dirty="0">
                <a:solidFill>
                  <a:srgbClr val="242E46"/>
                </a:solidFill>
                <a:latin typeface="Inter" pitchFamily="34" charset="0"/>
                <a:ea typeface="Inter" pitchFamily="34" charset="-122"/>
                <a:cs typeface="Inter" pitchFamily="34" charset="-120"/>
              </a:rPr>
              <a:t>In-cluster data in dev</a:t>
            </a:r>
            <a:endParaRPr lang="en-US" sz="1350" dirty="0"/>
          </a:p>
        </p:txBody>
      </p:sp>
      <p:sp>
        <p:nvSpPr>
          <p:cNvPr id="12" name="Text 9"/>
          <p:cNvSpPr txBox="1"/>
          <p:nvPr/>
        </p:nvSpPr>
        <p:spPr>
          <a:xfrm>
            <a:off x="685800" y="4434840"/>
            <a:ext cx="6035040" cy="411480"/>
          </a:xfrm>
          <a:prstGeom prst="rect">
            <a:avLst/>
          </a:prstGeom>
          <a:noFill/>
          <a:ln/>
        </p:spPr>
        <p:txBody>
          <a:bodyPr wrap="square" lIns="0" tIns="0" rIns="0" bIns="0" rtlCol="0" anchor="t"/>
          <a:lstStyle/>
          <a:p>
            <a:pPr indent="0" marL="0">
              <a:buNone/>
            </a:pPr>
            <a:r>
              <a:rPr lang="en-US" sz="1200" dirty="0">
                <a:solidFill>
                  <a:srgbClr val="4A5470"/>
                </a:solidFill>
                <a:latin typeface="Inter" pitchFamily="34" charset="0"/>
                <a:ea typeface="Inter" pitchFamily="34" charset="-122"/>
                <a:cs typeface="Inter" pitchFamily="34" charset="-120"/>
              </a:rPr>
              <a:t>Postgres and Redis share nodes we already pay for; only volumes cost extra.</a:t>
            </a:r>
            <a:endParaRPr lang="en-US" sz="1200" dirty="0"/>
          </a:p>
        </p:txBody>
      </p:sp>
      <p:sp>
        <p:nvSpPr>
          <p:cNvPr id="13" name="Text 10"/>
          <p:cNvSpPr txBox="1"/>
          <p:nvPr/>
        </p:nvSpPr>
        <p:spPr>
          <a:xfrm>
            <a:off x="685800" y="4928616"/>
            <a:ext cx="6035040" cy="274320"/>
          </a:xfrm>
          <a:prstGeom prst="rect">
            <a:avLst/>
          </a:prstGeom>
          <a:noFill/>
          <a:ln/>
        </p:spPr>
        <p:txBody>
          <a:bodyPr wrap="square" lIns="0" tIns="0" rIns="0" bIns="0" rtlCol="0" anchor="t"/>
          <a:lstStyle/>
          <a:p>
            <a:pPr indent="0" marL="0">
              <a:buNone/>
            </a:pPr>
            <a:r>
              <a:rPr lang="en-US" sz="1350" b="1" dirty="0">
                <a:solidFill>
                  <a:srgbClr val="242E46"/>
                </a:solidFill>
                <a:latin typeface="Inter" pitchFamily="34" charset="0"/>
                <a:ea typeface="Inter" pitchFamily="34" charset="-122"/>
                <a:cs typeface="Inter" pitchFamily="34" charset="-120"/>
              </a:rPr>
              <a:t>Small fixed footprint</a:t>
            </a:r>
            <a:endParaRPr lang="en-US" sz="1350" dirty="0"/>
          </a:p>
        </p:txBody>
      </p:sp>
      <p:sp>
        <p:nvSpPr>
          <p:cNvPr id="14" name="Text 11"/>
          <p:cNvSpPr txBox="1"/>
          <p:nvPr/>
        </p:nvSpPr>
        <p:spPr>
          <a:xfrm>
            <a:off x="685800" y="5221224"/>
            <a:ext cx="6035040" cy="411480"/>
          </a:xfrm>
          <a:prstGeom prst="rect">
            <a:avLst/>
          </a:prstGeom>
          <a:noFill/>
          <a:ln/>
        </p:spPr>
        <p:txBody>
          <a:bodyPr wrap="square" lIns="0" tIns="0" rIns="0" bIns="0" rtlCol="0" anchor="t"/>
          <a:lstStyle/>
          <a:p>
            <a:pPr indent="0" marL="0">
              <a:buNone/>
            </a:pPr>
            <a:r>
              <a:rPr lang="en-US" sz="1200" dirty="0">
                <a:solidFill>
                  <a:srgbClr val="4A5470"/>
                </a:solidFill>
                <a:latin typeface="Inter" pitchFamily="34" charset="0"/>
                <a:ea typeface="Inter" pitchFamily="34" charset="-122"/>
                <a:cs typeface="Inter" pitchFamily="34" charset="-120"/>
              </a:rPr>
              <a:t>One shared ECR repository keeping the newest 40 images; control-plane logs kept 30 days.</a:t>
            </a:r>
            <a:endParaRPr lang="en-US" sz="1200" dirty="0"/>
          </a:p>
        </p:txBody>
      </p:sp>
      <p:sp>
        <p:nvSpPr>
          <p:cNvPr id="15" name="Shape 12"/>
          <p:cNvSpPr/>
          <p:nvPr/>
        </p:nvSpPr>
        <p:spPr>
          <a:xfrm>
            <a:off x="7086600" y="1783080"/>
            <a:ext cx="4419295" cy="4206240"/>
          </a:xfrm>
          <a:prstGeom prst="rect">
            <a:avLst/>
          </a:prstGeom>
          <a:solidFill>
            <a:srgbClr val="160B35"/>
          </a:solidFill>
          <a:ln/>
        </p:spPr>
      </p:sp>
      <p:sp>
        <p:nvSpPr>
          <p:cNvPr id="16" name="Text 13"/>
          <p:cNvSpPr txBox="1"/>
          <p:nvPr/>
        </p:nvSpPr>
        <p:spPr>
          <a:xfrm>
            <a:off x="7360920" y="1938528"/>
            <a:ext cx="3870655" cy="228600"/>
          </a:xfrm>
          <a:prstGeom prst="rect">
            <a:avLst/>
          </a:prstGeom>
          <a:noFill/>
          <a:ln/>
        </p:spPr>
        <p:txBody>
          <a:bodyPr wrap="square" lIns="0" tIns="0" rIns="0" bIns="0" rtlCol="0" anchor="t"/>
          <a:lstStyle/>
          <a:p>
            <a:pPr indent="0" marL="0">
              <a:buNone/>
            </a:pPr>
            <a:r>
              <a:rPr lang="en-US" sz="1050" b="1" spc="120" kern="0" dirty="0">
                <a:solidFill>
                  <a:srgbClr val="AE99F0"/>
                </a:solidFill>
                <a:latin typeface="JetBrains Mono" pitchFamily="34" charset="0"/>
                <a:ea typeface="JetBrains Mono" pitchFamily="34" charset="-122"/>
                <a:cs typeface="JetBrains Mono" pitchFamily="34" charset="-120"/>
              </a:rPr>
              <a:t>SPEND ON RECORD</a:t>
            </a:r>
            <a:endParaRPr lang="en-US" sz="1050" dirty="0"/>
          </a:p>
        </p:txBody>
      </p:sp>
      <p:sp>
        <p:nvSpPr>
          <p:cNvPr id="17" name="Text 14"/>
          <p:cNvSpPr txBox="1"/>
          <p:nvPr/>
        </p:nvSpPr>
        <p:spPr>
          <a:xfrm>
            <a:off x="7360920" y="2286000"/>
            <a:ext cx="3870655" cy="685800"/>
          </a:xfrm>
          <a:prstGeom prst="rect">
            <a:avLst/>
          </a:prstGeom>
          <a:noFill/>
          <a:ln/>
        </p:spPr>
        <p:txBody>
          <a:bodyPr wrap="square" lIns="0" tIns="0" rIns="0" bIns="0" rtlCol="0" anchor="t"/>
          <a:lstStyle/>
          <a:p>
            <a:pPr indent="0" marL="0">
              <a:buNone/>
            </a:pPr>
            <a:r>
              <a:rPr lang="en-US" sz="4000" b="1" dirty="0">
                <a:solidFill>
                  <a:srgbClr val="F3F2F8"/>
                </a:solidFill>
                <a:latin typeface="Manrope" pitchFamily="34" charset="0"/>
                <a:ea typeface="Manrope" pitchFamily="34" charset="-122"/>
                <a:cs typeface="Manrope" pitchFamily="34" charset="-120"/>
              </a:rPr>
              <a:t>about $50</a:t>
            </a:r>
            <a:endParaRPr lang="en-US" sz="4000" dirty="0"/>
          </a:p>
        </p:txBody>
      </p:sp>
      <p:sp>
        <p:nvSpPr>
          <p:cNvPr id="18" name="Text 15"/>
          <p:cNvSpPr txBox="1"/>
          <p:nvPr/>
        </p:nvSpPr>
        <p:spPr>
          <a:xfrm>
            <a:off x="7360920" y="3063240"/>
            <a:ext cx="3870655" cy="1005840"/>
          </a:xfrm>
          <a:prstGeom prst="rect">
            <a:avLst/>
          </a:prstGeom>
          <a:noFill/>
          <a:ln/>
        </p:spPr>
        <p:txBody>
          <a:bodyPr wrap="square" lIns="0" tIns="0" rIns="0" bIns="0" rtlCol="0" anchor="t"/>
          <a:lstStyle/>
          <a:p>
            <a:pPr indent="0" marL="0">
              <a:lnSpc>
                <a:spcPct val="112000"/>
              </a:lnSpc>
              <a:buNone/>
            </a:pPr>
            <a:r>
              <a:rPr lang="en-US" sz="1200" dirty="0">
                <a:solidFill>
                  <a:srgbClr val="B3A6DC"/>
                </a:solidFill>
                <a:latin typeface="Inter" pitchFamily="34" charset="0"/>
                <a:ea typeface="Inter" pitchFamily="34" charset="-122"/>
                <a:cs typeface="Inter" pitchFamily="34" charset="-120"/>
              </a:rPr>
              <a:t>of AWS spend recorded by 10 Oct, mostly EC2, against the $200 cap.</a:t>
            </a:r>
            <a:endParaRPr lang="en-US" sz="1200" dirty="0"/>
          </a:p>
        </p:txBody>
      </p:sp>
      <p:sp>
        <p:nvSpPr>
          <p:cNvPr id="19" name="Text 16"/>
          <p:cNvSpPr txBox="1"/>
          <p:nvPr/>
        </p:nvSpPr>
        <p:spPr>
          <a:xfrm>
            <a:off x="7360920" y="4206240"/>
            <a:ext cx="3870655" cy="1280160"/>
          </a:xfrm>
          <a:prstGeom prst="rect">
            <a:avLst/>
          </a:prstGeom>
          <a:noFill/>
          <a:ln/>
        </p:spPr>
        <p:txBody>
          <a:bodyPr wrap="square" lIns="0" tIns="0" rIns="0" bIns="0" rtlCol="0" anchor="t"/>
          <a:lstStyle/>
          <a:p>
            <a:pPr indent="0" marL="0">
              <a:lnSpc>
                <a:spcPct val="112000"/>
              </a:lnSpc>
              <a:buNone/>
            </a:pPr>
            <a:r>
              <a:rPr lang="en-US" sz="1200" dirty="0">
                <a:solidFill>
                  <a:srgbClr val="F3F2F8"/>
                </a:solidFill>
                <a:latin typeface="Inter" pitchFamily="34" charset="0"/>
                <a:ea typeface="Inter" pitchFamily="34" charset="-122"/>
                <a:cs typeface="Inter" pitchFamily="34" charset="-120"/>
              </a:rPr>
              <a:t>Billed by the hour whenever dev is up: the EKS control plane, three base nodes, the NAT gateway and the NLB. That is why tear-down is the biggest lever.</a:t>
            </a:r>
            <a:endParaRPr lang="en-US" sz="1200" dirty="0"/>
          </a:p>
        </p:txBody>
      </p:sp>
      <p:sp>
        <p:nvSpPr>
          <p:cNvPr id="25" name="Slide Number Placeholder 0"/>
          <p:cNvSpPr>
            <a:spLocks noGrp="1"/>
          </p:cNvSpPr>
          <p:nvPr>
            <p:ph type="sldNum" sz="quarter" idx="4294967295"/>
          </p:nvPr>
        </p:nvSpPr>
        <p:spPr>
          <a:xfrm>
            <a:off x="11137392" y="6291072"/>
            <a:ext cx="310896"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42E46"/>
                </a:solidFill>
                <a:latin typeface="JetBrains Mono"/>
                <a:ea typeface="JetBrains Mono"/>
                <a:cs typeface="JetBrains Mono"/>
              </a:defRPr>
            </a:lvl1pPr>
          </a:lstStyle>
          <a:p>
            <a:pPr algn="r"/>
            <a:fld id="{F7021451-1387-4CA6-816F-3879F97B5CBC}" type="slidenum">
              <a:rPr b="1" lang="en-US"/>
              <a:t>28</a:t>
            </a:fld>
            <a:endParaRPr lang="en-US"/>
          </a:p>
        </p:txBody>
      </p:sp>
    </p:spTree>
  </p:cSld>
  <p:clrMapOvr>
    <a:masterClrMapping/>
  </p:clrMapOvr>
</p:sld>
</file>

<file path=ppt/theme/theme1.xml><?xml version="1.0" encoding="utf-8"?>
<a:theme xmlns:a="http://schemas.openxmlformats.org/drawingml/2006/main" name="Kit Room">
  <a:themeElements>
    <a:clrScheme name="Kit Room">
      <a:dk1>
        <a:srgbClr val="242E46"/>
      </a:dk1>
      <a:lt1>
        <a:srgbClr val="F4F2EE"/>
      </a:lt1>
      <a:dk2>
        <a:srgbClr val="160B35"/>
      </a:dk2>
      <a:lt2>
        <a:srgbClr val="F3F2F8"/>
      </a:lt2>
      <a:accent1>
        <a:srgbClr val="6C00FF"/>
      </a:accent1>
      <a:accent2>
        <a:srgbClr val="5700D6"/>
      </a:accent2>
      <a:accent3>
        <a:srgbClr val="8E72E6"/>
      </a:accent3>
      <a:accent4>
        <a:srgbClr val="B3A6DC"/>
      </a:accent4>
      <a:accent5>
        <a:srgbClr val="B42318"/>
      </a:accent5>
      <a:accent6>
        <a:srgbClr val="2A7152"/>
      </a:accent6>
      <a:hlink>
        <a:srgbClr val="5700D6"/>
      </a:hlink>
      <a:folHlink>
        <a:srgbClr val="37208A"/>
      </a:folHlink>
    </a:clrScheme>
    <a:fontScheme name="Kit Room">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Team Alpha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 Room: final demo</dc:title>
  <dc:subject>CoderCo Production Engineering Simulation, Team Alpha final demo</dc:subject>
  <dc:creator>Team Alpha</dc:creator>
  <cp:lastModifiedBy>Team Alpha</cp:lastModifiedBy>
  <cp:revision>1</cp:revision>
  <dcterms:created xsi:type="dcterms:W3CDTF">2026-10-13T00:38:47Z</dcterms:created>
  <dcterms:modified xsi:type="dcterms:W3CDTF">2026-10-13T00:38:47Z</dcterms:modified>
</cp:coreProperties>
</file>